
<file path=[Content_Types].xml><?xml version="1.0" encoding="utf-8"?>
<Types xmlns="http://schemas.openxmlformats.org/package/2006/content-types"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19"/>
  </p:notesMasterIdLst>
  <p:sldIdLst>
    <p:sldId id="256" r:id="rId2"/>
    <p:sldId id="257" r:id="rId3"/>
    <p:sldId id="258" r:id="rId4"/>
    <p:sldId id="279" r:id="rId5"/>
    <p:sldId id="260" r:id="rId6"/>
    <p:sldId id="261" r:id="rId7"/>
    <p:sldId id="262" r:id="rId8"/>
    <p:sldId id="263" r:id="rId9"/>
    <p:sldId id="264" r:id="rId10"/>
    <p:sldId id="280" r:id="rId11"/>
    <p:sldId id="281" r:id="rId12"/>
    <p:sldId id="273" r:id="rId13"/>
    <p:sldId id="274" r:id="rId14"/>
    <p:sldId id="275" r:id="rId15"/>
    <p:sldId id="276" r:id="rId16"/>
    <p:sldId id="277" r:id="rId17"/>
    <p:sldId id="278" r:id="rId18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212" d="100"/>
          <a:sy n="212" d="100"/>
        </p:scale>
        <p:origin x="324" y="17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" name="Google Shape;13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8" name="Google Shape;16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8" name="Google Shape;198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6" name="Google Shape;226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7" name="Google Shape;24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60" name="Google Shape;260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99" name="Google Shape;299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50" name="Google Shape;350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Google Shape;585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6" name="Google Shape;586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Google Shape;599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0" name="Google Shape;600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" name="Google Shape;670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671" name="Google Shape;671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3" name="Google Shape;703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4" name="Google Shape;704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0" name="Google Shape;730;p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1" name="Google Shape;731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2" name="Google Shape;742;p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3" name="Google Shape;743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6" name="Google Shape;756;p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7" name="Google Shape;757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jpg"/><Relationship Id="rId3" Type="http://schemas.openxmlformats.org/officeDocument/2006/relationships/image" Target="../media/image4.png"/><Relationship Id="rId7" Type="http://schemas.openxmlformats.org/officeDocument/2006/relationships/image" Target="../media/image8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9" Type="http://schemas.openxmlformats.org/officeDocument/2006/relationships/image" Target="../media/image10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jpg"/><Relationship Id="rId4" Type="http://schemas.openxmlformats.org/officeDocument/2006/relationships/image" Target="../media/image12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20.png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15E5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3"/>
          <p:cNvSpPr/>
          <p:nvPr/>
        </p:nvSpPr>
        <p:spPr>
          <a:xfrm>
            <a:off x="457200" y="914400"/>
            <a:ext cx="36000" cy="32004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3"/>
          <p:cNvSpPr txBox="1"/>
          <p:nvPr/>
        </p:nvSpPr>
        <p:spPr>
          <a:xfrm>
            <a:off x="640080" y="91440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14B8A6"/>
                </a:solidFill>
                <a:latin typeface="Malgun Gothic"/>
                <a:ea typeface="Malgun Gothic"/>
                <a:cs typeface="Malgun Gothic"/>
                <a:sym typeface="Malgun Gothic"/>
              </a:rPr>
              <a:t>HealthEat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640080" y="1371600"/>
            <a:ext cx="777240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알약 객체 탐지 + 분류 시스템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640080" y="3749039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rgbClr val="CBD5E1"/>
                </a:solidFill>
                <a:latin typeface="Malgun Gothic"/>
                <a:ea typeface="Malgun Gothic"/>
                <a:cs typeface="Malgun Gothic"/>
                <a:sym typeface="Malgun Gothic"/>
              </a:rPr>
              <a:t>3팀 · 노승원 / 황지우 / 노수민 / 유수빈 / 고귀한</a:t>
            </a:r>
            <a:endParaRPr/>
          </a:p>
        </p:txBody>
      </p:sp>
      <p:sp>
        <p:nvSpPr>
          <p:cNvPr id="90" name="Google Shape;90;p13"/>
          <p:cNvSpPr txBox="1"/>
          <p:nvPr/>
        </p:nvSpPr>
        <p:spPr>
          <a:xfrm>
            <a:off x="640080" y="4114800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94A3B8"/>
                </a:solidFill>
                <a:latin typeface="Malgun Gothic"/>
                <a:ea typeface="Malgun Gothic"/>
                <a:cs typeface="Malgun Gothic"/>
                <a:sym typeface="Malgun Gothic"/>
              </a:rPr>
              <a:t>Codeit AI 부트캠프 | 발표 2026.05.11</a:t>
            </a:r>
            <a:endParaRPr/>
          </a:p>
        </p:txBody>
      </p:sp>
      <p:sp>
        <p:nvSpPr>
          <p:cNvPr id="2" name="Google Shape;130;p14">
            <a:extLst>
              <a:ext uri="{FF2B5EF4-FFF2-40B4-BE49-F238E27FC236}">
                <a16:creationId xmlns:a16="http://schemas.microsoft.com/office/drawing/2014/main" id="{49761398-4C55-C0C0-8AD3-43A4EEBAE22A}"/>
              </a:ext>
            </a:extLst>
          </p:cNvPr>
          <p:cNvSpPr txBox="1"/>
          <p:nvPr/>
        </p:nvSpPr>
        <p:spPr>
          <a:xfrm>
            <a:off x="5486400" y="4846320"/>
            <a:ext cx="3291840" cy="2112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dirty="0">
                <a:solidFill>
                  <a:srgbClr val="94A3B8"/>
                </a:solidFill>
                <a:latin typeface="Malgun Gothic"/>
                <a:ea typeface="Malgun Gothic"/>
                <a:cs typeface="Malgun Gothic"/>
                <a:sym typeface="Malgun Gothic"/>
              </a:rPr>
              <a:t>1</a:t>
            </a:r>
            <a:r>
              <a:rPr lang="en-US" sz="900" b="0" i="0" u="none" strike="noStrike" cap="none" dirty="0">
                <a:solidFill>
                  <a:srgbClr val="94A3B8"/>
                </a:solidFill>
                <a:latin typeface="Malgun Gothic"/>
                <a:ea typeface="Malgun Gothic"/>
                <a:cs typeface="Malgun Gothic"/>
                <a:sym typeface="Malgun Gothic"/>
              </a:rPr>
              <a:t> / 17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4"/>
          <p:cNvSpPr txBox="1"/>
          <p:nvPr/>
        </p:nvSpPr>
        <p:spPr>
          <a:xfrm>
            <a:off x="777240" y="256032"/>
            <a:ext cx="77724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목차</a:t>
            </a:r>
            <a:endParaRPr/>
          </a:p>
        </p:txBody>
      </p:sp>
      <p:sp>
        <p:nvSpPr>
          <p:cNvPr id="96" name="Google Shape;96;p14"/>
          <p:cNvSpPr/>
          <p:nvPr/>
        </p:nvSpPr>
        <p:spPr>
          <a:xfrm>
            <a:off x="365760" y="731520"/>
            <a:ext cx="8412480" cy="80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4"/>
          <p:cNvSpPr/>
          <p:nvPr/>
        </p:nvSpPr>
        <p:spPr>
          <a:xfrm>
            <a:off x="457200" y="960120"/>
            <a:ext cx="4023360" cy="77724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4"/>
          <p:cNvSpPr txBox="1"/>
          <p:nvPr/>
        </p:nvSpPr>
        <p:spPr>
          <a:xfrm>
            <a:off x="685800" y="1069848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14B8A6"/>
                </a:solidFill>
                <a:latin typeface="Malgun Gothic"/>
                <a:ea typeface="Malgun Gothic"/>
                <a:cs typeface="Malgun Gothic"/>
                <a:sym typeface="Malgun Gothic"/>
              </a:rPr>
              <a:t>01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1325880" y="1051560"/>
            <a:ext cx="301752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프로젝트 목표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1325880" y="1353312"/>
            <a:ext cx="3017520" cy="2265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t" anchorCtr="0">
            <a:spAutoFit/>
          </a:bodyPr>
          <a:lstStyle/>
          <a:p>
            <a:pPr lvl="0"/>
            <a:r>
              <a:rPr lang="ko-KR" altLang="en-US" sz="1000" dirty="0">
                <a:solidFill>
                  <a:srgbClr val="475569"/>
                </a:solidFill>
                <a:latin typeface="Malgun Gothic"/>
                <a:ea typeface="Malgun Gothic"/>
                <a:cs typeface="Malgun Gothic"/>
                <a:sym typeface="Malgun Gothic"/>
              </a:rPr>
              <a:t>알약 식별 웹 서비스 목표</a:t>
            </a:r>
            <a:endParaRPr dirty="0"/>
          </a:p>
        </p:txBody>
      </p:sp>
      <p:sp>
        <p:nvSpPr>
          <p:cNvPr id="101" name="Google Shape;101;p14"/>
          <p:cNvSpPr/>
          <p:nvPr/>
        </p:nvSpPr>
        <p:spPr>
          <a:xfrm>
            <a:off x="4663440" y="960120"/>
            <a:ext cx="4023360" cy="77724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4"/>
          <p:cNvSpPr txBox="1"/>
          <p:nvPr/>
        </p:nvSpPr>
        <p:spPr>
          <a:xfrm>
            <a:off x="4892040" y="1069848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14B8A6"/>
                </a:solidFill>
                <a:latin typeface="Malgun Gothic"/>
                <a:ea typeface="Malgun Gothic"/>
                <a:cs typeface="Malgun Gothic"/>
                <a:sym typeface="Malgun Gothic"/>
              </a:rPr>
              <a:t>02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5532120" y="1051560"/>
            <a:ext cx="301752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데이터</a:t>
            </a:r>
            <a:endParaRPr/>
          </a:p>
        </p:txBody>
      </p:sp>
      <p:sp>
        <p:nvSpPr>
          <p:cNvPr id="104" name="Google Shape;104;p14"/>
          <p:cNvSpPr txBox="1"/>
          <p:nvPr/>
        </p:nvSpPr>
        <p:spPr>
          <a:xfrm>
            <a:off x="5532120" y="1353312"/>
            <a:ext cx="301752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475569"/>
                </a:solidFill>
                <a:latin typeface="Malgun Gothic"/>
                <a:ea typeface="Malgun Gothic"/>
                <a:cs typeface="Malgun Gothic"/>
                <a:sym typeface="Malgun Gothic"/>
              </a:rPr>
              <a:t>EDA + 합성 데이터 변경 흐름</a:t>
            </a:r>
            <a:endParaRPr/>
          </a:p>
        </p:txBody>
      </p:sp>
      <p:sp>
        <p:nvSpPr>
          <p:cNvPr id="105" name="Google Shape;105;p14"/>
          <p:cNvSpPr/>
          <p:nvPr/>
        </p:nvSpPr>
        <p:spPr>
          <a:xfrm>
            <a:off x="457200" y="1874520"/>
            <a:ext cx="4023360" cy="77724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14"/>
          <p:cNvSpPr txBox="1"/>
          <p:nvPr/>
        </p:nvSpPr>
        <p:spPr>
          <a:xfrm>
            <a:off x="685800" y="1984248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14B8A6"/>
                </a:solidFill>
                <a:latin typeface="Malgun Gothic"/>
                <a:ea typeface="Malgun Gothic"/>
                <a:cs typeface="Malgun Gothic"/>
                <a:sym typeface="Malgun Gothic"/>
              </a:rPr>
              <a:t>03</a:t>
            </a:r>
            <a:endParaRPr/>
          </a:p>
        </p:txBody>
      </p:sp>
      <p:sp>
        <p:nvSpPr>
          <p:cNvPr id="107" name="Google Shape;107;p14"/>
          <p:cNvSpPr txBox="1"/>
          <p:nvPr/>
        </p:nvSpPr>
        <p:spPr>
          <a:xfrm>
            <a:off x="1325880" y="1965960"/>
            <a:ext cx="301752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초기 모델 실험</a:t>
            </a:r>
            <a:endParaRPr/>
          </a:p>
        </p:txBody>
      </p:sp>
      <p:sp>
        <p:nvSpPr>
          <p:cNvPr id="108" name="Google Shape;108;p14"/>
          <p:cNvSpPr txBox="1"/>
          <p:nvPr/>
        </p:nvSpPr>
        <p:spPr>
          <a:xfrm>
            <a:off x="1325880" y="2267712"/>
            <a:ext cx="3017520" cy="2265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t" anchorCtr="0">
            <a:spAutoFit/>
          </a:bodyPr>
          <a:lstStyle/>
          <a:p>
            <a:pPr lvl="0"/>
            <a:r>
              <a:rPr lang="ko-KR" altLang="en-US" sz="1000" dirty="0">
                <a:solidFill>
                  <a:srgbClr val="475569"/>
                </a:solidFill>
                <a:latin typeface="Malgun Gothic"/>
                <a:ea typeface="Malgun Gothic"/>
                <a:cs typeface="Malgun Gothic"/>
                <a:sym typeface="Malgun Gothic"/>
              </a:rPr>
              <a:t>증강 실험 </a:t>
            </a:r>
            <a:r>
              <a:rPr lang="en-US" altLang="ko-KR" sz="1000" dirty="0">
                <a:solidFill>
                  <a:srgbClr val="475569"/>
                </a:solidFill>
                <a:latin typeface="Malgun Gothic"/>
                <a:ea typeface="Malgun Gothic"/>
                <a:cs typeface="Malgun Gothic"/>
                <a:sym typeface="Malgun Gothic"/>
              </a:rPr>
              <a:t>+ YOLOv8n </a:t>
            </a:r>
            <a:r>
              <a:rPr lang="ko-KR" altLang="en-US" sz="1000" dirty="0">
                <a:solidFill>
                  <a:srgbClr val="475569"/>
                </a:solidFill>
                <a:latin typeface="Malgun Gothic"/>
                <a:ea typeface="Malgun Gothic"/>
                <a:cs typeface="Malgun Gothic"/>
                <a:sym typeface="Malgun Gothic"/>
              </a:rPr>
              <a:t>베이스라인</a:t>
            </a:r>
            <a:endParaRPr dirty="0"/>
          </a:p>
        </p:txBody>
      </p:sp>
      <p:sp>
        <p:nvSpPr>
          <p:cNvPr id="109" name="Google Shape;109;p14"/>
          <p:cNvSpPr/>
          <p:nvPr/>
        </p:nvSpPr>
        <p:spPr>
          <a:xfrm>
            <a:off x="4663440" y="1874520"/>
            <a:ext cx="4023360" cy="77724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14"/>
          <p:cNvSpPr txBox="1"/>
          <p:nvPr/>
        </p:nvSpPr>
        <p:spPr>
          <a:xfrm>
            <a:off x="4892040" y="1984248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14B8A6"/>
                </a:solidFill>
                <a:latin typeface="Malgun Gothic"/>
                <a:ea typeface="Malgun Gothic"/>
                <a:cs typeface="Malgun Gothic"/>
                <a:sym typeface="Malgun Gothic"/>
              </a:rPr>
              <a:t>04</a:t>
            </a:r>
            <a:endParaRPr/>
          </a:p>
        </p:txBody>
      </p:sp>
      <p:sp>
        <p:nvSpPr>
          <p:cNvPr id="111" name="Google Shape;111;p14"/>
          <p:cNvSpPr txBox="1"/>
          <p:nvPr/>
        </p:nvSpPr>
        <p:spPr>
          <a:xfrm>
            <a:off x="5532120" y="1965960"/>
            <a:ext cx="301752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방향 전환</a:t>
            </a:r>
            <a:endParaRPr/>
          </a:p>
        </p:txBody>
      </p:sp>
      <p:sp>
        <p:nvSpPr>
          <p:cNvPr id="112" name="Google Shape;112;p14"/>
          <p:cNvSpPr txBox="1"/>
          <p:nvPr/>
        </p:nvSpPr>
        <p:spPr>
          <a:xfrm>
            <a:off x="5532120" y="2267712"/>
            <a:ext cx="3017520" cy="2265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t" anchorCtr="0">
            <a:spAutoFit/>
          </a:bodyPr>
          <a:lstStyle/>
          <a:p>
            <a:pPr lvl="0"/>
            <a:r>
              <a:rPr lang="en-US" altLang="ko-KR" sz="1000" dirty="0"/>
              <a:t>Kaggle </a:t>
            </a:r>
            <a:r>
              <a:rPr lang="ko-KR" altLang="en-US" sz="1000" dirty="0"/>
              <a:t>점수 → 실제 촬영 평가</a:t>
            </a:r>
            <a:endParaRPr dirty="0"/>
          </a:p>
        </p:txBody>
      </p:sp>
      <p:sp>
        <p:nvSpPr>
          <p:cNvPr id="113" name="Google Shape;113;p14"/>
          <p:cNvSpPr/>
          <p:nvPr/>
        </p:nvSpPr>
        <p:spPr>
          <a:xfrm>
            <a:off x="457200" y="2788920"/>
            <a:ext cx="4023360" cy="77724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14"/>
          <p:cNvSpPr txBox="1"/>
          <p:nvPr/>
        </p:nvSpPr>
        <p:spPr>
          <a:xfrm>
            <a:off x="685800" y="2898648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14B8A6"/>
                </a:solidFill>
                <a:latin typeface="Malgun Gothic"/>
                <a:ea typeface="Malgun Gothic"/>
                <a:cs typeface="Malgun Gothic"/>
                <a:sym typeface="Malgun Gothic"/>
              </a:rPr>
              <a:t>05</a:t>
            </a:r>
            <a:endParaRPr/>
          </a:p>
        </p:txBody>
      </p:sp>
      <p:sp>
        <p:nvSpPr>
          <p:cNvPr id="115" name="Google Shape;115;p14"/>
          <p:cNvSpPr txBox="1"/>
          <p:nvPr/>
        </p:nvSpPr>
        <p:spPr>
          <a:xfrm>
            <a:off x="1325880" y="2880360"/>
            <a:ext cx="3017520" cy="2881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 dirty="0" err="1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모델</a:t>
            </a:r>
            <a:r>
              <a:rPr lang="en-US" sz="1400" b="1" i="0" u="none" strike="noStrike" cap="none" dirty="0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1400" b="1" i="0" u="none" strike="noStrike" cap="none" dirty="0" err="1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선정</a:t>
            </a:r>
            <a:endParaRPr dirty="0"/>
          </a:p>
        </p:txBody>
      </p:sp>
      <p:sp>
        <p:nvSpPr>
          <p:cNvPr id="116" name="Google Shape;116;p14"/>
          <p:cNvSpPr txBox="1"/>
          <p:nvPr/>
        </p:nvSpPr>
        <p:spPr>
          <a:xfrm>
            <a:off x="1325880" y="3182112"/>
            <a:ext cx="3017520" cy="2265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000" b="0" i="0" u="none" strike="noStrike" cap="none" dirty="0">
                <a:solidFill>
                  <a:srgbClr val="475569"/>
                </a:solidFill>
                <a:latin typeface="Malgun Gothic"/>
                <a:ea typeface="Malgun Gothic"/>
                <a:cs typeface="Malgun Gothic"/>
                <a:sym typeface="Malgun Gothic"/>
              </a:rPr>
              <a:t>8</a:t>
            </a:r>
            <a:r>
              <a:rPr lang="ko-KR" altLang="en-US" sz="1000" b="0" i="0" u="none" strike="noStrike" cap="none" dirty="0">
                <a:solidFill>
                  <a:srgbClr val="475569"/>
                </a:solidFill>
                <a:latin typeface="Malgun Gothic"/>
                <a:ea typeface="Malgun Gothic"/>
                <a:cs typeface="Malgun Gothic"/>
                <a:sym typeface="Malgun Gothic"/>
              </a:rPr>
              <a:t>개 후보 → </a:t>
            </a:r>
            <a:r>
              <a:rPr lang="en-US" altLang="ko-KR" sz="1000" b="0" i="0" u="none" strike="noStrike" cap="none" dirty="0" err="1">
                <a:solidFill>
                  <a:srgbClr val="475569"/>
                </a:solidFill>
                <a:latin typeface="Malgun Gothic"/>
                <a:ea typeface="Malgun Gothic"/>
                <a:cs typeface="Malgun Gothic"/>
                <a:sym typeface="Malgun Gothic"/>
              </a:rPr>
              <a:t>RTMDet</a:t>
            </a:r>
            <a:r>
              <a:rPr lang="en-US" altLang="ko-KR" sz="1000" b="0" i="0" u="none" strike="noStrike" cap="none" dirty="0">
                <a:solidFill>
                  <a:srgbClr val="475569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altLang="en-US" sz="1000" b="0" i="0" u="none" strike="noStrike" cap="none" dirty="0">
                <a:solidFill>
                  <a:srgbClr val="475569"/>
                </a:solidFill>
                <a:latin typeface="Malgun Gothic"/>
                <a:ea typeface="Malgun Gothic"/>
                <a:cs typeface="Malgun Gothic"/>
                <a:sym typeface="Malgun Gothic"/>
              </a:rPr>
              <a:t>선정</a:t>
            </a:r>
            <a:endParaRPr dirty="0"/>
          </a:p>
        </p:txBody>
      </p:sp>
      <p:sp>
        <p:nvSpPr>
          <p:cNvPr id="117" name="Google Shape;117;p14"/>
          <p:cNvSpPr/>
          <p:nvPr/>
        </p:nvSpPr>
        <p:spPr>
          <a:xfrm>
            <a:off x="4663440" y="2788920"/>
            <a:ext cx="4023360" cy="77724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4"/>
          <p:cNvSpPr txBox="1"/>
          <p:nvPr/>
        </p:nvSpPr>
        <p:spPr>
          <a:xfrm>
            <a:off x="4892040" y="2898648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14B8A6"/>
                </a:solidFill>
                <a:latin typeface="Malgun Gothic"/>
                <a:ea typeface="Malgun Gothic"/>
                <a:cs typeface="Malgun Gothic"/>
                <a:sym typeface="Malgun Gothic"/>
              </a:rPr>
              <a:t>06</a:t>
            </a:r>
            <a:endParaRPr/>
          </a:p>
        </p:txBody>
      </p:sp>
      <p:sp>
        <p:nvSpPr>
          <p:cNvPr id="119" name="Google Shape;119;p14"/>
          <p:cNvSpPr txBox="1"/>
          <p:nvPr/>
        </p:nvSpPr>
        <p:spPr>
          <a:xfrm>
            <a:off x="5532120" y="2880360"/>
            <a:ext cx="301752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한계 + CNN 도입</a:t>
            </a:r>
            <a:endParaRPr/>
          </a:p>
        </p:txBody>
      </p:sp>
      <p:sp>
        <p:nvSpPr>
          <p:cNvPr id="120" name="Google Shape;120;p14"/>
          <p:cNvSpPr txBox="1"/>
          <p:nvPr/>
        </p:nvSpPr>
        <p:spPr>
          <a:xfrm>
            <a:off x="5532120" y="3182112"/>
            <a:ext cx="3017520" cy="2265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 dirty="0" err="1">
                <a:solidFill>
                  <a:srgbClr val="475569"/>
                </a:solidFill>
                <a:latin typeface="Malgun Gothic"/>
                <a:ea typeface="Malgun Gothic"/>
                <a:cs typeface="Malgun Gothic"/>
                <a:sym typeface="Malgun Gothic"/>
              </a:rPr>
              <a:t>추론</a:t>
            </a:r>
            <a:r>
              <a:rPr lang="en-US" sz="1000" b="0" i="0" u="none" strike="noStrike" cap="none" dirty="0">
                <a:solidFill>
                  <a:srgbClr val="475569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1000" b="0" i="0" u="none" strike="noStrike" cap="none" dirty="0" err="1">
                <a:solidFill>
                  <a:srgbClr val="475569"/>
                </a:solidFill>
                <a:latin typeface="Malgun Gothic"/>
                <a:ea typeface="Malgun Gothic"/>
                <a:cs typeface="Malgun Gothic"/>
                <a:sym typeface="Malgun Gothic"/>
              </a:rPr>
              <a:t>안정성</a:t>
            </a:r>
            <a:r>
              <a:rPr lang="en-US" sz="1000" b="0" i="0" u="none" strike="noStrike" cap="none" dirty="0">
                <a:solidFill>
                  <a:srgbClr val="475569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1000" b="0" i="0" u="none" strike="noStrike" cap="none" dirty="0" err="1">
                <a:solidFill>
                  <a:srgbClr val="475569"/>
                </a:solidFill>
                <a:latin typeface="Malgun Gothic"/>
                <a:ea typeface="Malgun Gothic"/>
                <a:cs typeface="Malgun Gothic"/>
                <a:sym typeface="Malgun Gothic"/>
              </a:rPr>
              <a:t>확보를</a:t>
            </a:r>
            <a:r>
              <a:rPr lang="en-US" sz="1000" b="0" i="0" u="none" strike="noStrike" cap="none" dirty="0">
                <a:solidFill>
                  <a:srgbClr val="475569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1000" b="0" i="0" u="none" strike="noStrike" cap="none" dirty="0" err="1">
                <a:solidFill>
                  <a:srgbClr val="475569"/>
                </a:solidFill>
                <a:latin typeface="Malgun Gothic"/>
                <a:ea typeface="Malgun Gothic"/>
                <a:cs typeface="Malgun Gothic"/>
                <a:sym typeface="Malgun Gothic"/>
              </a:rPr>
              <a:t>위한</a:t>
            </a:r>
            <a:r>
              <a:rPr lang="en-US" sz="1000" b="0" i="0" u="none" strike="noStrike" cap="none" dirty="0">
                <a:solidFill>
                  <a:srgbClr val="475569"/>
                </a:solidFill>
                <a:latin typeface="Malgun Gothic"/>
                <a:ea typeface="Malgun Gothic"/>
                <a:cs typeface="Malgun Gothic"/>
                <a:sym typeface="Malgun Gothic"/>
              </a:rPr>
              <a:t> Two-stage</a:t>
            </a:r>
            <a:endParaRPr dirty="0"/>
          </a:p>
        </p:txBody>
      </p:sp>
      <p:sp>
        <p:nvSpPr>
          <p:cNvPr id="121" name="Google Shape;121;p14"/>
          <p:cNvSpPr/>
          <p:nvPr/>
        </p:nvSpPr>
        <p:spPr>
          <a:xfrm>
            <a:off x="457200" y="3703320"/>
            <a:ext cx="4023360" cy="77724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4"/>
          <p:cNvSpPr txBox="1"/>
          <p:nvPr/>
        </p:nvSpPr>
        <p:spPr>
          <a:xfrm>
            <a:off x="685800" y="3813048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14B8A6"/>
                </a:solidFill>
                <a:latin typeface="Malgun Gothic"/>
                <a:ea typeface="Malgun Gothic"/>
                <a:cs typeface="Malgun Gothic"/>
                <a:sym typeface="Malgun Gothic"/>
              </a:rPr>
              <a:t>07</a:t>
            </a:r>
            <a:endParaRPr/>
          </a:p>
        </p:txBody>
      </p:sp>
      <p:sp>
        <p:nvSpPr>
          <p:cNvPr id="123" name="Google Shape;123;p14"/>
          <p:cNvSpPr txBox="1"/>
          <p:nvPr/>
        </p:nvSpPr>
        <p:spPr>
          <a:xfrm>
            <a:off x="1325880" y="3794760"/>
            <a:ext cx="301752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웹페이지 통합</a:t>
            </a:r>
            <a:endParaRPr/>
          </a:p>
        </p:txBody>
      </p:sp>
      <p:sp>
        <p:nvSpPr>
          <p:cNvPr id="124" name="Google Shape;124;p14"/>
          <p:cNvSpPr txBox="1"/>
          <p:nvPr/>
        </p:nvSpPr>
        <p:spPr>
          <a:xfrm>
            <a:off x="1325880" y="4096512"/>
            <a:ext cx="301752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475569"/>
                </a:solidFill>
                <a:latin typeface="Malgun Gothic"/>
                <a:ea typeface="Malgun Gothic"/>
                <a:cs typeface="Malgun Gothic"/>
                <a:sym typeface="Malgun Gothic"/>
              </a:rPr>
              <a:t>다중축 검증 시스템 + 사용자 UX</a:t>
            </a:r>
            <a:endParaRPr/>
          </a:p>
        </p:txBody>
      </p:sp>
      <p:sp>
        <p:nvSpPr>
          <p:cNvPr id="125" name="Google Shape;125;p14"/>
          <p:cNvSpPr/>
          <p:nvPr/>
        </p:nvSpPr>
        <p:spPr>
          <a:xfrm>
            <a:off x="4663440" y="3703320"/>
            <a:ext cx="4023360" cy="77724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4"/>
          <p:cNvSpPr txBox="1"/>
          <p:nvPr/>
        </p:nvSpPr>
        <p:spPr>
          <a:xfrm>
            <a:off x="4892040" y="3813048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14B8A6"/>
                </a:solidFill>
                <a:latin typeface="Malgun Gothic"/>
                <a:ea typeface="Malgun Gothic"/>
                <a:cs typeface="Malgun Gothic"/>
                <a:sym typeface="Malgun Gothic"/>
              </a:rPr>
              <a:t>08</a:t>
            </a:r>
            <a:endParaRPr/>
          </a:p>
        </p:txBody>
      </p:sp>
      <p:sp>
        <p:nvSpPr>
          <p:cNvPr id="127" name="Google Shape;127;p14"/>
          <p:cNvSpPr txBox="1"/>
          <p:nvPr/>
        </p:nvSpPr>
        <p:spPr>
          <a:xfrm>
            <a:off x="5532120" y="3794760"/>
            <a:ext cx="301752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마무리</a:t>
            </a:r>
            <a:endParaRPr/>
          </a:p>
        </p:txBody>
      </p:sp>
      <p:sp>
        <p:nvSpPr>
          <p:cNvPr id="128" name="Google Shape;128;p14"/>
          <p:cNvSpPr txBox="1"/>
          <p:nvPr/>
        </p:nvSpPr>
        <p:spPr>
          <a:xfrm>
            <a:off x="5532120" y="4096512"/>
            <a:ext cx="301752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475569"/>
                </a:solidFill>
                <a:latin typeface="Malgun Gothic"/>
                <a:ea typeface="Malgun Gothic"/>
                <a:cs typeface="Malgun Gothic"/>
                <a:sym typeface="Malgun Gothic"/>
              </a:rPr>
              <a:t>시연 + 결론 + 향후 방향</a:t>
            </a:r>
            <a:endParaRPr/>
          </a:p>
        </p:txBody>
      </p:sp>
      <p:sp>
        <p:nvSpPr>
          <p:cNvPr id="129" name="Google Shape;129;p14"/>
          <p:cNvSpPr txBox="1"/>
          <p:nvPr/>
        </p:nvSpPr>
        <p:spPr>
          <a:xfrm>
            <a:off x="365760" y="4846320"/>
            <a:ext cx="36576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94A3B8"/>
                </a:solidFill>
                <a:latin typeface="Malgun Gothic"/>
                <a:ea typeface="Malgun Gothic"/>
                <a:cs typeface="Malgun Gothic"/>
                <a:sym typeface="Malgun Gothic"/>
              </a:rPr>
              <a:t>HealthEat · 3팀</a:t>
            </a:r>
            <a:endParaRPr/>
          </a:p>
        </p:txBody>
      </p:sp>
      <p:sp>
        <p:nvSpPr>
          <p:cNvPr id="130" name="Google Shape;130;p14"/>
          <p:cNvSpPr txBox="1"/>
          <p:nvPr/>
        </p:nvSpPr>
        <p:spPr>
          <a:xfrm>
            <a:off x="5486400" y="4846320"/>
            <a:ext cx="3291840" cy="2112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 dirty="0">
                <a:solidFill>
                  <a:srgbClr val="94A3B8"/>
                </a:solidFill>
                <a:latin typeface="Malgun Gothic"/>
                <a:ea typeface="Malgun Gothic"/>
                <a:cs typeface="Malgun Gothic"/>
                <a:sym typeface="Malgun Gothic"/>
              </a:rPr>
              <a:t>2 / 17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5"/>
          <p:cNvSpPr/>
          <p:nvPr/>
        </p:nvSpPr>
        <p:spPr>
          <a:xfrm>
            <a:off x="365760" y="292608"/>
            <a:ext cx="292608" cy="292608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5"/>
          <p:cNvSpPr txBox="1"/>
          <p:nvPr/>
        </p:nvSpPr>
        <p:spPr>
          <a:xfrm>
            <a:off x="365760" y="292608"/>
            <a:ext cx="292608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01</a:t>
            </a:r>
            <a:endParaRPr/>
          </a:p>
        </p:txBody>
      </p:sp>
      <p:sp>
        <p:nvSpPr>
          <p:cNvPr id="137" name="Google Shape;137;p15"/>
          <p:cNvSpPr txBox="1"/>
          <p:nvPr/>
        </p:nvSpPr>
        <p:spPr>
          <a:xfrm>
            <a:off x="777240" y="271532"/>
            <a:ext cx="7772400" cy="380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 err="1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프로젝트</a:t>
            </a:r>
            <a:r>
              <a:rPr lang="en-US" sz="2000" b="1" i="0" u="none" strike="noStrike" cap="none" dirty="0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2000" b="1" i="0" u="none" strike="noStrike" cap="none" dirty="0" err="1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목표</a:t>
            </a:r>
            <a:endParaRPr dirty="0"/>
          </a:p>
        </p:txBody>
      </p:sp>
      <p:sp>
        <p:nvSpPr>
          <p:cNvPr id="138" name="Google Shape;138;p15"/>
          <p:cNvSpPr/>
          <p:nvPr/>
        </p:nvSpPr>
        <p:spPr>
          <a:xfrm>
            <a:off x="365760" y="731520"/>
            <a:ext cx="8412480" cy="80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5"/>
          <p:cNvSpPr txBox="1"/>
          <p:nvPr/>
        </p:nvSpPr>
        <p:spPr>
          <a:xfrm>
            <a:off x="457200" y="914400"/>
            <a:ext cx="41148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14B8A6"/>
                </a:solidFill>
                <a:latin typeface="Malgun Gothic"/>
                <a:ea typeface="Malgun Gothic"/>
                <a:cs typeface="Malgun Gothic"/>
                <a:sym typeface="Malgun Gothic"/>
              </a:rPr>
              <a:t>헬스잇(HealthEat) 비전</a:t>
            </a:r>
            <a:endParaRPr/>
          </a:p>
        </p:txBody>
      </p:sp>
      <p:sp>
        <p:nvSpPr>
          <p:cNvPr id="140" name="Google Shape;140;p15"/>
          <p:cNvSpPr txBox="1"/>
          <p:nvPr/>
        </p:nvSpPr>
        <p:spPr>
          <a:xfrm>
            <a:off x="457200" y="1270278"/>
            <a:ext cx="4114800" cy="15731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t" anchorCtr="0">
            <a:sp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 dirty="0" err="1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사용자가</a:t>
            </a:r>
            <a:r>
              <a:rPr lang="en-US" sz="1100" dirty="0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altLang="en-US" sz="1100" dirty="0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알약 사진을 업로드하면</a:t>
            </a:r>
            <a:r>
              <a:rPr lang="ko-KR" altLang="en-US" dirty="0">
                <a:ea typeface="Malgun Gothic"/>
              </a:rPr>
              <a:t> </a:t>
            </a:r>
            <a:r>
              <a:rPr lang="en-US" sz="1100" b="0" i="0" u="none" strike="noStrike" cap="none" dirty="0" err="1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AI가</a:t>
            </a:r>
            <a:r>
              <a:rPr lang="en-US" sz="1100" b="0" i="0" u="none" strike="noStrike" cap="none" dirty="0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1100" b="0" i="0" u="none" strike="noStrike" cap="none" dirty="0" err="1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탐지·분류</a:t>
            </a:r>
            <a:r>
              <a:rPr lang="en-US" sz="1100" b="0" i="0" u="none" strike="noStrike" cap="none" dirty="0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 후 </a:t>
            </a:r>
            <a:r>
              <a:rPr lang="en-US" sz="1100" b="0" i="0" u="none" strike="noStrike" cap="none" dirty="0" err="1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알약</a:t>
            </a:r>
            <a:r>
              <a:rPr lang="en-US" sz="1100" b="0" i="0" u="none" strike="noStrike" cap="none" dirty="0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1100" b="0" i="0" u="none" strike="noStrike" cap="none" dirty="0" err="1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정보를</a:t>
            </a:r>
            <a:r>
              <a:rPr lang="en-US" sz="1100" b="0" i="0" u="none" strike="noStrike" cap="none" dirty="0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1100" b="0" i="0" u="none" strike="noStrike" cap="none" dirty="0" err="1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제공하는</a:t>
            </a:r>
            <a:r>
              <a:rPr lang="en-US" sz="1100" b="0" i="0" u="none" strike="noStrike" cap="none" dirty="0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1100" b="0" i="0" u="none" strike="noStrike" cap="none" dirty="0" err="1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헬스케어</a:t>
            </a:r>
            <a:r>
              <a:rPr lang="en-US" sz="1100" b="0" i="0" u="none" strike="noStrike" cap="none" dirty="0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1100" b="0" i="0" u="none" strike="noStrike" cap="none" dirty="0" err="1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서비스</a:t>
            </a:r>
            <a:endParaRPr dirty="0"/>
          </a:p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 b="0" i="0" u="none" strike="noStrike" cap="none" dirty="0">
              <a:solidFill>
                <a:srgbClr val="1E293B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 dirty="0" err="1">
                <a:solidFill>
                  <a:srgbClr val="14B8A6"/>
                </a:solidFill>
                <a:latin typeface="Malgun Gothic"/>
                <a:ea typeface="Malgun Gothic"/>
                <a:cs typeface="Malgun Gothic"/>
                <a:sym typeface="Malgun Gothic"/>
              </a:rPr>
              <a:t>이번</a:t>
            </a:r>
            <a:r>
              <a:rPr lang="en-US" sz="1200" b="1" i="0" u="none" strike="noStrike" cap="none" dirty="0">
                <a:solidFill>
                  <a:srgbClr val="14B8A6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1200" b="1" i="0" u="none" strike="noStrike" cap="none" dirty="0" err="1">
                <a:solidFill>
                  <a:srgbClr val="14B8A6"/>
                </a:solidFill>
                <a:latin typeface="Malgun Gothic"/>
                <a:ea typeface="Malgun Gothic"/>
                <a:cs typeface="Malgun Gothic"/>
                <a:sym typeface="Malgun Gothic"/>
              </a:rPr>
              <a:t>프로젝트의</a:t>
            </a:r>
            <a:r>
              <a:rPr lang="en-US" sz="1200" b="1" i="0" u="none" strike="noStrike" cap="none" dirty="0">
                <a:solidFill>
                  <a:srgbClr val="14B8A6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1200" b="1" i="0" u="none" strike="noStrike" cap="none" dirty="0" err="1">
                <a:solidFill>
                  <a:srgbClr val="14B8A6"/>
                </a:solidFill>
                <a:latin typeface="Malgun Gothic"/>
                <a:ea typeface="Malgun Gothic"/>
                <a:cs typeface="Malgun Gothic"/>
                <a:sym typeface="Malgun Gothic"/>
              </a:rPr>
              <a:t>핵심</a:t>
            </a:r>
            <a:r>
              <a:rPr lang="en-US" sz="1200" b="1" i="0" u="none" strike="noStrike" cap="none" dirty="0">
                <a:solidFill>
                  <a:srgbClr val="14B8A6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1200" b="1" i="0" u="none" strike="noStrike" cap="none" dirty="0" err="1">
                <a:solidFill>
                  <a:srgbClr val="14B8A6"/>
                </a:solidFill>
                <a:latin typeface="Malgun Gothic"/>
                <a:ea typeface="Malgun Gothic"/>
                <a:cs typeface="Malgun Gothic"/>
                <a:sym typeface="Malgun Gothic"/>
              </a:rPr>
              <a:t>목표</a:t>
            </a:r>
            <a:endParaRPr dirty="0"/>
          </a:p>
          <a:p>
            <a:pPr lvl="0">
              <a:lnSpc>
                <a:spcPct val="125000"/>
              </a:lnSpc>
            </a:pPr>
            <a:r>
              <a:rPr lang="en-US" sz="1000" b="0" i="0" u="none" strike="noStrike" cap="none" dirty="0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• </a:t>
            </a:r>
            <a:r>
              <a:rPr lang="ko-KR" altLang="en-US" sz="1000" dirty="0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실제 촬영 이미지에 대한 일반화 성능 확보</a:t>
            </a:r>
            <a:endParaRPr dirty="0"/>
          </a:p>
          <a:p>
            <a:pPr lvl="0">
              <a:lnSpc>
                <a:spcPct val="125000"/>
              </a:lnSpc>
            </a:pPr>
            <a:r>
              <a:rPr lang="en-US" sz="1000" b="0" i="0" u="none" strike="noStrike" cap="none" dirty="0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• </a:t>
            </a:r>
            <a:r>
              <a:rPr lang="en-US" altLang="ko-KR" sz="1000" dirty="0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Kaggle </a:t>
            </a:r>
            <a:r>
              <a:rPr lang="ko-KR" altLang="en-US" sz="1000" dirty="0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점수가 아닌 실제 촬영 환경 평가에 초점</a:t>
            </a:r>
            <a:endParaRPr dirty="0"/>
          </a:p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 dirty="0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• </a:t>
            </a:r>
            <a:r>
              <a:rPr lang="en-US" sz="1000" b="0" i="0" u="none" strike="noStrike" cap="none" dirty="0" err="1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단순</a:t>
            </a:r>
            <a:r>
              <a:rPr lang="en-US" sz="1000" b="0" i="0" u="none" strike="noStrike" cap="none" dirty="0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1000" b="0" i="0" u="none" strike="noStrike" cap="none" dirty="0" err="1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모델이</a:t>
            </a:r>
            <a:r>
              <a:rPr lang="en-US" sz="1000" b="0" i="0" u="none" strike="noStrike" cap="none" dirty="0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1000" b="0" i="0" u="none" strike="noStrike" cap="none" dirty="0" err="1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아닌</a:t>
            </a:r>
            <a:r>
              <a:rPr lang="en-US" sz="1000" b="0" i="0" u="none" strike="noStrike" cap="none" dirty="0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1000" b="0" i="0" u="none" strike="noStrike" cap="none" dirty="0" err="1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사용자</a:t>
            </a:r>
            <a:r>
              <a:rPr lang="en-US" sz="1000" b="0" i="0" u="none" strike="noStrike" cap="none" dirty="0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1000" b="0" i="0" u="none" strike="noStrike" cap="none" dirty="0" err="1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신뢰</a:t>
            </a:r>
            <a:r>
              <a:rPr lang="en-US" sz="1000" b="0" i="0" u="none" strike="noStrike" cap="none" dirty="0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1000" b="0" i="0" u="none" strike="noStrike" cap="none" dirty="0" err="1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가능한</a:t>
            </a:r>
            <a:r>
              <a:rPr lang="en-US" sz="1000" b="0" i="0" u="none" strike="noStrike" cap="none" dirty="0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1000" b="0" i="0" u="none" strike="noStrike" cap="none" dirty="0" err="1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시스템</a:t>
            </a:r>
            <a:r>
              <a:rPr lang="en-US" sz="1000" b="0" i="0" u="none" strike="noStrike" cap="none" dirty="0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1000" b="0" i="0" u="none" strike="noStrike" cap="none" dirty="0" err="1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구축</a:t>
            </a:r>
            <a:endParaRPr dirty="0"/>
          </a:p>
        </p:txBody>
      </p:sp>
      <p:sp>
        <p:nvSpPr>
          <p:cNvPr id="141" name="Google Shape;141;p15"/>
          <p:cNvSpPr/>
          <p:nvPr/>
        </p:nvSpPr>
        <p:spPr>
          <a:xfrm>
            <a:off x="457200" y="2834640"/>
            <a:ext cx="4114800" cy="155448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9525" cap="flat" cmpd="sng">
            <a:solidFill>
              <a:srgbClr val="D977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5"/>
          <p:cNvSpPr txBox="1"/>
          <p:nvPr/>
        </p:nvSpPr>
        <p:spPr>
          <a:xfrm>
            <a:off x="640080" y="2907792"/>
            <a:ext cx="3749039" cy="241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t" anchorCtr="0">
            <a:spAutoFit/>
          </a:bodyPr>
          <a:lstStyle/>
          <a:p>
            <a:pPr lvl="0"/>
            <a:r>
              <a:rPr lang="ko-KR" altLang="en-US" sz="1100" b="1" dirty="0">
                <a:solidFill>
                  <a:srgbClr val="D97706"/>
                </a:solidFill>
                <a:latin typeface="Malgun Gothic"/>
                <a:ea typeface="Malgun Gothic"/>
                <a:cs typeface="Malgun Gothic"/>
                <a:sym typeface="Malgun Gothic"/>
              </a:rPr>
              <a:t>자체 </a:t>
            </a:r>
            <a:r>
              <a:rPr lang="en-US" altLang="ko-KR" sz="1100" b="1" dirty="0">
                <a:solidFill>
                  <a:srgbClr val="D97706"/>
                </a:solidFill>
                <a:latin typeface="Malgun Gothic"/>
                <a:ea typeface="Malgun Gothic"/>
                <a:cs typeface="Malgun Gothic"/>
                <a:sym typeface="Malgun Gothic"/>
              </a:rPr>
              <a:t>33</a:t>
            </a:r>
            <a:r>
              <a:rPr lang="ko-KR" altLang="en-US" sz="1100" b="1" dirty="0">
                <a:solidFill>
                  <a:srgbClr val="D97706"/>
                </a:solidFill>
                <a:latin typeface="Malgun Gothic"/>
                <a:ea typeface="Malgun Gothic"/>
                <a:cs typeface="Malgun Gothic"/>
                <a:sym typeface="Malgun Gothic"/>
              </a:rPr>
              <a:t>장 평가셋이 필요했던 이유</a:t>
            </a:r>
            <a:endParaRPr dirty="0"/>
          </a:p>
        </p:txBody>
      </p:sp>
      <p:sp>
        <p:nvSpPr>
          <p:cNvPr id="143" name="Google Shape;143;p15"/>
          <p:cNvSpPr txBox="1"/>
          <p:nvPr/>
        </p:nvSpPr>
        <p:spPr>
          <a:xfrm>
            <a:off x="640080" y="3182112"/>
            <a:ext cx="3749039" cy="1014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 dirty="0" err="1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한국</a:t>
            </a:r>
            <a:r>
              <a:rPr lang="en-US" sz="1000" b="1" i="0" u="none" strike="noStrike" cap="none" dirty="0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altLang="en-US" sz="1000" b="1" dirty="0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알</a:t>
            </a:r>
            <a:r>
              <a:rPr lang="en-US" sz="1000" b="1" i="0" u="none" strike="noStrike" cap="none" dirty="0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약 </a:t>
            </a:r>
            <a:r>
              <a:rPr lang="en-US" sz="1000" b="1" i="0" u="none" strike="noStrike" cap="none" dirty="0" err="1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실사용</a:t>
            </a:r>
            <a:r>
              <a:rPr lang="en-US" sz="1000" b="1" i="0" u="none" strike="noStrike" cap="none" dirty="0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1000" b="1" i="0" u="none" strike="noStrike" cap="none" dirty="0" err="1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공개</a:t>
            </a:r>
            <a:r>
              <a:rPr lang="en-US" sz="1000" b="1" i="0" u="none" strike="noStrike" cap="none" dirty="0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1000" b="1" i="0" u="none" strike="noStrike" cap="none" dirty="0" err="1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데이터셋</a:t>
            </a:r>
            <a:r>
              <a:rPr lang="en-US" sz="1000" b="1" i="0" u="none" strike="noStrike" cap="none" dirty="0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1000" b="1" i="0" u="none" strike="noStrike" cap="none" dirty="0" err="1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부재</a:t>
            </a:r>
            <a:r>
              <a:rPr lang="en-US" sz="1000" b="1" i="0" u="none" strike="noStrike" cap="none" dirty="0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 — 7개 </a:t>
            </a:r>
            <a:r>
              <a:rPr lang="en-US" sz="1000" b="1" i="0" u="none" strike="noStrike" cap="none" dirty="0" err="1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경로</a:t>
            </a:r>
            <a:r>
              <a:rPr lang="en-US" sz="1000" b="1" i="0" u="none" strike="noStrike" cap="none" dirty="0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1000" b="1" i="0" u="none" strike="noStrike" cap="none" dirty="0" err="1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검증</a:t>
            </a:r>
            <a:endParaRPr dirty="0"/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 dirty="0" err="1">
                <a:solidFill>
                  <a:srgbClr val="475569"/>
                </a:solidFill>
                <a:latin typeface="Malgun Gothic"/>
                <a:ea typeface="Malgun Gothic"/>
                <a:cs typeface="Malgun Gothic"/>
                <a:sym typeface="Malgun Gothic"/>
              </a:rPr>
              <a:t>Roboflow</a:t>
            </a:r>
            <a:r>
              <a:rPr lang="en-US" sz="900" b="0" i="0" u="none" strike="noStrike" cap="none" dirty="0">
                <a:solidFill>
                  <a:srgbClr val="475569"/>
                </a:solidFill>
                <a:latin typeface="Malgun Gothic"/>
                <a:ea typeface="Malgun Gothic"/>
                <a:cs typeface="Malgun Gothic"/>
                <a:sym typeface="Malgun Gothic"/>
              </a:rPr>
              <a:t> / HF / AI Hub / Kaggle / </a:t>
            </a:r>
            <a:r>
              <a:rPr lang="en-US" sz="900" b="0" i="0" u="none" strike="noStrike" cap="none" dirty="0" err="1">
                <a:solidFill>
                  <a:srgbClr val="475569"/>
                </a:solidFill>
                <a:latin typeface="Malgun Gothic"/>
                <a:ea typeface="Malgun Gothic"/>
                <a:cs typeface="Malgun Gothic"/>
                <a:sym typeface="Malgun Gothic"/>
              </a:rPr>
              <a:t>학술</a:t>
            </a:r>
            <a:r>
              <a:rPr lang="ko-KR" altLang="en-US" sz="900" b="0" i="0" u="none" strike="noStrike" cap="none" dirty="0">
                <a:solidFill>
                  <a:srgbClr val="475569"/>
                </a:solidFill>
                <a:latin typeface="Malgun Gothic"/>
                <a:ea typeface="Malgun Gothic"/>
                <a:cs typeface="Malgun Gothic"/>
                <a:sym typeface="Malgun Gothic"/>
              </a:rPr>
              <a:t>자료</a:t>
            </a:r>
            <a:r>
              <a:rPr lang="en-US" sz="900" b="0" i="0" u="none" strike="noStrike" cap="none" dirty="0">
                <a:solidFill>
                  <a:srgbClr val="475569"/>
                </a:solidFill>
                <a:latin typeface="Malgun Gothic"/>
                <a:ea typeface="Malgun Gothic"/>
                <a:cs typeface="Malgun Gothic"/>
                <a:sym typeface="Malgun Gothic"/>
              </a:rPr>
              <a:t> / </a:t>
            </a:r>
            <a:r>
              <a:rPr lang="en-US" sz="900" b="0" i="0" u="none" strike="noStrike" cap="none" dirty="0" err="1">
                <a:solidFill>
                  <a:srgbClr val="475569"/>
                </a:solidFill>
                <a:latin typeface="Malgun Gothic"/>
                <a:ea typeface="Malgun Gothic"/>
                <a:cs typeface="Malgun Gothic"/>
                <a:sym typeface="Malgun Gothic"/>
              </a:rPr>
              <a:t>이미지</a:t>
            </a:r>
            <a:r>
              <a:rPr lang="en-US" sz="900" b="0" i="0" u="none" strike="noStrike" cap="none" dirty="0">
                <a:solidFill>
                  <a:srgbClr val="475569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altLang="en-US" sz="900" b="0" i="0" u="none" strike="noStrike" cap="none" dirty="0">
                <a:solidFill>
                  <a:srgbClr val="475569"/>
                </a:solidFill>
                <a:latin typeface="Malgun Gothic"/>
                <a:ea typeface="Malgun Gothic"/>
                <a:cs typeface="Malgun Gothic"/>
                <a:sym typeface="Malgun Gothic"/>
              </a:rPr>
              <a:t>검색 등</a:t>
            </a:r>
            <a:endParaRPr lang="en-US" altLang="ko-KR" sz="900" b="0" i="0" u="none" strike="noStrike" cap="none" dirty="0">
              <a:solidFill>
                <a:srgbClr val="475569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 dirty="0" err="1">
                <a:solidFill>
                  <a:srgbClr val="475569"/>
                </a:solidFill>
                <a:latin typeface="Malgun Gothic"/>
                <a:ea typeface="Malgun Gothic"/>
                <a:cs typeface="Malgun Gothic"/>
                <a:sym typeface="Malgun Gothic"/>
              </a:rPr>
              <a:t>구조적</a:t>
            </a:r>
            <a:r>
              <a:rPr lang="en-US" sz="900" b="0" i="0" u="none" strike="noStrike" cap="none" dirty="0">
                <a:solidFill>
                  <a:srgbClr val="475569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900" b="0" i="0" u="none" strike="noStrike" cap="none" dirty="0" err="1">
                <a:solidFill>
                  <a:srgbClr val="475569"/>
                </a:solidFill>
                <a:latin typeface="Malgun Gothic"/>
                <a:ea typeface="Malgun Gothic"/>
                <a:cs typeface="Malgun Gothic"/>
                <a:sym typeface="Malgun Gothic"/>
              </a:rPr>
              <a:t>이유</a:t>
            </a:r>
            <a:r>
              <a:rPr lang="en-US" sz="900" b="0" i="0" u="none" strike="noStrike" cap="none" dirty="0">
                <a:solidFill>
                  <a:srgbClr val="475569"/>
                </a:solidFill>
                <a:latin typeface="Malgun Gothic"/>
                <a:ea typeface="Malgun Gothic"/>
                <a:cs typeface="Malgun Gothic"/>
                <a:sym typeface="Malgun Gothic"/>
              </a:rPr>
              <a:t>: </a:t>
            </a:r>
            <a:r>
              <a:rPr lang="en-US" sz="900" b="0" i="0" u="none" strike="noStrike" cap="none" dirty="0" err="1">
                <a:solidFill>
                  <a:srgbClr val="475569"/>
                </a:solidFill>
                <a:latin typeface="Malgun Gothic"/>
                <a:ea typeface="Malgun Gothic"/>
                <a:cs typeface="Malgun Gothic"/>
                <a:sym typeface="Malgun Gothic"/>
              </a:rPr>
              <a:t>개인정보</a:t>
            </a:r>
            <a:r>
              <a:rPr lang="en-US" sz="900" b="0" i="0" u="none" strike="noStrike" cap="none" dirty="0">
                <a:solidFill>
                  <a:srgbClr val="475569"/>
                </a:solidFill>
                <a:latin typeface="Malgun Gothic"/>
                <a:ea typeface="Malgun Gothic"/>
                <a:cs typeface="Malgun Gothic"/>
                <a:sym typeface="Malgun Gothic"/>
              </a:rPr>
              <a:t> · </a:t>
            </a:r>
            <a:r>
              <a:rPr lang="en-US" sz="900" b="0" i="0" u="none" strike="noStrike" cap="none" dirty="0" err="1">
                <a:solidFill>
                  <a:srgbClr val="475569"/>
                </a:solidFill>
                <a:latin typeface="Malgun Gothic"/>
                <a:ea typeface="Malgun Gothic"/>
                <a:cs typeface="Malgun Gothic"/>
                <a:sym typeface="Malgun Gothic"/>
              </a:rPr>
              <a:t>라이선스</a:t>
            </a:r>
            <a:r>
              <a:rPr lang="en-US" sz="900" b="0" i="0" u="none" strike="noStrike" cap="none" dirty="0">
                <a:solidFill>
                  <a:srgbClr val="475569"/>
                </a:solidFill>
                <a:latin typeface="Malgun Gothic"/>
                <a:ea typeface="Malgun Gothic"/>
                <a:cs typeface="Malgun Gothic"/>
                <a:sym typeface="Malgun Gothic"/>
              </a:rPr>
              <a:t> · </a:t>
            </a:r>
            <a:r>
              <a:rPr lang="en-US" sz="900" b="0" i="0" u="none" strike="noStrike" cap="none" dirty="0" err="1">
                <a:solidFill>
                  <a:srgbClr val="475569"/>
                </a:solidFill>
                <a:latin typeface="Malgun Gothic"/>
                <a:ea typeface="Malgun Gothic"/>
                <a:cs typeface="Malgun Gothic"/>
                <a:sym typeface="Malgun Gothic"/>
              </a:rPr>
              <a:t>시장</a:t>
            </a:r>
            <a:r>
              <a:rPr lang="en-US" sz="900" b="0" i="0" u="none" strike="noStrike" cap="none" dirty="0">
                <a:solidFill>
                  <a:srgbClr val="475569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900" b="0" i="0" u="none" strike="noStrike" cap="none" dirty="0" err="1">
                <a:solidFill>
                  <a:srgbClr val="475569"/>
                </a:solidFill>
                <a:latin typeface="Malgun Gothic"/>
                <a:ea typeface="Malgun Gothic"/>
                <a:cs typeface="Malgun Gothic"/>
                <a:sym typeface="Malgun Gothic"/>
              </a:rPr>
              <a:t>규모</a:t>
            </a:r>
            <a:r>
              <a:rPr lang="en-US" sz="900" b="0" i="0" u="none" strike="noStrike" cap="none" dirty="0">
                <a:solidFill>
                  <a:srgbClr val="475569"/>
                </a:solidFill>
                <a:latin typeface="Malgun Gothic"/>
                <a:ea typeface="Malgun Gothic"/>
                <a:cs typeface="Malgun Gothic"/>
                <a:sym typeface="Malgun Gothic"/>
              </a:rPr>
              <a:t> · </a:t>
            </a:r>
            <a:r>
              <a:rPr lang="ko-KR" altLang="en-US" sz="900" b="0" i="0" u="none" strike="noStrike" cap="none" dirty="0">
                <a:solidFill>
                  <a:srgbClr val="475569"/>
                </a:solidFill>
                <a:latin typeface="Malgun Gothic"/>
                <a:ea typeface="Malgun Gothic"/>
                <a:cs typeface="Malgun Gothic"/>
                <a:sym typeface="Malgun Gothic"/>
              </a:rPr>
              <a:t>공개 데이터 한계</a:t>
            </a:r>
            <a:endParaRPr lang="en-US" altLang="ko-KR" sz="900" b="0" i="0" u="none" strike="noStrike" cap="none" dirty="0">
              <a:solidFill>
                <a:srgbClr val="475569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 dirty="0">
                <a:solidFill>
                  <a:srgbClr val="14B8A6"/>
                </a:solidFill>
                <a:latin typeface="Malgun Gothic"/>
                <a:ea typeface="Malgun Gothic"/>
                <a:cs typeface="Malgun Gothic"/>
                <a:sym typeface="Malgun Gothic"/>
              </a:rPr>
              <a:t>→ 팀 </a:t>
            </a:r>
            <a:r>
              <a:rPr lang="en-US" sz="900" b="1" i="0" u="none" strike="noStrike" cap="none" dirty="0" err="1">
                <a:solidFill>
                  <a:srgbClr val="14B8A6"/>
                </a:solidFill>
                <a:latin typeface="Malgun Gothic"/>
                <a:ea typeface="Malgun Gothic"/>
                <a:cs typeface="Malgun Gothic"/>
                <a:sym typeface="Malgun Gothic"/>
              </a:rPr>
              <a:t>자체</a:t>
            </a:r>
            <a:r>
              <a:rPr lang="en-US" sz="900" b="1" i="0" u="none" strike="noStrike" cap="none" dirty="0">
                <a:solidFill>
                  <a:srgbClr val="14B8A6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900" b="1" i="0" u="none" strike="noStrike" cap="none" dirty="0" err="1">
                <a:solidFill>
                  <a:srgbClr val="14B8A6"/>
                </a:solidFill>
                <a:latin typeface="Malgun Gothic"/>
                <a:ea typeface="Malgun Gothic"/>
                <a:cs typeface="Malgun Gothic"/>
                <a:sym typeface="Malgun Gothic"/>
              </a:rPr>
              <a:t>수집</a:t>
            </a:r>
            <a:r>
              <a:rPr lang="en-US" sz="900" b="1" i="0" u="none" strike="noStrike" cap="none" dirty="0">
                <a:solidFill>
                  <a:srgbClr val="14B8A6"/>
                </a:solidFill>
                <a:latin typeface="Malgun Gothic"/>
                <a:ea typeface="Malgun Gothic"/>
                <a:cs typeface="Malgun Gothic"/>
                <a:sym typeface="Malgun Gothic"/>
              </a:rPr>
              <a:t> 33장 + </a:t>
            </a:r>
            <a:r>
              <a:rPr lang="en-US" altLang="ko-KR" sz="900" b="1" i="0" u="none" strike="noStrike" cap="none" dirty="0" err="1">
                <a:solidFill>
                  <a:srgbClr val="14B8A6"/>
                </a:solidFill>
                <a:latin typeface="Malgun Gothic"/>
                <a:ea typeface="Malgun Gothic"/>
                <a:cs typeface="Malgun Gothic"/>
                <a:sym typeface="Malgun Gothic"/>
              </a:rPr>
              <a:t>bbox</a:t>
            </a:r>
            <a:r>
              <a:rPr lang="en-US" altLang="ko-KR" sz="900" b="1" i="0" u="none" strike="noStrike" cap="none" dirty="0">
                <a:solidFill>
                  <a:srgbClr val="14B8A6"/>
                </a:solidFill>
                <a:latin typeface="Malgun Gothic"/>
                <a:ea typeface="Malgun Gothic"/>
                <a:cs typeface="Malgun Gothic"/>
                <a:sym typeface="Malgun Gothic"/>
              </a:rPr>
              <a:t>/class </a:t>
            </a:r>
            <a:r>
              <a:rPr lang="ko-KR" altLang="en-US" sz="900" b="1" i="0" u="none" strike="noStrike" cap="none" dirty="0">
                <a:solidFill>
                  <a:srgbClr val="14B8A6"/>
                </a:solidFill>
                <a:latin typeface="Malgun Gothic"/>
                <a:ea typeface="Malgun Gothic"/>
                <a:cs typeface="Malgun Gothic"/>
                <a:sym typeface="Malgun Gothic"/>
              </a:rPr>
              <a:t>수동 </a:t>
            </a:r>
            <a:r>
              <a:rPr lang="ko-KR" altLang="en-US" sz="900" b="1" i="0" u="none" strike="noStrike" cap="none" dirty="0" err="1">
                <a:solidFill>
                  <a:srgbClr val="14B8A6"/>
                </a:solidFill>
                <a:latin typeface="Malgun Gothic"/>
                <a:ea typeface="Malgun Gothic"/>
                <a:cs typeface="Malgun Gothic"/>
                <a:sym typeface="Malgun Gothic"/>
              </a:rPr>
              <a:t>라벨링</a:t>
            </a:r>
            <a:endParaRPr dirty="0"/>
          </a:p>
        </p:txBody>
      </p:sp>
      <p:sp>
        <p:nvSpPr>
          <p:cNvPr id="144" name="Google Shape;144;p15"/>
          <p:cNvSpPr/>
          <p:nvPr/>
        </p:nvSpPr>
        <p:spPr>
          <a:xfrm>
            <a:off x="4846320" y="914400"/>
            <a:ext cx="3931920" cy="338328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5"/>
          <p:cNvSpPr txBox="1"/>
          <p:nvPr/>
        </p:nvSpPr>
        <p:spPr>
          <a:xfrm>
            <a:off x="5029200" y="105156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14B8A6"/>
                </a:solidFill>
                <a:latin typeface="Malgun Gothic"/>
                <a:ea typeface="Malgun Gothic"/>
                <a:cs typeface="Malgun Gothic"/>
                <a:sym typeface="Malgun Gothic"/>
              </a:rPr>
              <a:t>사용자 흐름</a:t>
            </a:r>
            <a:endParaRPr/>
          </a:p>
        </p:txBody>
      </p:sp>
      <p:sp>
        <p:nvSpPr>
          <p:cNvPr id="146" name="Google Shape;146;p15"/>
          <p:cNvSpPr/>
          <p:nvPr/>
        </p:nvSpPr>
        <p:spPr>
          <a:xfrm>
            <a:off x="5029200" y="1463040"/>
            <a:ext cx="411480" cy="411480"/>
          </a:xfrm>
          <a:prstGeom prst="ellipse">
            <a:avLst/>
          </a:prstGeom>
          <a:solidFill>
            <a:srgbClr val="14B8A6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5"/>
          <p:cNvSpPr txBox="1"/>
          <p:nvPr/>
        </p:nvSpPr>
        <p:spPr>
          <a:xfrm>
            <a:off x="5029200" y="1463040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1</a:t>
            </a:r>
            <a:endParaRPr/>
          </a:p>
        </p:txBody>
      </p:sp>
      <p:sp>
        <p:nvSpPr>
          <p:cNvPr id="148" name="Google Shape;148;p15"/>
          <p:cNvSpPr txBox="1"/>
          <p:nvPr/>
        </p:nvSpPr>
        <p:spPr>
          <a:xfrm>
            <a:off x="5577840" y="1463040"/>
            <a:ext cx="3200400" cy="2573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b="1" i="0" u="none" strike="noStrike" cap="none" dirty="0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이미지 입력</a:t>
            </a:r>
            <a:endParaRPr dirty="0"/>
          </a:p>
        </p:txBody>
      </p:sp>
      <p:sp>
        <p:nvSpPr>
          <p:cNvPr id="149" name="Google Shape;149;p15"/>
          <p:cNvSpPr txBox="1"/>
          <p:nvPr/>
        </p:nvSpPr>
        <p:spPr>
          <a:xfrm>
            <a:off x="5577840" y="1709928"/>
            <a:ext cx="32004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00" b="0" i="0" u="none" strike="noStrike" cap="none" dirty="0">
                <a:solidFill>
                  <a:srgbClr val="475569"/>
                </a:solidFill>
                <a:latin typeface="Malgun Gothic"/>
                <a:ea typeface="Malgun Gothic"/>
                <a:cs typeface="Malgun Gothic"/>
                <a:sym typeface="Malgun Gothic"/>
              </a:rPr>
              <a:t>알약 사진 업로드</a:t>
            </a:r>
            <a:endParaRPr dirty="0"/>
          </a:p>
        </p:txBody>
      </p:sp>
      <p:sp>
        <p:nvSpPr>
          <p:cNvPr id="150" name="Google Shape;150;p15"/>
          <p:cNvSpPr/>
          <p:nvPr/>
        </p:nvSpPr>
        <p:spPr>
          <a:xfrm>
            <a:off x="5029200" y="2148840"/>
            <a:ext cx="411480" cy="411480"/>
          </a:xfrm>
          <a:prstGeom prst="ellipse">
            <a:avLst/>
          </a:prstGeom>
          <a:solidFill>
            <a:srgbClr val="14B8A6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5"/>
          <p:cNvSpPr txBox="1"/>
          <p:nvPr/>
        </p:nvSpPr>
        <p:spPr>
          <a:xfrm>
            <a:off x="5029200" y="2148840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2</a:t>
            </a:r>
            <a:endParaRPr/>
          </a:p>
        </p:txBody>
      </p:sp>
      <p:sp>
        <p:nvSpPr>
          <p:cNvPr id="152" name="Google Shape;152;p15"/>
          <p:cNvSpPr txBox="1"/>
          <p:nvPr/>
        </p:nvSpPr>
        <p:spPr>
          <a:xfrm>
            <a:off x="5577840" y="2148840"/>
            <a:ext cx="32004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AI 분석</a:t>
            </a:r>
            <a:endParaRPr/>
          </a:p>
        </p:txBody>
      </p:sp>
      <p:sp>
        <p:nvSpPr>
          <p:cNvPr id="153" name="Google Shape;153;p15"/>
          <p:cNvSpPr txBox="1"/>
          <p:nvPr/>
        </p:nvSpPr>
        <p:spPr>
          <a:xfrm>
            <a:off x="5577840" y="2395728"/>
            <a:ext cx="32004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475569"/>
                </a:solidFill>
                <a:latin typeface="Malgun Gothic"/>
                <a:ea typeface="Malgun Gothic"/>
                <a:cs typeface="Malgun Gothic"/>
                <a:sym typeface="Malgun Gothic"/>
              </a:rPr>
              <a:t>탐지(위치) + 분류(이름)</a:t>
            </a:r>
            <a:endParaRPr/>
          </a:p>
        </p:txBody>
      </p:sp>
      <p:sp>
        <p:nvSpPr>
          <p:cNvPr id="154" name="Google Shape;154;p15"/>
          <p:cNvSpPr/>
          <p:nvPr/>
        </p:nvSpPr>
        <p:spPr>
          <a:xfrm>
            <a:off x="5029200" y="2834640"/>
            <a:ext cx="411480" cy="411480"/>
          </a:xfrm>
          <a:prstGeom prst="ellipse">
            <a:avLst/>
          </a:prstGeom>
          <a:solidFill>
            <a:srgbClr val="14B8A6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5"/>
          <p:cNvSpPr txBox="1"/>
          <p:nvPr/>
        </p:nvSpPr>
        <p:spPr>
          <a:xfrm>
            <a:off x="5029200" y="2834640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3</a:t>
            </a:r>
            <a:endParaRPr/>
          </a:p>
        </p:txBody>
      </p:sp>
      <p:sp>
        <p:nvSpPr>
          <p:cNvPr id="156" name="Google Shape;156;p15"/>
          <p:cNvSpPr txBox="1"/>
          <p:nvPr/>
        </p:nvSpPr>
        <p:spPr>
          <a:xfrm>
            <a:off x="5577840" y="2834640"/>
            <a:ext cx="32004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정보 제공</a:t>
            </a:r>
            <a:endParaRPr/>
          </a:p>
        </p:txBody>
      </p:sp>
      <p:sp>
        <p:nvSpPr>
          <p:cNvPr id="157" name="Google Shape;157;p15"/>
          <p:cNvSpPr txBox="1"/>
          <p:nvPr/>
        </p:nvSpPr>
        <p:spPr>
          <a:xfrm>
            <a:off x="5577840" y="3081528"/>
            <a:ext cx="32004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475569"/>
                </a:solidFill>
                <a:latin typeface="Malgun Gothic"/>
                <a:ea typeface="Malgun Gothic"/>
                <a:cs typeface="Malgun Gothic"/>
                <a:sym typeface="Malgun Gothic"/>
              </a:rPr>
              <a:t>효능 / 용법 / 주의사항</a:t>
            </a:r>
            <a:endParaRPr/>
          </a:p>
        </p:txBody>
      </p:sp>
      <p:sp>
        <p:nvSpPr>
          <p:cNvPr id="158" name="Google Shape;158;p15"/>
          <p:cNvSpPr/>
          <p:nvPr/>
        </p:nvSpPr>
        <p:spPr>
          <a:xfrm>
            <a:off x="5029200" y="3520440"/>
            <a:ext cx="411480" cy="411480"/>
          </a:xfrm>
          <a:prstGeom prst="ellipse">
            <a:avLst/>
          </a:prstGeom>
          <a:solidFill>
            <a:srgbClr val="14B8A6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5"/>
          <p:cNvSpPr txBox="1"/>
          <p:nvPr/>
        </p:nvSpPr>
        <p:spPr>
          <a:xfrm>
            <a:off x="5029200" y="3520440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4</a:t>
            </a:r>
            <a:endParaRPr/>
          </a:p>
        </p:txBody>
      </p:sp>
      <p:sp>
        <p:nvSpPr>
          <p:cNvPr id="160" name="Google Shape;160;p15"/>
          <p:cNvSpPr txBox="1"/>
          <p:nvPr/>
        </p:nvSpPr>
        <p:spPr>
          <a:xfrm>
            <a:off x="5577840" y="3520440"/>
            <a:ext cx="32004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사용자 검증</a:t>
            </a:r>
            <a:endParaRPr/>
          </a:p>
        </p:txBody>
      </p:sp>
      <p:sp>
        <p:nvSpPr>
          <p:cNvPr id="161" name="Google Shape;161;p15"/>
          <p:cNvSpPr txBox="1"/>
          <p:nvPr/>
        </p:nvSpPr>
        <p:spPr>
          <a:xfrm>
            <a:off x="5577840" y="3767328"/>
            <a:ext cx="32004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475569"/>
                </a:solidFill>
                <a:latin typeface="Malgun Gothic"/>
                <a:ea typeface="Malgun Gothic"/>
                <a:cs typeface="Malgun Gothic"/>
                <a:sym typeface="Malgun Gothic"/>
              </a:rPr>
              <a:t>최종 확인 후 안전한 복용</a:t>
            </a:r>
            <a:endParaRPr/>
          </a:p>
        </p:txBody>
      </p:sp>
      <p:sp>
        <p:nvSpPr>
          <p:cNvPr id="162" name="Google Shape;162;p15"/>
          <p:cNvSpPr/>
          <p:nvPr/>
        </p:nvSpPr>
        <p:spPr>
          <a:xfrm>
            <a:off x="457200" y="4434840"/>
            <a:ext cx="8321040" cy="365760"/>
          </a:xfrm>
          <a:prstGeom prst="roundRect">
            <a:avLst>
              <a:gd name="adj" fmla="val 10000"/>
            </a:avLst>
          </a:prstGeom>
          <a:solidFill>
            <a:srgbClr val="115E5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5"/>
          <p:cNvSpPr txBox="1"/>
          <p:nvPr/>
        </p:nvSpPr>
        <p:spPr>
          <a:xfrm>
            <a:off x="457200" y="4434840"/>
            <a:ext cx="83210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단순 정확도 경쟁이 아닌, 의료 도메인에 적합한 사용자 신뢰 가능한 시스템</a:t>
            </a:r>
            <a:endParaRPr/>
          </a:p>
        </p:txBody>
      </p:sp>
      <p:sp>
        <p:nvSpPr>
          <p:cNvPr id="164" name="Google Shape;164;p15"/>
          <p:cNvSpPr txBox="1"/>
          <p:nvPr/>
        </p:nvSpPr>
        <p:spPr>
          <a:xfrm>
            <a:off x="365760" y="4846320"/>
            <a:ext cx="36576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94A3B8"/>
                </a:solidFill>
                <a:latin typeface="Malgun Gothic"/>
                <a:ea typeface="Malgun Gothic"/>
                <a:cs typeface="Malgun Gothic"/>
                <a:sym typeface="Malgun Gothic"/>
              </a:rPr>
              <a:t>HealthEat · 3팀</a:t>
            </a:r>
            <a:endParaRPr/>
          </a:p>
        </p:txBody>
      </p:sp>
      <p:sp>
        <p:nvSpPr>
          <p:cNvPr id="165" name="Google Shape;165;p15"/>
          <p:cNvSpPr txBox="1"/>
          <p:nvPr/>
        </p:nvSpPr>
        <p:spPr>
          <a:xfrm>
            <a:off x="5486400" y="4846320"/>
            <a:ext cx="3291840" cy="2112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 dirty="0">
                <a:solidFill>
                  <a:srgbClr val="94A3B8"/>
                </a:solidFill>
                <a:latin typeface="Malgun Gothic"/>
                <a:ea typeface="Malgun Gothic"/>
                <a:cs typeface="Malgun Gothic"/>
                <a:sym typeface="Malgun Gothic"/>
              </a:rPr>
              <a:t>3 / 17</a:t>
            </a: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6"/>
          <p:cNvSpPr/>
          <p:nvPr/>
        </p:nvSpPr>
        <p:spPr>
          <a:xfrm>
            <a:off x="365760" y="292608"/>
            <a:ext cx="292608" cy="292608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6"/>
          <p:cNvSpPr txBox="1"/>
          <p:nvPr/>
        </p:nvSpPr>
        <p:spPr>
          <a:xfrm>
            <a:off x="365760" y="292608"/>
            <a:ext cx="292608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02</a:t>
            </a:r>
            <a:endParaRPr dirty="0"/>
          </a:p>
        </p:txBody>
      </p:sp>
      <p:sp>
        <p:nvSpPr>
          <p:cNvPr id="172" name="Google Shape;172;p16"/>
          <p:cNvSpPr txBox="1"/>
          <p:nvPr/>
        </p:nvSpPr>
        <p:spPr>
          <a:xfrm>
            <a:off x="777240" y="271532"/>
            <a:ext cx="7772400" cy="380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ctr" anchorCtr="0">
            <a:spAutoFit/>
          </a:bodyPr>
          <a:lstStyle/>
          <a:p>
            <a:pPr lvl="0"/>
            <a:r>
              <a:rPr lang="en-US" sz="2000" b="1" i="0" u="none" strike="noStrike" cap="none" dirty="0" err="1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데이터</a:t>
            </a:r>
            <a:r>
              <a:rPr lang="en-US" sz="2000" b="1" i="0" u="none" strike="noStrike" cap="none" dirty="0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altLang="ko-KR" sz="2000" b="1" dirty="0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— </a:t>
            </a:r>
            <a:r>
              <a:rPr lang="en-US" sz="2000" b="1" i="0" u="none" strike="noStrike" cap="none" dirty="0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EDA</a:t>
            </a:r>
            <a:endParaRPr dirty="0"/>
          </a:p>
        </p:txBody>
      </p:sp>
      <p:sp>
        <p:nvSpPr>
          <p:cNvPr id="173" name="Google Shape;173;p16"/>
          <p:cNvSpPr/>
          <p:nvPr/>
        </p:nvSpPr>
        <p:spPr>
          <a:xfrm>
            <a:off x="365760" y="731520"/>
            <a:ext cx="8412480" cy="80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4" name="Google Shape;174;p16" descr="04_class_longtail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2772" y="914400"/>
            <a:ext cx="4400855" cy="1371600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16"/>
          <p:cNvSpPr txBox="1"/>
          <p:nvPr/>
        </p:nvSpPr>
        <p:spPr>
          <a:xfrm>
            <a:off x="457200" y="2286000"/>
            <a:ext cx="457200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1" u="none" strike="noStrike" cap="none">
                <a:solidFill>
                  <a:srgbClr val="475569"/>
                </a:solidFill>
                <a:latin typeface="Malgun Gothic"/>
                <a:ea typeface="Malgun Gothic"/>
                <a:cs typeface="Malgun Gothic"/>
                <a:sym typeface="Malgun Gothic"/>
              </a:rPr>
              <a:t>118 클래스 분포 — 롱테일 + 클래스별 4~7배 차이</a:t>
            </a:r>
            <a:endParaRPr/>
          </a:p>
        </p:txBody>
      </p:sp>
      <p:pic>
        <p:nvPicPr>
          <p:cNvPr id="176" name="Google Shape;176;p16" descr="04_issue_PQR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372354" y="2560320"/>
            <a:ext cx="741692" cy="960120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16"/>
          <p:cNvSpPr txBox="1"/>
          <p:nvPr/>
        </p:nvSpPr>
        <p:spPr>
          <a:xfrm>
            <a:off x="457200" y="3520440"/>
            <a:ext cx="457200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1" u="none" strike="noStrike" cap="none">
                <a:solidFill>
                  <a:srgbClr val="475569"/>
                </a:solidFill>
                <a:latin typeface="Malgun Gothic"/>
                <a:ea typeface="Malgun Gothic"/>
                <a:cs typeface="Malgun Gothic"/>
                <a:sym typeface="Malgun Gothic"/>
              </a:rPr>
              <a:t>이슈 P/Q/R 시각 확증 — 라벨 누락·중복·오류</a:t>
            </a:r>
            <a:endParaRPr/>
          </a:p>
        </p:txBody>
      </p:sp>
      <p:sp>
        <p:nvSpPr>
          <p:cNvPr id="178" name="Google Shape;178;p16"/>
          <p:cNvSpPr txBox="1"/>
          <p:nvPr/>
        </p:nvSpPr>
        <p:spPr>
          <a:xfrm>
            <a:off x="5212080" y="914400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14B8A6"/>
                </a:solidFill>
                <a:latin typeface="Malgun Gothic"/>
                <a:ea typeface="Malgun Gothic"/>
                <a:cs typeface="Malgun Gothic"/>
                <a:sym typeface="Malgun Gothic"/>
              </a:rPr>
              <a:t>발견된 핵심 이슈</a:t>
            </a:r>
            <a:endParaRPr/>
          </a:p>
        </p:txBody>
      </p:sp>
      <p:sp>
        <p:nvSpPr>
          <p:cNvPr id="179" name="Google Shape;179;p16"/>
          <p:cNvSpPr txBox="1"/>
          <p:nvPr/>
        </p:nvSpPr>
        <p:spPr>
          <a:xfrm>
            <a:off x="5212080" y="1371600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🔴</a:t>
            </a:r>
            <a:endParaRPr/>
          </a:p>
        </p:txBody>
      </p:sp>
      <p:sp>
        <p:nvSpPr>
          <p:cNvPr id="180" name="Google Shape;180;p16"/>
          <p:cNvSpPr txBox="1"/>
          <p:nvPr/>
        </p:nvSpPr>
        <p:spPr>
          <a:xfrm>
            <a:off x="5486400" y="1371600"/>
            <a:ext cx="338328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도메인 시프트</a:t>
            </a:r>
            <a:endParaRPr/>
          </a:p>
        </p:txBody>
      </p:sp>
      <p:sp>
        <p:nvSpPr>
          <p:cNvPr id="181" name="Google Shape;181;p16"/>
          <p:cNvSpPr txBox="1"/>
          <p:nvPr/>
        </p:nvSpPr>
        <p:spPr>
          <a:xfrm>
            <a:off x="5486400" y="1600200"/>
            <a:ext cx="338328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t" anchorCtr="0">
            <a:spAutoFit/>
          </a:bodyPr>
          <a:lstStyle/>
          <a:p>
            <a:pPr lvl="0"/>
            <a:r>
              <a:rPr lang="ko-KR" altLang="en-US" sz="1000" dirty="0">
                <a:solidFill>
                  <a:srgbClr val="475569"/>
                </a:solidFill>
                <a:latin typeface="Malgun Gothic"/>
                <a:ea typeface="Malgun Gothic"/>
                <a:cs typeface="Malgun Gothic"/>
                <a:sym typeface="Malgun Gothic"/>
              </a:rPr>
              <a:t>학습 데이터와 실제 촬영 이미지의 배경</a:t>
            </a:r>
            <a:r>
              <a:rPr lang="en-US" altLang="ko-KR" sz="1000" dirty="0">
                <a:solidFill>
                  <a:srgbClr val="475569"/>
                </a:solidFill>
                <a:latin typeface="Malgun Gothic"/>
                <a:ea typeface="Malgun Gothic"/>
                <a:cs typeface="Malgun Gothic"/>
                <a:sym typeface="Malgun Gothic"/>
              </a:rPr>
              <a:t>·</a:t>
            </a:r>
            <a:r>
              <a:rPr lang="ko-KR" altLang="en-US" sz="1000" dirty="0">
                <a:solidFill>
                  <a:srgbClr val="475569"/>
                </a:solidFill>
                <a:latin typeface="Malgun Gothic"/>
                <a:ea typeface="Malgun Gothic"/>
                <a:cs typeface="Malgun Gothic"/>
                <a:sym typeface="Malgun Gothic"/>
              </a:rPr>
              <a:t>조명 차이</a:t>
            </a:r>
            <a:endParaRPr dirty="0"/>
          </a:p>
        </p:txBody>
      </p:sp>
      <p:sp>
        <p:nvSpPr>
          <p:cNvPr id="182" name="Google Shape;182;p16"/>
          <p:cNvSpPr txBox="1"/>
          <p:nvPr/>
        </p:nvSpPr>
        <p:spPr>
          <a:xfrm>
            <a:off x="5212080" y="1874520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🟡</a:t>
            </a:r>
            <a:endParaRPr/>
          </a:p>
        </p:txBody>
      </p:sp>
      <p:sp>
        <p:nvSpPr>
          <p:cNvPr id="183" name="Google Shape;183;p16"/>
          <p:cNvSpPr txBox="1"/>
          <p:nvPr/>
        </p:nvSpPr>
        <p:spPr>
          <a:xfrm>
            <a:off x="5486400" y="1874520"/>
            <a:ext cx="338328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라벨 정합성</a:t>
            </a:r>
            <a:endParaRPr/>
          </a:p>
        </p:txBody>
      </p:sp>
      <p:sp>
        <p:nvSpPr>
          <p:cNvPr id="184" name="Google Shape;184;p16"/>
          <p:cNvSpPr txBox="1"/>
          <p:nvPr/>
        </p:nvSpPr>
        <p:spPr>
          <a:xfrm>
            <a:off x="5486400" y="2103120"/>
            <a:ext cx="338328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475569"/>
                </a:solidFill>
                <a:latin typeface="Malgun Gothic"/>
                <a:ea typeface="Malgun Gothic"/>
                <a:cs typeface="Malgun Gothic"/>
                <a:sym typeface="Malgun Gothic"/>
              </a:rPr>
              <a:t>bbox 중복·누락·오류 등 4종</a:t>
            </a:r>
            <a:endParaRPr/>
          </a:p>
        </p:txBody>
      </p:sp>
      <p:sp>
        <p:nvSpPr>
          <p:cNvPr id="185" name="Google Shape;185;p16"/>
          <p:cNvSpPr txBox="1"/>
          <p:nvPr/>
        </p:nvSpPr>
        <p:spPr>
          <a:xfrm>
            <a:off x="5212080" y="2377440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🟡</a:t>
            </a:r>
            <a:endParaRPr/>
          </a:p>
        </p:txBody>
      </p:sp>
      <p:sp>
        <p:nvSpPr>
          <p:cNvPr id="186" name="Google Shape;186;p16"/>
          <p:cNvSpPr txBox="1"/>
          <p:nvPr/>
        </p:nvSpPr>
        <p:spPr>
          <a:xfrm>
            <a:off x="5486400" y="2377440"/>
            <a:ext cx="338328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클래스 불균형</a:t>
            </a:r>
            <a:endParaRPr/>
          </a:p>
        </p:txBody>
      </p:sp>
      <p:sp>
        <p:nvSpPr>
          <p:cNvPr id="187" name="Google Shape;187;p16"/>
          <p:cNvSpPr txBox="1"/>
          <p:nvPr/>
        </p:nvSpPr>
        <p:spPr>
          <a:xfrm>
            <a:off x="5486400" y="2606040"/>
            <a:ext cx="338328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t" anchorCtr="0">
            <a:spAutoFit/>
          </a:bodyPr>
          <a:lstStyle/>
          <a:p>
            <a:pPr lvl="0"/>
            <a:r>
              <a:rPr lang="ko-KR" altLang="en-US" sz="1000" dirty="0">
                <a:solidFill>
                  <a:srgbClr val="475569"/>
                </a:solidFill>
                <a:latin typeface="Malgun Gothic"/>
                <a:ea typeface="Malgun Gothic"/>
                <a:cs typeface="Malgun Gothic"/>
                <a:sym typeface="Malgun Gothic"/>
              </a:rPr>
              <a:t>클래스별 데이터 수 </a:t>
            </a:r>
            <a:r>
              <a:rPr lang="en-US" altLang="ko-KR" sz="1000" dirty="0">
                <a:solidFill>
                  <a:srgbClr val="475569"/>
                </a:solidFill>
                <a:latin typeface="Malgun Gothic"/>
                <a:ea typeface="Malgun Gothic"/>
                <a:cs typeface="Malgun Gothic"/>
                <a:sym typeface="Malgun Gothic"/>
              </a:rPr>
              <a:t>4~7</a:t>
            </a:r>
            <a:r>
              <a:rPr lang="ko-KR" altLang="en-US" sz="1000" dirty="0">
                <a:solidFill>
                  <a:srgbClr val="475569"/>
                </a:solidFill>
                <a:latin typeface="Malgun Gothic"/>
                <a:ea typeface="Malgun Gothic"/>
                <a:cs typeface="Malgun Gothic"/>
                <a:sym typeface="Malgun Gothic"/>
              </a:rPr>
              <a:t>배 차이</a:t>
            </a:r>
            <a:endParaRPr dirty="0"/>
          </a:p>
        </p:txBody>
      </p:sp>
      <p:sp>
        <p:nvSpPr>
          <p:cNvPr id="188" name="Google Shape;188;p16"/>
          <p:cNvSpPr txBox="1"/>
          <p:nvPr/>
        </p:nvSpPr>
        <p:spPr>
          <a:xfrm>
            <a:off x="5212080" y="2880360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🟡</a:t>
            </a:r>
            <a:endParaRPr/>
          </a:p>
        </p:txBody>
      </p:sp>
      <p:sp>
        <p:nvSpPr>
          <p:cNvPr id="189" name="Google Shape;189;p16"/>
          <p:cNvSpPr txBox="1"/>
          <p:nvPr/>
        </p:nvSpPr>
        <p:spPr>
          <a:xfrm>
            <a:off x="5486400" y="2880360"/>
            <a:ext cx="3383280" cy="2573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t" anchorCtr="0">
            <a:spAutoFit/>
          </a:bodyPr>
          <a:lstStyle/>
          <a:p>
            <a:pPr lvl="0"/>
            <a:r>
              <a:rPr lang="ko-KR" altLang="en-US" sz="1200" b="1" dirty="0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동일 클래스 내 유사 이미지</a:t>
            </a:r>
            <a:endParaRPr dirty="0"/>
          </a:p>
        </p:txBody>
      </p:sp>
      <p:sp>
        <p:nvSpPr>
          <p:cNvPr id="190" name="Google Shape;190;p16"/>
          <p:cNvSpPr txBox="1"/>
          <p:nvPr/>
        </p:nvSpPr>
        <p:spPr>
          <a:xfrm>
            <a:off x="5486400" y="3108960"/>
            <a:ext cx="338328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 dirty="0" err="1">
                <a:solidFill>
                  <a:srgbClr val="475569"/>
                </a:solidFill>
                <a:latin typeface="Malgun Gothic"/>
                <a:ea typeface="Malgun Gothic"/>
                <a:cs typeface="Malgun Gothic"/>
                <a:sym typeface="Malgun Gothic"/>
              </a:rPr>
              <a:t>IoU</a:t>
            </a:r>
            <a:r>
              <a:rPr lang="en-US" sz="1000" b="0" i="0" u="none" strike="noStrike" cap="none" dirty="0">
                <a:solidFill>
                  <a:srgbClr val="475569"/>
                </a:solidFill>
                <a:latin typeface="Malgun Gothic"/>
                <a:ea typeface="Malgun Gothic"/>
                <a:cs typeface="Malgun Gothic"/>
                <a:sym typeface="Malgun Gothic"/>
              </a:rPr>
              <a:t> &gt; 0.5 </a:t>
            </a:r>
            <a:r>
              <a:rPr lang="ko-KR" altLang="en-US" sz="1000" b="0" i="0" u="none" strike="noStrike" cap="none" dirty="0">
                <a:solidFill>
                  <a:srgbClr val="475569"/>
                </a:solidFill>
                <a:latin typeface="Malgun Gothic"/>
                <a:ea typeface="Malgun Gothic"/>
                <a:cs typeface="Malgun Gothic"/>
                <a:sym typeface="Malgun Gothic"/>
              </a:rPr>
              <a:t>기준 </a:t>
            </a:r>
            <a:r>
              <a:rPr lang="en-US" sz="1000" b="0" i="0" u="none" strike="noStrike" cap="none" dirty="0">
                <a:solidFill>
                  <a:srgbClr val="475569"/>
                </a:solidFill>
                <a:latin typeface="Malgun Gothic"/>
                <a:ea typeface="Malgun Gothic"/>
                <a:cs typeface="Malgun Gothic"/>
                <a:sym typeface="Malgun Gothic"/>
              </a:rPr>
              <a:t>16장</a:t>
            </a:r>
            <a:endParaRPr dirty="0"/>
          </a:p>
        </p:txBody>
      </p:sp>
      <p:sp>
        <p:nvSpPr>
          <p:cNvPr id="191" name="Google Shape;191;p16"/>
          <p:cNvSpPr/>
          <p:nvPr/>
        </p:nvSpPr>
        <p:spPr>
          <a:xfrm>
            <a:off x="457200" y="3840480"/>
            <a:ext cx="8321040" cy="91440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6"/>
          <p:cNvSpPr txBox="1"/>
          <p:nvPr/>
        </p:nvSpPr>
        <p:spPr>
          <a:xfrm>
            <a:off x="640080" y="3861239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 dirty="0">
                <a:solidFill>
                  <a:srgbClr val="14B8A6"/>
                </a:solidFill>
                <a:latin typeface="Malgun Gothic"/>
                <a:ea typeface="Malgun Gothic"/>
                <a:cs typeface="Malgun Gothic"/>
                <a:sym typeface="Malgun Gothic"/>
              </a:rPr>
              <a:t>✓ </a:t>
            </a:r>
            <a:r>
              <a:rPr lang="en-US" sz="1200" b="1" i="0" u="none" strike="noStrike" cap="none" dirty="0" err="1">
                <a:solidFill>
                  <a:srgbClr val="14B8A6"/>
                </a:solidFill>
                <a:latin typeface="Malgun Gothic"/>
                <a:ea typeface="Malgun Gothic"/>
                <a:cs typeface="Malgun Gothic"/>
                <a:sym typeface="Malgun Gothic"/>
              </a:rPr>
              <a:t>해결</a:t>
            </a:r>
            <a:r>
              <a:rPr lang="en-US" sz="1200" b="1" i="0" u="none" strike="noStrike" cap="none" dirty="0">
                <a:solidFill>
                  <a:srgbClr val="14B8A6"/>
                </a:solidFill>
                <a:latin typeface="Malgun Gothic"/>
                <a:ea typeface="Malgun Gothic"/>
                <a:cs typeface="Malgun Gothic"/>
                <a:sym typeface="Malgun Gothic"/>
              </a:rPr>
              <a:t> — 5인 </a:t>
            </a:r>
            <a:r>
              <a:rPr lang="en-US" sz="1200" b="1" i="0" u="none" strike="noStrike" cap="none" dirty="0" err="1">
                <a:solidFill>
                  <a:srgbClr val="14B8A6"/>
                </a:solidFill>
                <a:latin typeface="Malgun Gothic"/>
                <a:ea typeface="Malgun Gothic"/>
                <a:cs typeface="Malgun Gothic"/>
                <a:sym typeface="Malgun Gothic"/>
              </a:rPr>
              <a:t>이슈</a:t>
            </a:r>
            <a:r>
              <a:rPr lang="en-US" sz="1200" b="1" i="0" u="none" strike="noStrike" cap="none" dirty="0">
                <a:solidFill>
                  <a:srgbClr val="14B8A6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1200" b="1" i="0" u="none" strike="noStrike" cap="none" dirty="0" err="1">
                <a:solidFill>
                  <a:srgbClr val="14B8A6"/>
                </a:solidFill>
                <a:latin typeface="Malgun Gothic"/>
                <a:ea typeface="Malgun Gothic"/>
                <a:cs typeface="Malgun Gothic"/>
                <a:sym typeface="Malgun Gothic"/>
              </a:rPr>
              <a:t>교집합</a:t>
            </a:r>
            <a:r>
              <a:rPr lang="en-US" sz="1200" b="1" i="0" u="none" strike="noStrike" cap="none" dirty="0">
                <a:solidFill>
                  <a:srgbClr val="14B8A6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1200" b="1" i="0" u="none" strike="noStrike" cap="none" dirty="0" err="1">
                <a:solidFill>
                  <a:srgbClr val="14B8A6"/>
                </a:solidFill>
                <a:latin typeface="Malgun Gothic"/>
                <a:ea typeface="Malgun Gothic"/>
                <a:cs typeface="Malgun Gothic"/>
                <a:sym typeface="Malgun Gothic"/>
              </a:rPr>
              <a:t>기반</a:t>
            </a:r>
            <a:r>
              <a:rPr lang="en-US" sz="1200" b="1" i="0" u="none" strike="noStrike" cap="none" dirty="0">
                <a:solidFill>
                  <a:srgbClr val="14B8A6"/>
                </a:solidFill>
                <a:latin typeface="Malgun Gothic"/>
                <a:ea typeface="Malgun Gothic"/>
                <a:cs typeface="Malgun Gothic"/>
                <a:sym typeface="Malgun Gothic"/>
              </a:rPr>
              <a:t> 팀 </a:t>
            </a:r>
            <a:r>
              <a:rPr lang="en-US" sz="1200" b="1" i="0" u="none" strike="noStrike" cap="none" dirty="0" err="1">
                <a:solidFill>
                  <a:srgbClr val="14B8A6"/>
                </a:solidFill>
                <a:latin typeface="Malgun Gothic"/>
                <a:ea typeface="Malgun Gothic"/>
                <a:cs typeface="Malgun Gothic"/>
                <a:sym typeface="Malgun Gothic"/>
              </a:rPr>
              <a:t>공통</a:t>
            </a:r>
            <a:r>
              <a:rPr lang="en-US" sz="1200" b="1" i="0" u="none" strike="noStrike" cap="none" dirty="0">
                <a:solidFill>
                  <a:srgbClr val="14B8A6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1200" b="1" i="0" u="none" strike="noStrike" cap="none" dirty="0" err="1">
                <a:solidFill>
                  <a:srgbClr val="14B8A6"/>
                </a:solidFill>
                <a:latin typeface="Malgun Gothic"/>
                <a:ea typeface="Malgun Gothic"/>
                <a:cs typeface="Malgun Gothic"/>
                <a:sym typeface="Malgun Gothic"/>
              </a:rPr>
              <a:t>전처리</a:t>
            </a:r>
            <a:r>
              <a:rPr lang="en-US" sz="1200" b="1" i="0" u="none" strike="noStrike" cap="none" dirty="0">
                <a:solidFill>
                  <a:srgbClr val="14B8A6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1200" b="1" i="0" u="none" strike="noStrike" cap="none" dirty="0" err="1">
                <a:solidFill>
                  <a:srgbClr val="14B8A6"/>
                </a:solidFill>
                <a:latin typeface="Malgun Gothic"/>
                <a:ea typeface="Malgun Gothic"/>
                <a:cs typeface="Malgun Gothic"/>
                <a:sym typeface="Malgun Gothic"/>
              </a:rPr>
              <a:t>노트북</a:t>
            </a:r>
            <a:endParaRPr dirty="0"/>
          </a:p>
        </p:txBody>
      </p:sp>
      <p:sp>
        <p:nvSpPr>
          <p:cNvPr id="193" name="Google Shape;193;p16"/>
          <p:cNvSpPr txBox="1"/>
          <p:nvPr/>
        </p:nvSpPr>
        <p:spPr>
          <a:xfrm>
            <a:off x="640080" y="4086380"/>
            <a:ext cx="7772400" cy="672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 dirty="0" err="1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공통 제거 기준 4가지: 좌표 중복 / bbox 경계 초과 / 박스 크기 0 이하 / 라벨 누락·오류</a:t>
            </a:r>
            <a:endParaRPr dirty="0"/>
          </a:p>
          <a:p>
            <a:pPr lvl="0">
              <a:lnSpc>
                <a:spcPct val="130000"/>
              </a:lnSpc>
            </a:pPr>
            <a:r>
              <a:rPr lang="ko-KR" altLang="en-US" sz="1000" dirty="0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원본 40,844 annotation / 10,697 images → 정제 후 39,864 annotation / 10,392 images</a:t>
            </a:r>
          </a:p>
          <a:p>
            <a:pPr lvl="0">
              <a:lnSpc>
                <a:spcPct val="130000"/>
              </a:lnSpc>
            </a:pPr>
            <a:r>
              <a:rPr lang="en-US" sz="1000" dirty="0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split: GroupShuffleSplit — 같은 알약 조합 사진은 같은 쪽으로 묶음, seed=42, val 클래스 118/118 통과</a:t>
            </a:r>
            <a:endParaRPr dirty="0"/>
          </a:p>
        </p:txBody>
      </p:sp>
      <p:sp>
        <p:nvSpPr>
          <p:cNvPr id="194" name="Google Shape;194;p16"/>
          <p:cNvSpPr txBox="1"/>
          <p:nvPr/>
        </p:nvSpPr>
        <p:spPr>
          <a:xfrm>
            <a:off x="365760" y="4846320"/>
            <a:ext cx="36576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94A3B8"/>
                </a:solidFill>
                <a:latin typeface="Malgun Gothic"/>
                <a:ea typeface="Malgun Gothic"/>
                <a:cs typeface="Malgun Gothic"/>
                <a:sym typeface="Malgun Gothic"/>
              </a:rPr>
              <a:t>HealthEat · 3팀</a:t>
            </a:r>
            <a:endParaRPr/>
          </a:p>
        </p:txBody>
      </p:sp>
      <p:sp>
        <p:nvSpPr>
          <p:cNvPr id="195" name="Google Shape;195;p16"/>
          <p:cNvSpPr txBox="1"/>
          <p:nvPr/>
        </p:nvSpPr>
        <p:spPr>
          <a:xfrm>
            <a:off x="5486400" y="4846320"/>
            <a:ext cx="3291840" cy="2112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 dirty="0">
                <a:solidFill>
                  <a:srgbClr val="94A3B8"/>
                </a:solidFill>
                <a:latin typeface="Malgun Gothic"/>
                <a:ea typeface="Malgun Gothic"/>
                <a:cs typeface="Malgun Gothic"/>
                <a:sym typeface="Malgun Gothic"/>
              </a:rPr>
              <a:t>4 / 17</a:t>
            </a: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7"/>
          <p:cNvSpPr/>
          <p:nvPr/>
        </p:nvSpPr>
        <p:spPr>
          <a:xfrm>
            <a:off x="365760" y="292608"/>
            <a:ext cx="292608" cy="292608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7"/>
          <p:cNvSpPr txBox="1"/>
          <p:nvPr/>
        </p:nvSpPr>
        <p:spPr>
          <a:xfrm>
            <a:off x="365760" y="317922"/>
            <a:ext cx="292608" cy="241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02</a:t>
            </a:r>
            <a:endParaRPr dirty="0"/>
          </a:p>
        </p:txBody>
      </p:sp>
      <p:sp>
        <p:nvSpPr>
          <p:cNvPr id="203" name="Google Shape;203;p17"/>
          <p:cNvSpPr/>
          <p:nvPr/>
        </p:nvSpPr>
        <p:spPr>
          <a:xfrm>
            <a:off x="365760" y="731520"/>
            <a:ext cx="8412480" cy="80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17"/>
          <p:cNvSpPr txBox="1"/>
          <p:nvPr/>
        </p:nvSpPr>
        <p:spPr>
          <a:xfrm>
            <a:off x="457200" y="2743200"/>
            <a:ext cx="8321040" cy="2112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t" anchorCtr="0">
            <a:spAutoFit/>
          </a:bodyPr>
          <a:lstStyle/>
          <a:p>
            <a:pPr lvl="0" algn="ctr"/>
            <a:r>
              <a:rPr lang="en-US" altLang="ko-KR" sz="900" i="1" dirty="0">
                <a:solidFill>
                  <a:srgbClr val="475569"/>
                </a:solidFill>
                <a:latin typeface="Malgun Gothic"/>
                <a:ea typeface="Malgun Gothic"/>
                <a:cs typeface="Malgun Gothic"/>
                <a:sym typeface="Malgun Gothic"/>
              </a:rPr>
              <a:t>Kaggle + ai hub(</a:t>
            </a:r>
            <a:r>
              <a:rPr lang="ko-KR" altLang="en-US" sz="900" i="1" dirty="0">
                <a:solidFill>
                  <a:srgbClr val="475569"/>
                </a:solidFill>
                <a:latin typeface="Malgun Gothic"/>
                <a:ea typeface="Malgun Gothic"/>
                <a:cs typeface="Malgun Gothic"/>
                <a:sym typeface="Malgun Gothic"/>
              </a:rPr>
              <a:t>꼭짓점 </a:t>
            </a:r>
            <a:r>
              <a:rPr lang="en-US" altLang="ko-KR" sz="900" i="1" dirty="0">
                <a:solidFill>
                  <a:srgbClr val="475569"/>
                </a:solidFill>
                <a:latin typeface="Malgun Gothic"/>
                <a:ea typeface="Malgun Gothic"/>
                <a:cs typeface="Malgun Gothic"/>
                <a:sym typeface="Malgun Gothic"/>
              </a:rPr>
              <a:t>4</a:t>
            </a:r>
            <a:r>
              <a:rPr lang="ko-KR" altLang="en-US" sz="900" i="1" dirty="0">
                <a:solidFill>
                  <a:srgbClr val="475569"/>
                </a:solidFill>
                <a:latin typeface="Malgun Gothic"/>
                <a:ea typeface="Malgun Gothic"/>
                <a:cs typeface="Malgun Gothic"/>
                <a:sym typeface="Malgun Gothic"/>
              </a:rPr>
              <a:t>곳 집중</a:t>
            </a:r>
            <a:r>
              <a:rPr lang="en-US" altLang="ko-KR" sz="900" i="1" dirty="0">
                <a:solidFill>
                  <a:srgbClr val="475569"/>
                </a:solidFill>
                <a:latin typeface="Malgun Gothic"/>
                <a:ea typeface="Malgun Gothic"/>
                <a:cs typeface="Malgun Gothic"/>
                <a:sym typeface="Malgun Gothic"/>
              </a:rPr>
              <a:t>) vs </a:t>
            </a:r>
            <a:r>
              <a:rPr lang="ko-KR" altLang="en-US" sz="900" i="1" dirty="0">
                <a:solidFill>
                  <a:srgbClr val="475569"/>
                </a:solidFill>
                <a:latin typeface="Malgun Gothic"/>
                <a:ea typeface="Malgun Gothic"/>
                <a:cs typeface="Malgun Gothic"/>
                <a:sym typeface="Malgun Gothic"/>
              </a:rPr>
              <a:t>자체 </a:t>
            </a:r>
            <a:r>
              <a:rPr lang="ko-KR" altLang="en-US" sz="900" i="1" dirty="0" err="1">
                <a:solidFill>
                  <a:srgbClr val="475569"/>
                </a:solidFill>
                <a:latin typeface="Malgun Gothic"/>
                <a:ea typeface="Malgun Gothic"/>
                <a:cs typeface="Malgun Gothic"/>
                <a:sym typeface="Malgun Gothic"/>
              </a:rPr>
              <a:t>평가셋</a:t>
            </a:r>
            <a:r>
              <a:rPr lang="ko-KR" altLang="en-US" sz="900" i="1" dirty="0">
                <a:solidFill>
                  <a:srgbClr val="475569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altLang="ko-KR" sz="900" i="1" dirty="0">
                <a:solidFill>
                  <a:srgbClr val="475569"/>
                </a:solidFill>
                <a:latin typeface="Malgun Gothic"/>
                <a:ea typeface="Malgun Gothic"/>
                <a:cs typeface="Malgun Gothic"/>
                <a:sym typeface="Malgun Gothic"/>
              </a:rPr>
              <a:t>33</a:t>
            </a:r>
            <a:r>
              <a:rPr lang="ko-KR" altLang="en-US" sz="900" i="1" dirty="0">
                <a:solidFill>
                  <a:srgbClr val="475569"/>
                </a:solidFill>
                <a:latin typeface="Malgun Gothic"/>
                <a:ea typeface="Malgun Gothic"/>
                <a:cs typeface="Malgun Gothic"/>
                <a:sym typeface="Malgun Gothic"/>
              </a:rPr>
              <a:t>장</a:t>
            </a:r>
            <a:r>
              <a:rPr lang="en-US" altLang="ko-KR" sz="900" i="1" dirty="0">
                <a:solidFill>
                  <a:srgbClr val="475569"/>
                </a:solidFill>
                <a:latin typeface="Malgun Gothic"/>
                <a:ea typeface="Malgun Gothic"/>
                <a:cs typeface="Malgun Gothic"/>
                <a:sym typeface="Malgun Gothic"/>
              </a:rPr>
              <a:t>(</a:t>
            </a:r>
            <a:r>
              <a:rPr lang="ko-KR" altLang="en-US" sz="900" i="1" dirty="0">
                <a:solidFill>
                  <a:srgbClr val="475569"/>
                </a:solidFill>
                <a:latin typeface="Malgun Gothic"/>
                <a:ea typeface="Malgun Gothic"/>
                <a:cs typeface="Malgun Gothic"/>
                <a:sym typeface="Malgun Gothic"/>
              </a:rPr>
              <a:t>중앙 산포</a:t>
            </a:r>
            <a:r>
              <a:rPr lang="en-US" altLang="ko-KR" sz="900" i="1" dirty="0">
                <a:solidFill>
                  <a:srgbClr val="475569"/>
                </a:solidFill>
                <a:latin typeface="Malgun Gothic"/>
                <a:ea typeface="Malgun Gothic"/>
                <a:cs typeface="Malgun Gothic"/>
                <a:sym typeface="Malgun Gothic"/>
              </a:rPr>
              <a:t>) — </a:t>
            </a:r>
            <a:r>
              <a:rPr lang="en-US" altLang="ko-KR" sz="900" i="1" dirty="0" err="1">
                <a:solidFill>
                  <a:srgbClr val="475569"/>
                </a:solidFill>
                <a:latin typeface="Malgun Gothic"/>
                <a:ea typeface="Malgun Gothic"/>
                <a:cs typeface="Malgun Gothic"/>
                <a:sym typeface="Malgun Gothic"/>
              </a:rPr>
              <a:t>bbox</a:t>
            </a:r>
            <a:r>
              <a:rPr lang="en-US" altLang="ko-KR" sz="900" i="1" dirty="0">
                <a:solidFill>
                  <a:srgbClr val="475569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altLang="en-US" sz="900" i="1" dirty="0">
                <a:solidFill>
                  <a:srgbClr val="475569"/>
                </a:solidFill>
                <a:latin typeface="Malgun Gothic"/>
                <a:ea typeface="Malgun Gothic"/>
                <a:cs typeface="Malgun Gothic"/>
                <a:sym typeface="Malgun Gothic"/>
              </a:rPr>
              <a:t>중심 좌표 분포</a:t>
            </a:r>
            <a:endParaRPr dirty="0"/>
          </a:p>
        </p:txBody>
      </p:sp>
      <p:sp>
        <p:nvSpPr>
          <p:cNvPr id="207" name="Google Shape;207;p17"/>
          <p:cNvSpPr/>
          <p:nvPr/>
        </p:nvSpPr>
        <p:spPr>
          <a:xfrm>
            <a:off x="457200" y="3474720"/>
            <a:ext cx="2697480" cy="137160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7"/>
          <p:cNvSpPr txBox="1"/>
          <p:nvPr/>
        </p:nvSpPr>
        <p:spPr>
          <a:xfrm>
            <a:off x="640080" y="3566160"/>
            <a:ext cx="23317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14B8A6"/>
                </a:solidFill>
                <a:latin typeface="Malgun Gothic"/>
                <a:ea typeface="Malgun Gothic"/>
                <a:cs typeface="Malgun Gothic"/>
                <a:sym typeface="Malgun Gothic"/>
              </a:rPr>
              <a:t>synthetic_combined</a:t>
            </a:r>
            <a:endParaRPr/>
          </a:p>
        </p:txBody>
      </p:sp>
      <p:sp>
        <p:nvSpPr>
          <p:cNvPr id="209" name="Google Shape;209;p17"/>
          <p:cNvSpPr txBox="1"/>
          <p:nvPr/>
        </p:nvSpPr>
        <p:spPr>
          <a:xfrm>
            <a:off x="640080" y="3840480"/>
            <a:ext cx="233172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7,200장</a:t>
            </a:r>
            <a:endParaRPr/>
          </a:p>
        </p:txBody>
      </p:sp>
      <p:sp>
        <p:nvSpPr>
          <p:cNvPr id="210" name="Google Shape;210;p17"/>
          <p:cNvSpPr txBox="1"/>
          <p:nvPr/>
        </p:nvSpPr>
        <p:spPr>
          <a:xfrm>
            <a:off x="640080" y="4069080"/>
            <a:ext cx="233172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1" u="none" strike="noStrike" cap="none">
                <a:solidFill>
                  <a:srgbClr val="475569"/>
                </a:solidFill>
                <a:latin typeface="Malgun Gothic"/>
                <a:ea typeface="Malgun Gothic"/>
                <a:cs typeface="Malgun Gothic"/>
                <a:sym typeface="Malgun Gothic"/>
              </a:rPr>
              <a:t>베이스라인 학습 사용</a:t>
            </a:r>
            <a:endParaRPr/>
          </a:p>
        </p:txBody>
      </p:sp>
      <p:sp>
        <p:nvSpPr>
          <p:cNvPr id="211" name="Google Shape;211;p17"/>
          <p:cNvSpPr txBox="1"/>
          <p:nvPr/>
        </p:nvSpPr>
        <p:spPr>
          <a:xfrm>
            <a:off x="640080" y="4343400"/>
            <a:ext cx="233172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 dirty="0" err="1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초기</a:t>
            </a:r>
            <a:r>
              <a:rPr lang="en-US" sz="900" b="0" i="0" u="none" strike="noStrike" cap="none" dirty="0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 1,800장 (</a:t>
            </a:r>
            <a:r>
              <a:rPr lang="en-US" sz="900" b="0" i="0" u="none" strike="noStrike" cap="none" dirty="0" err="1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배경</a:t>
            </a:r>
            <a:r>
              <a:rPr lang="en-US" sz="900" b="0" i="0" u="none" strike="noStrike" cap="none" dirty="0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 10장)</a:t>
            </a:r>
            <a:endParaRPr dirty="0"/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 dirty="0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+ </a:t>
            </a:r>
            <a:r>
              <a:rPr lang="en-US" sz="900" b="0" i="0" u="none" strike="noStrike" cap="none" dirty="0" err="1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확장</a:t>
            </a:r>
            <a:r>
              <a:rPr lang="en-US" sz="900" b="0" i="0" u="none" strike="noStrike" cap="none" dirty="0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 5,400장 (</a:t>
            </a:r>
            <a:r>
              <a:rPr lang="en-US" sz="900" b="0" i="0" u="none" strike="noStrike" cap="none" dirty="0" err="1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배경</a:t>
            </a:r>
            <a:r>
              <a:rPr lang="en-US" sz="900" b="0" i="0" u="none" strike="noStrike" cap="none" dirty="0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 199장)</a:t>
            </a:r>
            <a:endParaRPr dirty="0"/>
          </a:p>
        </p:txBody>
      </p:sp>
      <p:sp>
        <p:nvSpPr>
          <p:cNvPr id="212" name="Google Shape;212;p17"/>
          <p:cNvSpPr/>
          <p:nvPr/>
        </p:nvSpPr>
        <p:spPr>
          <a:xfrm>
            <a:off x="3246120" y="3474720"/>
            <a:ext cx="2697480" cy="137160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17"/>
          <p:cNvSpPr txBox="1"/>
          <p:nvPr/>
        </p:nvSpPr>
        <p:spPr>
          <a:xfrm>
            <a:off x="3429000" y="3566160"/>
            <a:ext cx="23317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14B8A6"/>
                </a:solidFill>
                <a:latin typeface="Malgun Gothic"/>
                <a:ea typeface="Malgun Gothic"/>
                <a:cs typeface="Malgun Gothic"/>
                <a:sym typeface="Malgun Gothic"/>
              </a:rPr>
              <a:t>배경 6종</a:t>
            </a:r>
            <a:endParaRPr/>
          </a:p>
        </p:txBody>
      </p:sp>
      <p:sp>
        <p:nvSpPr>
          <p:cNvPr id="214" name="Google Shape;214;p17"/>
          <p:cNvSpPr txBox="1"/>
          <p:nvPr/>
        </p:nvSpPr>
        <p:spPr>
          <a:xfrm>
            <a:off x="3429000" y="3840480"/>
            <a:ext cx="233172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다양한 배경</a:t>
            </a:r>
            <a:endParaRPr/>
          </a:p>
        </p:txBody>
      </p:sp>
      <p:sp>
        <p:nvSpPr>
          <p:cNvPr id="215" name="Google Shape;215;p17"/>
          <p:cNvSpPr txBox="1"/>
          <p:nvPr/>
        </p:nvSpPr>
        <p:spPr>
          <a:xfrm>
            <a:off x="3429000" y="4069080"/>
            <a:ext cx="233172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t" anchorCtr="0">
            <a:spAutoFit/>
          </a:bodyPr>
          <a:lstStyle/>
          <a:p>
            <a:pPr lvl="0"/>
            <a:r>
              <a:rPr lang="ko-KR" altLang="en-US" sz="1000" i="1" dirty="0">
                <a:solidFill>
                  <a:srgbClr val="475569"/>
                </a:solidFill>
                <a:latin typeface="Malgun Gothic"/>
                <a:ea typeface="Malgun Gothic"/>
                <a:cs typeface="Malgun Gothic"/>
                <a:sym typeface="Malgun Gothic"/>
              </a:rPr>
              <a:t>직접 촬영한 배경</a:t>
            </a:r>
            <a:r>
              <a:rPr lang="en-US" altLang="ko-KR" sz="1000" i="1" dirty="0">
                <a:solidFill>
                  <a:srgbClr val="475569"/>
                </a:solidFill>
                <a:latin typeface="Malgun Gothic"/>
                <a:ea typeface="Malgun Gothic"/>
                <a:cs typeface="Malgun Gothic"/>
                <a:sym typeface="Malgun Gothic"/>
              </a:rPr>
              <a:t>(10</a:t>
            </a:r>
            <a:r>
              <a:rPr lang="ko-KR" altLang="en-US" sz="1000" i="1" dirty="0">
                <a:solidFill>
                  <a:srgbClr val="475569"/>
                </a:solidFill>
                <a:latin typeface="Malgun Gothic"/>
                <a:ea typeface="Malgun Gothic"/>
                <a:cs typeface="Malgun Gothic"/>
                <a:sym typeface="Malgun Gothic"/>
              </a:rPr>
              <a:t>장</a:t>
            </a:r>
            <a:r>
              <a:rPr lang="en-US" altLang="ko-KR" sz="1000" i="1" dirty="0">
                <a:solidFill>
                  <a:srgbClr val="475569"/>
                </a:solidFill>
                <a:latin typeface="Malgun Gothic"/>
                <a:ea typeface="Malgun Gothic"/>
                <a:cs typeface="Malgun Gothic"/>
                <a:sym typeface="Malgun Gothic"/>
              </a:rPr>
              <a:t>)</a:t>
            </a:r>
            <a:r>
              <a:rPr lang="ko-KR" altLang="en-US" sz="1000" i="1" dirty="0">
                <a:solidFill>
                  <a:srgbClr val="475569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altLang="ko-KR" sz="1000" i="1" dirty="0">
                <a:solidFill>
                  <a:srgbClr val="475569"/>
                </a:solidFill>
                <a:latin typeface="Malgun Gothic"/>
                <a:ea typeface="Malgun Gothic"/>
                <a:cs typeface="Malgun Gothic"/>
                <a:sym typeface="Malgun Gothic"/>
              </a:rPr>
              <a:t>+ </a:t>
            </a:r>
            <a:r>
              <a:rPr lang="ko-KR" altLang="en-US" sz="1000" i="1" dirty="0" err="1">
                <a:solidFill>
                  <a:srgbClr val="475569"/>
                </a:solidFill>
                <a:latin typeface="Malgun Gothic"/>
                <a:ea typeface="Malgun Gothic"/>
                <a:cs typeface="Malgun Gothic"/>
                <a:sym typeface="Malgun Gothic"/>
              </a:rPr>
              <a:t>크롤링</a:t>
            </a:r>
            <a:r>
              <a:rPr lang="ko-KR" altLang="en-US" sz="1000" i="1" dirty="0">
                <a:solidFill>
                  <a:srgbClr val="475569"/>
                </a:solidFill>
                <a:latin typeface="Malgun Gothic"/>
                <a:ea typeface="Malgun Gothic"/>
                <a:cs typeface="Malgun Gothic"/>
                <a:sym typeface="Malgun Gothic"/>
              </a:rPr>
              <a:t> 배경</a:t>
            </a:r>
            <a:endParaRPr dirty="0"/>
          </a:p>
        </p:txBody>
      </p:sp>
      <p:sp>
        <p:nvSpPr>
          <p:cNvPr id="216" name="Google Shape;216;p17"/>
          <p:cNvSpPr txBox="1"/>
          <p:nvPr/>
        </p:nvSpPr>
        <p:spPr>
          <a:xfrm>
            <a:off x="3429000" y="4343400"/>
            <a:ext cx="2008573" cy="6636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t" anchorCtr="0">
            <a:spAutoFit/>
          </a:bodyPr>
          <a:lstStyle/>
          <a:p>
            <a:pPr lvl="0">
              <a:lnSpc>
                <a:spcPct val="120000"/>
              </a:lnSpc>
            </a:pPr>
            <a:r>
              <a:rPr lang="ko-KR" altLang="en-US" sz="900" dirty="0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손바닥 배경 </a:t>
            </a:r>
            <a:r>
              <a:rPr lang="en-US" altLang="ko-KR" sz="900" dirty="0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/ </a:t>
            </a:r>
            <a:r>
              <a:rPr lang="ko-KR" altLang="en-US" sz="900" dirty="0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어두운 배경 </a:t>
            </a:r>
            <a:r>
              <a:rPr lang="en-US" altLang="ko-KR" sz="900" dirty="0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/ </a:t>
            </a:r>
            <a:r>
              <a:rPr lang="ko-KR" altLang="en-US" sz="900" dirty="0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천 배경</a:t>
            </a:r>
            <a:endParaRPr lang="en-US" altLang="ko-KR" sz="900" dirty="0">
              <a:solidFill>
                <a:srgbClr val="1E293B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lvl="0">
              <a:lnSpc>
                <a:spcPct val="120000"/>
              </a:lnSpc>
            </a:pPr>
            <a:r>
              <a:rPr lang="ko-KR" altLang="en-US" sz="900" dirty="0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회색 배경 </a:t>
            </a:r>
            <a:r>
              <a:rPr lang="en-US" altLang="ko-KR" sz="900" dirty="0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/ </a:t>
            </a:r>
            <a:r>
              <a:rPr lang="ko-KR" altLang="en-US" sz="900" dirty="0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대리석 배경 </a:t>
            </a:r>
            <a:r>
              <a:rPr lang="en-US" altLang="ko-KR" sz="900" dirty="0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/ </a:t>
            </a:r>
            <a:r>
              <a:rPr lang="ko-KR" altLang="en-US" sz="900" dirty="0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흰색 배경</a:t>
            </a:r>
            <a:endParaRPr lang="en-US" altLang="ko-KR" sz="900" dirty="0">
              <a:solidFill>
                <a:srgbClr val="1E293B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lvl="0">
              <a:lnSpc>
                <a:spcPct val="120000"/>
              </a:lnSpc>
            </a:pPr>
            <a:endParaRPr dirty="0"/>
          </a:p>
        </p:txBody>
      </p:sp>
      <p:sp>
        <p:nvSpPr>
          <p:cNvPr id="217" name="Google Shape;217;p17"/>
          <p:cNvSpPr/>
          <p:nvPr/>
        </p:nvSpPr>
        <p:spPr>
          <a:xfrm>
            <a:off x="6035040" y="3474720"/>
            <a:ext cx="2697480" cy="137160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17"/>
          <p:cNvSpPr txBox="1"/>
          <p:nvPr/>
        </p:nvSpPr>
        <p:spPr>
          <a:xfrm>
            <a:off x="6217920" y="3566160"/>
            <a:ext cx="23317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14B8A6"/>
                </a:solidFill>
                <a:latin typeface="Malgun Gothic"/>
                <a:ea typeface="Malgun Gothic"/>
                <a:cs typeface="Malgun Gothic"/>
                <a:sym typeface="Malgun Gothic"/>
              </a:rPr>
              <a:t>최종 학습 데이터</a:t>
            </a:r>
            <a:endParaRPr/>
          </a:p>
        </p:txBody>
      </p:sp>
      <p:sp>
        <p:nvSpPr>
          <p:cNvPr id="219" name="Google Shape;219;p17"/>
          <p:cNvSpPr txBox="1"/>
          <p:nvPr/>
        </p:nvSpPr>
        <p:spPr>
          <a:xfrm>
            <a:off x="6217920" y="3840480"/>
            <a:ext cx="233172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 dirty="0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15,502장</a:t>
            </a:r>
            <a:endParaRPr dirty="0"/>
          </a:p>
        </p:txBody>
      </p:sp>
      <p:sp>
        <p:nvSpPr>
          <p:cNvPr id="220" name="Google Shape;220;p17"/>
          <p:cNvSpPr txBox="1"/>
          <p:nvPr/>
        </p:nvSpPr>
        <p:spPr>
          <a:xfrm>
            <a:off x="6217920" y="4069080"/>
            <a:ext cx="233172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1" u="none" strike="noStrike" cap="none" dirty="0">
                <a:solidFill>
                  <a:srgbClr val="475569"/>
                </a:solidFill>
                <a:latin typeface="Malgun Gothic"/>
                <a:ea typeface="Malgun Gothic"/>
                <a:cs typeface="Malgun Gothic"/>
                <a:sym typeface="Malgun Gothic"/>
              </a:rPr>
              <a:t>AI Hub + Kaggle + 합성</a:t>
            </a:r>
            <a:endParaRPr dirty="0"/>
          </a:p>
        </p:txBody>
      </p:sp>
      <p:sp>
        <p:nvSpPr>
          <p:cNvPr id="221" name="Google Shape;221;p17"/>
          <p:cNvSpPr txBox="1"/>
          <p:nvPr/>
        </p:nvSpPr>
        <p:spPr>
          <a:xfrm>
            <a:off x="6217920" y="4343400"/>
            <a:ext cx="2331720" cy="4051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 dirty="0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AI Hub 8,137 + Kaggle 165</a:t>
            </a:r>
            <a:endParaRPr dirty="0"/>
          </a:p>
          <a:p>
            <a:pPr lvl="0">
              <a:lnSpc>
                <a:spcPct val="120000"/>
              </a:lnSpc>
            </a:pPr>
            <a:r>
              <a:rPr lang="ko-KR" altLang="en-US" sz="900" dirty="0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+ 합성 7,200장</a:t>
            </a:r>
            <a:endParaRPr dirty="0"/>
          </a:p>
        </p:txBody>
      </p:sp>
      <p:sp>
        <p:nvSpPr>
          <p:cNvPr id="222" name="Google Shape;222;p17"/>
          <p:cNvSpPr txBox="1"/>
          <p:nvPr/>
        </p:nvSpPr>
        <p:spPr>
          <a:xfrm>
            <a:off x="365760" y="4846320"/>
            <a:ext cx="36576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94A3B8"/>
                </a:solidFill>
                <a:latin typeface="Malgun Gothic"/>
                <a:ea typeface="Malgun Gothic"/>
                <a:cs typeface="Malgun Gothic"/>
                <a:sym typeface="Malgun Gothic"/>
              </a:rPr>
              <a:t>HealthEat · 3팀</a:t>
            </a:r>
            <a:endParaRPr/>
          </a:p>
        </p:txBody>
      </p:sp>
      <p:sp>
        <p:nvSpPr>
          <p:cNvPr id="223" name="Google Shape;223;p17"/>
          <p:cNvSpPr txBox="1"/>
          <p:nvPr/>
        </p:nvSpPr>
        <p:spPr>
          <a:xfrm>
            <a:off x="5486400" y="4846320"/>
            <a:ext cx="3291840" cy="2112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 dirty="0">
                <a:solidFill>
                  <a:srgbClr val="94A3B8"/>
                </a:solidFill>
                <a:latin typeface="Malgun Gothic"/>
                <a:ea typeface="Malgun Gothic"/>
                <a:cs typeface="Malgun Gothic"/>
                <a:sym typeface="Malgun Gothic"/>
              </a:rPr>
              <a:t>5 / 17</a:t>
            </a:r>
            <a:endParaRPr dirty="0"/>
          </a:p>
        </p:txBody>
      </p:sp>
      <p:sp>
        <p:nvSpPr>
          <p:cNvPr id="2" name="Google Shape;172;p16">
            <a:extLst>
              <a:ext uri="{FF2B5EF4-FFF2-40B4-BE49-F238E27FC236}">
                <a16:creationId xmlns:a16="http://schemas.microsoft.com/office/drawing/2014/main" id="{38B07E2F-8870-8A92-B474-9D6416C253CE}"/>
              </a:ext>
            </a:extLst>
          </p:cNvPr>
          <p:cNvSpPr txBox="1"/>
          <p:nvPr/>
        </p:nvSpPr>
        <p:spPr>
          <a:xfrm>
            <a:off x="777240" y="271532"/>
            <a:ext cx="7772400" cy="380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ctr" anchorCtr="0">
            <a:spAutoFit/>
          </a:bodyPr>
          <a:lstStyle/>
          <a:p>
            <a:pPr lvl="0"/>
            <a:r>
              <a:rPr lang="en-US" sz="2000" b="1" i="0" u="none" strike="noStrike" cap="none" dirty="0" err="1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데이터</a:t>
            </a:r>
            <a:r>
              <a:rPr lang="en-US" sz="2000" b="1" i="0" u="none" strike="noStrike" cap="none" dirty="0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altLang="ko-KR" sz="2000" b="1" dirty="0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— </a:t>
            </a:r>
            <a:r>
              <a:rPr lang="ko-KR" altLang="en-US" sz="2000" b="1" dirty="0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합성 이미지 데이터 보강</a:t>
            </a:r>
            <a:endParaRPr dirty="0"/>
          </a:p>
        </p:txBody>
      </p:sp>
      <p:pic>
        <p:nvPicPr>
          <p:cNvPr id="4" name="그림 3" descr="다채로움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0E44741-68A6-B47B-D05F-53D11F60A1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3334" y="911138"/>
            <a:ext cx="5999904" cy="1828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8"/>
          <p:cNvSpPr/>
          <p:nvPr/>
        </p:nvSpPr>
        <p:spPr>
          <a:xfrm>
            <a:off x="365760" y="292608"/>
            <a:ext cx="292608" cy="292608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18"/>
          <p:cNvSpPr txBox="1"/>
          <p:nvPr/>
        </p:nvSpPr>
        <p:spPr>
          <a:xfrm>
            <a:off x="365760" y="317922"/>
            <a:ext cx="292608" cy="241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/>
                <a:ea typeface="Malgun Gothic"/>
                <a:sym typeface="Malgun Gothic"/>
              </a:rPr>
              <a:t>02</a:t>
            </a:r>
            <a:endParaRPr dirty="0"/>
          </a:p>
        </p:txBody>
      </p:sp>
      <p:sp>
        <p:nvSpPr>
          <p:cNvPr id="230" name="Google Shape;230;p18"/>
          <p:cNvSpPr txBox="1"/>
          <p:nvPr/>
        </p:nvSpPr>
        <p:spPr>
          <a:xfrm>
            <a:off x="777240" y="271532"/>
            <a:ext cx="7772400" cy="380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 err="1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합성</a:t>
            </a:r>
            <a:r>
              <a:rPr lang="en-US" sz="2000" b="1" i="0" u="none" strike="noStrike" cap="none" dirty="0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2000" b="1" i="0" u="none" strike="noStrike" cap="none" dirty="0" err="1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데이터</a:t>
            </a:r>
            <a:endParaRPr sz="2000" b="1" i="0" u="none" strike="noStrike" cap="none" dirty="0">
              <a:solidFill>
                <a:srgbClr val="1E293B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31" name="Google Shape;231;p18"/>
          <p:cNvSpPr/>
          <p:nvPr/>
        </p:nvSpPr>
        <p:spPr>
          <a:xfrm>
            <a:off x="365760" y="731520"/>
            <a:ext cx="8412480" cy="80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2" name="Google Shape;232;p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816091" y="1099087"/>
            <a:ext cx="4075691" cy="3266042"/>
          </a:xfrm>
          <a:prstGeom prst="rect">
            <a:avLst/>
          </a:prstGeom>
          <a:noFill/>
          <a:ln>
            <a:noFill/>
          </a:ln>
        </p:spPr>
      </p:pic>
      <p:pic>
        <p:nvPicPr>
          <p:cNvPr id="233" name="Google Shape;233;p18" descr="제약 약물, 약, 알약, 의학이(가) 표시된 사진&#10;&#10;AI 생성 콘텐츠는 정확하지 않을 수 있습니다.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85279" y="815515"/>
            <a:ext cx="1565291" cy="205284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4" name="Google Shape;234;p18" descr="실내이(가) 표시된 사진&#10;&#10;AI 생성 콘텐츠는 정확하지 않을 수 있습니다.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975212" y="815515"/>
            <a:ext cx="1565291" cy="205284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5" name="Google Shape;235;p18" descr="플라스틱, 실내이(가) 표시된 사진&#10;&#10;AI 생성 콘텐츠는 정확하지 않을 수 있습니다.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179573" y="2939856"/>
            <a:ext cx="1563507" cy="2050501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18"/>
          <p:cNvSpPr/>
          <p:nvPr/>
        </p:nvSpPr>
        <p:spPr>
          <a:xfrm>
            <a:off x="3833297" y="2470544"/>
            <a:ext cx="936321" cy="562924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14B8A6"/>
          </a:solidFill>
          <a:ln w="9525" cap="flat" cmpd="sng">
            <a:solidFill>
              <a:srgbClr val="14B8A6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18"/>
          <p:cNvSpPr txBox="1"/>
          <p:nvPr/>
        </p:nvSpPr>
        <p:spPr>
          <a:xfrm>
            <a:off x="3450895" y="3008509"/>
            <a:ext cx="1571037" cy="2265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1" u="none" strike="noStrike" cap="none">
                <a:solidFill>
                  <a:srgbClr val="475569"/>
                </a:solidFill>
                <a:latin typeface="Malgun Gothic"/>
                <a:ea typeface="Malgun Gothic"/>
                <a:cs typeface="Malgun Gothic"/>
                <a:sym typeface="Malgun Gothic"/>
              </a:rPr>
              <a:t>rembg로 누끼</a:t>
            </a:r>
            <a:endParaRPr sz="1000" b="0" i="1" u="none" strike="noStrike" cap="none">
              <a:solidFill>
                <a:srgbClr val="475569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238" name="Google Shape;238;p18" descr="사람, 손톱, 피부, 정맥이(가) 표시된 사진&#10;&#10;AI 생성 콘텐츠는 정확하지 않을 수 있습니다.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 rot="5400000">
            <a:off x="128738" y="1072058"/>
            <a:ext cx="2052334" cy="1539251"/>
          </a:xfrm>
          <a:prstGeom prst="rect">
            <a:avLst/>
          </a:prstGeom>
          <a:noFill/>
          <a:ln>
            <a:noFill/>
          </a:ln>
        </p:spPr>
      </p:pic>
      <p:pic>
        <p:nvPicPr>
          <p:cNvPr id="239" name="Google Shape;239;p18" descr="페인팅, 예술이(가) 표시된 사진&#10;&#10;AI 생성 콘텐츠는 정확하지 않을 수 있습니다.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14516" y="2939856"/>
            <a:ext cx="2580987" cy="193574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0" name="Google Shape;240;p18" descr="갈색, 우드, 지상, 베이지이(가) 표시된 사진&#10;&#10;AI 생성 콘텐츠는 정확하지 않을 수 있습니다.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 rot="5400000">
            <a:off x="1729385" y="1072121"/>
            <a:ext cx="2052839" cy="1539629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18"/>
          <p:cNvSpPr/>
          <p:nvPr/>
        </p:nvSpPr>
        <p:spPr>
          <a:xfrm>
            <a:off x="3905345" y="2403640"/>
            <a:ext cx="698178" cy="696732"/>
          </a:xfrm>
          <a:prstGeom prst="plus">
            <a:avLst>
              <a:gd name="adj" fmla="val 42201"/>
            </a:avLst>
          </a:prstGeom>
          <a:solidFill>
            <a:srgbClr val="14B8A6"/>
          </a:solidFill>
          <a:ln w="9525" cap="flat" cmpd="sng">
            <a:solidFill>
              <a:srgbClr val="14B8A6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18"/>
          <p:cNvSpPr txBox="1"/>
          <p:nvPr/>
        </p:nvSpPr>
        <p:spPr>
          <a:xfrm>
            <a:off x="3410380" y="3087893"/>
            <a:ext cx="1571037" cy="2265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1" u="none" strike="noStrike" cap="none">
                <a:solidFill>
                  <a:srgbClr val="475569"/>
                </a:solidFill>
                <a:latin typeface="Malgun Gothic"/>
                <a:ea typeface="Malgun Gothic"/>
                <a:cs typeface="Malgun Gothic"/>
                <a:sym typeface="Malgun Gothic"/>
              </a:rPr>
              <a:t>이미지 합성</a:t>
            </a:r>
            <a:endParaRPr sz="1000" b="0" i="1" u="none" strike="noStrike" cap="none">
              <a:solidFill>
                <a:srgbClr val="475569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43" name="Google Shape;243;p18"/>
          <p:cNvSpPr txBox="1"/>
          <p:nvPr/>
        </p:nvSpPr>
        <p:spPr>
          <a:xfrm>
            <a:off x="365760" y="4846320"/>
            <a:ext cx="36576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94A3B8"/>
                </a:solidFill>
                <a:latin typeface="Malgun Gothic"/>
                <a:ea typeface="Malgun Gothic"/>
                <a:cs typeface="Malgun Gothic"/>
                <a:sym typeface="Malgun Gothic"/>
              </a:rPr>
              <a:t>HealthEat · 3팀</a:t>
            </a:r>
            <a:endParaRPr/>
          </a:p>
        </p:txBody>
      </p:sp>
      <p:sp>
        <p:nvSpPr>
          <p:cNvPr id="244" name="Google Shape;244;p18"/>
          <p:cNvSpPr txBox="1"/>
          <p:nvPr/>
        </p:nvSpPr>
        <p:spPr>
          <a:xfrm>
            <a:off x="5486400" y="4846320"/>
            <a:ext cx="3291840" cy="2112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 dirty="0">
                <a:solidFill>
                  <a:srgbClr val="94A3B8"/>
                </a:solidFill>
                <a:latin typeface="Malgun Gothic"/>
                <a:ea typeface="Malgun Gothic"/>
                <a:cs typeface="Malgun Gothic"/>
                <a:sym typeface="Malgun Gothic"/>
              </a:rPr>
              <a:t>6 / </a:t>
            </a:r>
            <a:r>
              <a:rPr lang="en-US" sz="900" dirty="0">
                <a:solidFill>
                  <a:srgbClr val="94A3B8"/>
                </a:solidFill>
                <a:latin typeface="Malgun Gothic"/>
                <a:ea typeface="Malgun Gothic"/>
                <a:cs typeface="Malgun Gothic"/>
                <a:sym typeface="Malgun Gothic"/>
              </a:rPr>
              <a:t>17</a:t>
            </a: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500"/>
                                        <p:tgtEl>
                                          <p:spTgt spid="2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" dur="500"/>
                                        <p:tgtEl>
                                          <p:spTgt spid="2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500"/>
                                        <p:tgtEl>
                                          <p:spTgt spid="2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9" dur="500"/>
                                        <p:tgtEl>
                                          <p:spTgt spid="2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2" dur="500"/>
                                        <p:tgtEl>
                                          <p:spTgt spid="2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19"/>
          <p:cNvSpPr/>
          <p:nvPr/>
        </p:nvSpPr>
        <p:spPr>
          <a:xfrm>
            <a:off x="365760" y="292608"/>
            <a:ext cx="292608" cy="292608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19"/>
          <p:cNvSpPr txBox="1"/>
          <p:nvPr/>
        </p:nvSpPr>
        <p:spPr>
          <a:xfrm>
            <a:off x="365760" y="317922"/>
            <a:ext cx="292608" cy="241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/>
                <a:ea typeface="Malgun Gothic"/>
                <a:sym typeface="Malgun Gothic"/>
              </a:rPr>
              <a:t>02</a:t>
            </a:r>
            <a:endParaRPr dirty="0"/>
          </a:p>
        </p:txBody>
      </p:sp>
      <p:sp>
        <p:nvSpPr>
          <p:cNvPr id="251" name="Google Shape;251;p19"/>
          <p:cNvSpPr txBox="1"/>
          <p:nvPr/>
        </p:nvSpPr>
        <p:spPr>
          <a:xfrm>
            <a:off x="777240" y="271532"/>
            <a:ext cx="7772400" cy="380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 err="1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합성</a:t>
            </a:r>
            <a:r>
              <a:rPr lang="en-US" sz="2000" b="1" i="0" u="none" strike="noStrike" cap="none" dirty="0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2000" b="1" i="0" u="none" strike="noStrike" cap="none" dirty="0" err="1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데이터</a:t>
            </a:r>
            <a:endParaRPr sz="2000" b="1" i="0" u="none" strike="noStrike" cap="none" dirty="0">
              <a:solidFill>
                <a:srgbClr val="1E293B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52" name="Google Shape;252;p19"/>
          <p:cNvSpPr/>
          <p:nvPr/>
        </p:nvSpPr>
        <p:spPr>
          <a:xfrm>
            <a:off x="365760" y="731520"/>
            <a:ext cx="8412480" cy="80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3" name="Google Shape;253;p19" descr="손톱, 손가락, 반창고이(가) 표시된 사진&#10;&#10;AI 생성 콘텐츠는 정확하지 않을 수 있습니다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8368" y="1178432"/>
            <a:ext cx="2199150" cy="2884133"/>
          </a:xfrm>
          <a:prstGeom prst="rect">
            <a:avLst/>
          </a:prstGeom>
          <a:noFill/>
          <a:ln>
            <a:noFill/>
          </a:ln>
        </p:spPr>
      </p:pic>
      <p:pic>
        <p:nvPicPr>
          <p:cNvPr id="254" name="Google Shape;254;p19" descr="원, 우드이(가) 표시된 사진&#10;&#10;AI 생성 콘텐츠는 정확하지 않을 수 있습니다.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472424" y="1178432"/>
            <a:ext cx="2199152" cy="2884133"/>
          </a:xfrm>
          <a:prstGeom prst="rect">
            <a:avLst/>
          </a:prstGeom>
          <a:noFill/>
          <a:ln>
            <a:noFill/>
          </a:ln>
        </p:spPr>
      </p:pic>
      <p:pic>
        <p:nvPicPr>
          <p:cNvPr id="255" name="Google Shape;255;p19" descr="동전, 바위, 예술이(가) 표시된 사진&#10;&#10;AI 생성 콘텐츠는 정확하지 않을 수 있습니다.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86482" y="1178431"/>
            <a:ext cx="2199152" cy="2884133"/>
          </a:xfrm>
          <a:prstGeom prst="rect">
            <a:avLst/>
          </a:prstGeom>
          <a:noFill/>
          <a:ln>
            <a:noFill/>
          </a:ln>
        </p:spPr>
      </p:pic>
      <p:sp>
        <p:nvSpPr>
          <p:cNvPr id="256" name="Google Shape;256;p19"/>
          <p:cNvSpPr txBox="1"/>
          <p:nvPr/>
        </p:nvSpPr>
        <p:spPr>
          <a:xfrm>
            <a:off x="365760" y="4846320"/>
            <a:ext cx="36576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94A3B8"/>
                </a:solidFill>
                <a:latin typeface="Malgun Gothic"/>
                <a:ea typeface="Malgun Gothic"/>
                <a:cs typeface="Malgun Gothic"/>
                <a:sym typeface="Malgun Gothic"/>
              </a:rPr>
              <a:t>HealthEat · 3팀</a:t>
            </a:r>
            <a:endParaRPr/>
          </a:p>
        </p:txBody>
      </p:sp>
      <p:sp>
        <p:nvSpPr>
          <p:cNvPr id="257" name="Google Shape;257;p19"/>
          <p:cNvSpPr txBox="1"/>
          <p:nvPr/>
        </p:nvSpPr>
        <p:spPr>
          <a:xfrm>
            <a:off x="5486400" y="4846320"/>
            <a:ext cx="3291840" cy="2112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 dirty="0">
                <a:solidFill>
                  <a:srgbClr val="94A3B8"/>
                </a:solidFill>
                <a:latin typeface="Malgun Gothic"/>
                <a:ea typeface="Malgun Gothic"/>
                <a:cs typeface="Malgun Gothic"/>
                <a:sym typeface="Malgun Gothic"/>
              </a:rPr>
              <a:t>7 / </a:t>
            </a:r>
            <a:r>
              <a:rPr lang="en-US" sz="900" dirty="0">
                <a:solidFill>
                  <a:srgbClr val="94A3B8"/>
                </a:solidFill>
                <a:latin typeface="Malgun Gothic"/>
                <a:ea typeface="Malgun Gothic"/>
                <a:cs typeface="Malgun Gothic"/>
                <a:sym typeface="Malgun Gothic"/>
              </a:rPr>
              <a:t>17</a:t>
            </a:r>
            <a:endParaRPr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20"/>
          <p:cNvSpPr/>
          <p:nvPr/>
        </p:nvSpPr>
        <p:spPr>
          <a:xfrm>
            <a:off x="365760" y="292608"/>
            <a:ext cx="292608" cy="292608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20"/>
          <p:cNvSpPr txBox="1"/>
          <p:nvPr/>
        </p:nvSpPr>
        <p:spPr>
          <a:xfrm>
            <a:off x="365760" y="317922"/>
            <a:ext cx="292608" cy="241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03</a:t>
            </a:r>
            <a:endParaRPr dirty="0"/>
          </a:p>
        </p:txBody>
      </p:sp>
      <p:sp>
        <p:nvSpPr>
          <p:cNvPr id="264" name="Google Shape;264;p20"/>
          <p:cNvSpPr txBox="1"/>
          <p:nvPr/>
        </p:nvSpPr>
        <p:spPr>
          <a:xfrm>
            <a:off x="777240" y="271532"/>
            <a:ext cx="7772400" cy="380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ctr" anchorCtr="0">
            <a:spAutoFit/>
          </a:bodyPr>
          <a:lstStyle/>
          <a:p>
            <a:pPr lvl="0"/>
            <a:r>
              <a:rPr lang="ko-KR" altLang="en-US" sz="2000" b="1" i="0" u="none" strike="noStrike" cap="none" dirty="0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증강 실험 </a:t>
            </a:r>
            <a:r>
              <a:rPr lang="en-US" altLang="ko-KR" sz="2000" b="1" i="0" u="none" strike="noStrike" cap="none" dirty="0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+ validation </a:t>
            </a:r>
            <a:r>
              <a:rPr lang="ko-KR" altLang="en-US" sz="2000" b="1" i="0" u="none" strike="noStrike" cap="none" dirty="0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결과</a:t>
            </a:r>
            <a:endParaRPr dirty="0"/>
          </a:p>
        </p:txBody>
      </p:sp>
      <p:sp>
        <p:nvSpPr>
          <p:cNvPr id="265" name="Google Shape;265;p20"/>
          <p:cNvSpPr/>
          <p:nvPr/>
        </p:nvSpPr>
        <p:spPr>
          <a:xfrm>
            <a:off x="365760" y="731520"/>
            <a:ext cx="8412480" cy="80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20"/>
          <p:cNvSpPr txBox="1"/>
          <p:nvPr/>
        </p:nvSpPr>
        <p:spPr>
          <a:xfrm>
            <a:off x="444843" y="937260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14B8A6"/>
                </a:solidFill>
                <a:latin typeface="Malgun Gothic"/>
                <a:ea typeface="Malgun Gothic"/>
                <a:cs typeface="Malgun Gothic"/>
                <a:sym typeface="Malgun Gothic"/>
              </a:rPr>
              <a:t>기법별 ablation 4 실험</a:t>
            </a:r>
            <a:endParaRPr/>
          </a:p>
        </p:txBody>
      </p:sp>
      <p:sp>
        <p:nvSpPr>
          <p:cNvPr id="267" name="Google Shape;267;p20"/>
          <p:cNvSpPr/>
          <p:nvPr/>
        </p:nvSpPr>
        <p:spPr>
          <a:xfrm>
            <a:off x="457200" y="1325880"/>
            <a:ext cx="3657600" cy="365760"/>
          </a:xfrm>
          <a:prstGeom prst="rect">
            <a:avLst/>
          </a:prstGeom>
          <a:solidFill>
            <a:srgbClr val="115E5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20"/>
          <p:cNvSpPr txBox="1"/>
          <p:nvPr/>
        </p:nvSpPr>
        <p:spPr>
          <a:xfrm>
            <a:off x="457200" y="1325880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  실험</a:t>
            </a:r>
            <a:endParaRPr/>
          </a:p>
        </p:txBody>
      </p:sp>
      <p:sp>
        <p:nvSpPr>
          <p:cNvPr id="269" name="Google Shape;269;p20"/>
          <p:cNvSpPr txBox="1"/>
          <p:nvPr/>
        </p:nvSpPr>
        <p:spPr>
          <a:xfrm>
            <a:off x="2286000" y="1325880"/>
            <a:ext cx="9144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mAP@.5</a:t>
            </a:r>
            <a:endParaRPr/>
          </a:p>
        </p:txBody>
      </p:sp>
      <p:sp>
        <p:nvSpPr>
          <p:cNvPr id="270" name="Google Shape;270;p20"/>
          <p:cNvSpPr txBox="1"/>
          <p:nvPr/>
        </p:nvSpPr>
        <p:spPr>
          <a:xfrm>
            <a:off x="3200400" y="1325880"/>
            <a:ext cx="9144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Δ</a:t>
            </a:r>
            <a:endParaRPr/>
          </a:p>
        </p:txBody>
      </p:sp>
      <p:sp>
        <p:nvSpPr>
          <p:cNvPr id="271" name="Google Shape;271;p20"/>
          <p:cNvSpPr/>
          <p:nvPr/>
        </p:nvSpPr>
        <p:spPr>
          <a:xfrm>
            <a:off x="457200" y="1691640"/>
            <a:ext cx="3657600" cy="36576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20"/>
          <p:cNvSpPr txBox="1"/>
          <p:nvPr/>
        </p:nvSpPr>
        <p:spPr>
          <a:xfrm>
            <a:off x="457200" y="1691640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  no_aug</a:t>
            </a:r>
            <a:endParaRPr/>
          </a:p>
        </p:txBody>
      </p:sp>
      <p:sp>
        <p:nvSpPr>
          <p:cNvPr id="273" name="Google Shape;273;p20"/>
          <p:cNvSpPr txBox="1"/>
          <p:nvPr/>
        </p:nvSpPr>
        <p:spPr>
          <a:xfrm>
            <a:off x="2286000" y="1691640"/>
            <a:ext cx="9144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0.9865</a:t>
            </a:r>
            <a:endParaRPr/>
          </a:p>
        </p:txBody>
      </p:sp>
      <p:sp>
        <p:nvSpPr>
          <p:cNvPr id="274" name="Google Shape;274;p20"/>
          <p:cNvSpPr txBox="1"/>
          <p:nvPr/>
        </p:nvSpPr>
        <p:spPr>
          <a:xfrm>
            <a:off x="3200400" y="1691640"/>
            <a:ext cx="9144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475569"/>
                </a:solidFill>
                <a:latin typeface="Malgun Gothic"/>
                <a:ea typeface="Malgun Gothic"/>
                <a:cs typeface="Malgun Gothic"/>
                <a:sym typeface="Malgun Gothic"/>
              </a:rPr>
              <a:t>기준</a:t>
            </a:r>
            <a:endParaRPr/>
          </a:p>
        </p:txBody>
      </p:sp>
      <p:sp>
        <p:nvSpPr>
          <p:cNvPr id="275" name="Google Shape;275;p20"/>
          <p:cNvSpPr/>
          <p:nvPr/>
        </p:nvSpPr>
        <p:spPr>
          <a:xfrm>
            <a:off x="457200" y="2057400"/>
            <a:ext cx="3657600" cy="365760"/>
          </a:xfrm>
          <a:prstGeom prst="rect">
            <a:avLst/>
          </a:prstGeom>
          <a:solidFill>
            <a:srgbClr val="F8FAFC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20"/>
          <p:cNvSpPr txBox="1"/>
          <p:nvPr/>
        </p:nvSpPr>
        <p:spPr>
          <a:xfrm>
            <a:off x="457200" y="2057400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  baseline</a:t>
            </a:r>
            <a:endParaRPr/>
          </a:p>
        </p:txBody>
      </p:sp>
      <p:sp>
        <p:nvSpPr>
          <p:cNvPr id="277" name="Google Shape;277;p20"/>
          <p:cNvSpPr txBox="1"/>
          <p:nvPr/>
        </p:nvSpPr>
        <p:spPr>
          <a:xfrm>
            <a:off x="2286000" y="2057400"/>
            <a:ext cx="9144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0.9897</a:t>
            </a:r>
            <a:endParaRPr/>
          </a:p>
        </p:txBody>
      </p:sp>
      <p:sp>
        <p:nvSpPr>
          <p:cNvPr id="278" name="Google Shape;278;p20"/>
          <p:cNvSpPr txBox="1"/>
          <p:nvPr/>
        </p:nvSpPr>
        <p:spPr>
          <a:xfrm>
            <a:off x="3200400" y="2057400"/>
            <a:ext cx="9144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475569"/>
                </a:solidFill>
                <a:latin typeface="Malgun Gothic"/>
                <a:ea typeface="Malgun Gothic"/>
                <a:cs typeface="Malgun Gothic"/>
                <a:sym typeface="Malgun Gothic"/>
              </a:rPr>
              <a:t>+0.003</a:t>
            </a:r>
            <a:endParaRPr/>
          </a:p>
        </p:txBody>
      </p:sp>
      <p:sp>
        <p:nvSpPr>
          <p:cNvPr id="279" name="Google Shape;279;p20"/>
          <p:cNvSpPr/>
          <p:nvPr/>
        </p:nvSpPr>
        <p:spPr>
          <a:xfrm>
            <a:off x="457200" y="2423160"/>
            <a:ext cx="3657600" cy="36576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20"/>
          <p:cNvSpPr txBox="1"/>
          <p:nvPr/>
        </p:nvSpPr>
        <p:spPr>
          <a:xfrm>
            <a:off x="457200" y="2423160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  scale</a:t>
            </a:r>
            <a:endParaRPr/>
          </a:p>
        </p:txBody>
      </p:sp>
      <p:sp>
        <p:nvSpPr>
          <p:cNvPr id="281" name="Google Shape;281;p20"/>
          <p:cNvSpPr txBox="1"/>
          <p:nvPr/>
        </p:nvSpPr>
        <p:spPr>
          <a:xfrm>
            <a:off x="2286000" y="2423160"/>
            <a:ext cx="9144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0.986</a:t>
            </a:r>
            <a:endParaRPr/>
          </a:p>
        </p:txBody>
      </p:sp>
      <p:sp>
        <p:nvSpPr>
          <p:cNvPr id="282" name="Google Shape;282;p20"/>
          <p:cNvSpPr txBox="1"/>
          <p:nvPr/>
        </p:nvSpPr>
        <p:spPr>
          <a:xfrm>
            <a:off x="3200400" y="2423160"/>
            <a:ext cx="9144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475569"/>
                </a:solidFill>
                <a:latin typeface="Malgun Gothic"/>
                <a:ea typeface="Malgun Gothic"/>
                <a:cs typeface="Malgun Gothic"/>
                <a:sym typeface="Malgun Gothic"/>
              </a:rPr>
              <a:t>-0.001</a:t>
            </a:r>
            <a:endParaRPr/>
          </a:p>
        </p:txBody>
      </p:sp>
      <p:sp>
        <p:nvSpPr>
          <p:cNvPr id="283" name="Google Shape;283;p20"/>
          <p:cNvSpPr/>
          <p:nvPr/>
        </p:nvSpPr>
        <p:spPr>
          <a:xfrm>
            <a:off x="457200" y="2788920"/>
            <a:ext cx="3657600" cy="365760"/>
          </a:xfrm>
          <a:prstGeom prst="rect">
            <a:avLst/>
          </a:prstGeom>
          <a:solidFill>
            <a:srgbClr val="F8FAFC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20"/>
          <p:cNvSpPr txBox="1"/>
          <p:nvPr/>
        </p:nvSpPr>
        <p:spPr>
          <a:xfrm>
            <a:off x="457200" y="2788920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  degrees</a:t>
            </a:r>
            <a:endParaRPr/>
          </a:p>
        </p:txBody>
      </p:sp>
      <p:sp>
        <p:nvSpPr>
          <p:cNvPr id="285" name="Google Shape;285;p20"/>
          <p:cNvSpPr txBox="1"/>
          <p:nvPr/>
        </p:nvSpPr>
        <p:spPr>
          <a:xfrm>
            <a:off x="2286000" y="2788920"/>
            <a:ext cx="9144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0.9872</a:t>
            </a:r>
            <a:endParaRPr/>
          </a:p>
        </p:txBody>
      </p:sp>
      <p:sp>
        <p:nvSpPr>
          <p:cNvPr id="286" name="Google Shape;286;p20"/>
          <p:cNvSpPr txBox="1"/>
          <p:nvPr/>
        </p:nvSpPr>
        <p:spPr>
          <a:xfrm>
            <a:off x="3200400" y="2788920"/>
            <a:ext cx="9144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475569"/>
                </a:solidFill>
                <a:latin typeface="Malgun Gothic"/>
                <a:ea typeface="Malgun Gothic"/>
                <a:cs typeface="Malgun Gothic"/>
                <a:sym typeface="Malgun Gothic"/>
              </a:rPr>
              <a:t>+0.001</a:t>
            </a:r>
            <a:endParaRPr/>
          </a:p>
        </p:txBody>
      </p:sp>
      <p:sp>
        <p:nvSpPr>
          <p:cNvPr id="287" name="Google Shape;287;p20"/>
          <p:cNvSpPr/>
          <p:nvPr/>
        </p:nvSpPr>
        <p:spPr>
          <a:xfrm>
            <a:off x="457200" y="3154680"/>
            <a:ext cx="3657600" cy="160020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20"/>
          <p:cNvSpPr txBox="1"/>
          <p:nvPr/>
        </p:nvSpPr>
        <p:spPr>
          <a:xfrm>
            <a:off x="594360" y="3246120"/>
            <a:ext cx="33832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14B8A6"/>
                </a:solidFill>
                <a:latin typeface="Malgun Gothic"/>
                <a:ea typeface="Malgun Gothic"/>
                <a:cs typeface="Malgun Gothic"/>
                <a:sym typeface="Malgun Gothic"/>
              </a:rPr>
              <a:t>핵심 발견</a:t>
            </a:r>
            <a:endParaRPr/>
          </a:p>
        </p:txBody>
      </p:sp>
      <p:sp>
        <p:nvSpPr>
          <p:cNvPr id="289" name="Google Shape;289;p20"/>
          <p:cNvSpPr txBox="1"/>
          <p:nvPr/>
        </p:nvSpPr>
        <p:spPr>
          <a:xfrm>
            <a:off x="594360" y="3520440"/>
            <a:ext cx="3383280" cy="10329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 dirty="0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▍ </a:t>
            </a:r>
            <a:r>
              <a:rPr lang="en-US" sz="1000" b="1" i="0" u="none" strike="noStrike" cap="none" dirty="0" err="1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기법별</a:t>
            </a:r>
            <a:r>
              <a:rPr lang="en-US" sz="1000" b="1" i="0" u="none" strike="noStrike" cap="none" dirty="0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1000" b="1" i="0" u="none" strike="noStrike" cap="none" dirty="0" err="1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mAP</a:t>
            </a:r>
            <a:r>
              <a:rPr lang="en-US" sz="1000" b="1" i="0" u="none" strike="noStrike" cap="none" dirty="0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1000" b="1" i="0" u="none" strike="noStrike" cap="none" dirty="0" err="1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차이</a:t>
            </a:r>
            <a:r>
              <a:rPr lang="en-US" sz="1000" b="1" i="0" u="none" strike="noStrike" cap="none" dirty="0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 0.003 </a:t>
            </a:r>
            <a:r>
              <a:rPr lang="en-US" sz="1000" b="1" i="0" u="none" strike="noStrike" cap="none" dirty="0" err="1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이하</a:t>
            </a:r>
            <a:endParaRPr dirty="0"/>
          </a:p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 dirty="0" err="1">
                <a:solidFill>
                  <a:srgbClr val="475569"/>
                </a:solidFill>
                <a:latin typeface="Malgun Gothic"/>
                <a:ea typeface="Malgun Gothic"/>
                <a:cs typeface="Malgun Gothic"/>
                <a:sym typeface="Malgun Gothic"/>
              </a:rPr>
              <a:t>어떤</a:t>
            </a:r>
            <a:r>
              <a:rPr lang="en-US" sz="900" b="0" i="0" u="none" strike="noStrike" cap="none" dirty="0">
                <a:solidFill>
                  <a:srgbClr val="475569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900" b="0" i="0" u="none" strike="noStrike" cap="none" dirty="0" err="1">
                <a:solidFill>
                  <a:srgbClr val="475569"/>
                </a:solidFill>
                <a:latin typeface="Malgun Gothic"/>
                <a:ea typeface="Malgun Gothic"/>
                <a:cs typeface="Malgun Gothic"/>
                <a:sym typeface="Malgun Gothic"/>
              </a:rPr>
              <a:t>증강을</a:t>
            </a:r>
            <a:r>
              <a:rPr lang="en-US" sz="900" b="0" i="0" u="none" strike="noStrike" cap="none" dirty="0">
                <a:solidFill>
                  <a:srgbClr val="475569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900" b="0" i="0" u="none" strike="noStrike" cap="none" dirty="0" err="1">
                <a:solidFill>
                  <a:srgbClr val="475569"/>
                </a:solidFill>
                <a:latin typeface="Malgun Gothic"/>
                <a:ea typeface="Malgun Gothic"/>
                <a:cs typeface="Malgun Gothic"/>
                <a:sym typeface="Malgun Gothic"/>
              </a:rPr>
              <a:t>적용해도</a:t>
            </a:r>
            <a:r>
              <a:rPr lang="en-US" sz="900" b="0" i="0" u="none" strike="noStrike" cap="none" dirty="0">
                <a:solidFill>
                  <a:srgbClr val="475569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900" b="0" i="0" u="none" strike="noStrike" cap="none" dirty="0" err="1">
                <a:solidFill>
                  <a:srgbClr val="475569"/>
                </a:solidFill>
                <a:latin typeface="Malgun Gothic"/>
                <a:ea typeface="Malgun Gothic"/>
                <a:cs typeface="Malgun Gothic"/>
                <a:sym typeface="Malgun Gothic"/>
              </a:rPr>
              <a:t>val</a:t>
            </a:r>
            <a:r>
              <a:rPr lang="en-US" sz="900" b="0" i="0" u="none" strike="noStrike" cap="none" dirty="0">
                <a:solidFill>
                  <a:srgbClr val="475569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900" b="0" i="0" u="none" strike="noStrike" cap="none" dirty="0" err="1">
                <a:solidFill>
                  <a:srgbClr val="475569"/>
                </a:solidFill>
                <a:latin typeface="Malgun Gothic"/>
                <a:ea typeface="Malgun Gothic"/>
                <a:cs typeface="Malgun Gothic"/>
                <a:sym typeface="Malgun Gothic"/>
              </a:rPr>
              <a:t>점수</a:t>
            </a:r>
            <a:r>
              <a:rPr lang="en-US" sz="900" b="0" i="0" u="none" strike="noStrike" cap="none" dirty="0">
                <a:solidFill>
                  <a:srgbClr val="475569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900" b="0" i="0" u="none" strike="noStrike" cap="none" dirty="0" err="1">
                <a:solidFill>
                  <a:srgbClr val="475569"/>
                </a:solidFill>
                <a:latin typeface="Malgun Gothic"/>
                <a:ea typeface="Malgun Gothic"/>
                <a:cs typeface="Malgun Gothic"/>
                <a:sym typeface="Malgun Gothic"/>
              </a:rPr>
              <a:t>거의</a:t>
            </a:r>
            <a:r>
              <a:rPr lang="en-US" sz="900" b="0" i="0" u="none" strike="noStrike" cap="none" dirty="0">
                <a:solidFill>
                  <a:srgbClr val="475569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900" b="0" i="0" u="none" strike="noStrike" cap="none" dirty="0" err="1">
                <a:solidFill>
                  <a:srgbClr val="475569"/>
                </a:solidFill>
                <a:latin typeface="Malgun Gothic"/>
                <a:ea typeface="Malgun Gothic"/>
                <a:cs typeface="Malgun Gothic"/>
                <a:sym typeface="Malgun Gothic"/>
              </a:rPr>
              <a:t>동일</a:t>
            </a:r>
            <a:endParaRPr dirty="0"/>
          </a:p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00" b="0" i="0" u="none" strike="noStrike" cap="none" dirty="0">
              <a:solidFill>
                <a:srgbClr val="475569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 dirty="0">
                <a:solidFill>
                  <a:srgbClr val="DC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▍ </a:t>
            </a:r>
            <a:r>
              <a:rPr lang="en-US" sz="1000" b="1" i="0" u="none" strike="noStrike" cap="none" dirty="0" err="1">
                <a:solidFill>
                  <a:srgbClr val="DC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val</a:t>
            </a:r>
            <a:r>
              <a:rPr lang="en-US" sz="1000" b="1" i="0" u="none" strike="noStrike" cap="none" dirty="0">
                <a:solidFill>
                  <a:srgbClr val="DC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1000" b="1" i="0" u="none" strike="noStrike" cap="none" dirty="0" err="1">
                <a:solidFill>
                  <a:srgbClr val="DC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점수만으로</a:t>
            </a:r>
            <a:r>
              <a:rPr lang="en-US" sz="1000" b="1" i="0" u="none" strike="noStrike" cap="none" dirty="0">
                <a:solidFill>
                  <a:srgbClr val="DC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altLang="en-US" sz="1000" b="1" dirty="0">
                <a:solidFill>
                  <a:srgbClr val="DC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실사용 성능 판단 어려움</a:t>
            </a:r>
            <a:endParaRPr dirty="0"/>
          </a:p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 dirty="0">
                <a:solidFill>
                  <a:srgbClr val="14B8A6"/>
                </a:solidFill>
                <a:latin typeface="Malgun Gothic"/>
                <a:ea typeface="Malgun Gothic"/>
                <a:cs typeface="Malgun Gothic"/>
                <a:sym typeface="Malgun Gothic"/>
              </a:rPr>
              <a:t>→ 33장 </a:t>
            </a:r>
            <a:r>
              <a:rPr lang="ko-KR" altLang="en-US" sz="1000" b="1" i="0" u="none" strike="noStrike" cap="none" dirty="0">
                <a:solidFill>
                  <a:srgbClr val="14B8A6"/>
                </a:solidFill>
                <a:latin typeface="Malgun Gothic"/>
                <a:ea typeface="Malgun Gothic"/>
                <a:cs typeface="Malgun Gothic"/>
                <a:sym typeface="Malgun Gothic"/>
              </a:rPr>
              <a:t>자체</a:t>
            </a:r>
            <a:r>
              <a:rPr lang="en-US" sz="1000" b="1" i="0" u="none" strike="noStrike" cap="none" dirty="0">
                <a:solidFill>
                  <a:srgbClr val="14B8A6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1000" b="1" i="0" u="none" strike="noStrike" cap="none" dirty="0" err="1">
                <a:solidFill>
                  <a:srgbClr val="14B8A6"/>
                </a:solidFill>
                <a:latin typeface="Malgun Gothic"/>
                <a:ea typeface="Malgun Gothic"/>
                <a:cs typeface="Malgun Gothic"/>
                <a:sym typeface="Malgun Gothic"/>
              </a:rPr>
              <a:t>평가셋</a:t>
            </a:r>
            <a:r>
              <a:rPr lang="en-US" sz="1000" b="1" i="0" u="none" strike="noStrike" cap="none" dirty="0">
                <a:solidFill>
                  <a:srgbClr val="14B8A6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1000" b="1" i="0" u="none" strike="noStrike" cap="none" dirty="0" err="1">
                <a:solidFill>
                  <a:srgbClr val="14B8A6"/>
                </a:solidFill>
                <a:latin typeface="Malgun Gothic"/>
                <a:ea typeface="Malgun Gothic"/>
                <a:cs typeface="Malgun Gothic"/>
                <a:sym typeface="Malgun Gothic"/>
              </a:rPr>
              <a:t>도입</a:t>
            </a:r>
            <a:endParaRPr dirty="0"/>
          </a:p>
        </p:txBody>
      </p:sp>
      <p:sp>
        <p:nvSpPr>
          <p:cNvPr id="290" name="Google Shape;290;p20"/>
          <p:cNvSpPr txBox="1"/>
          <p:nvPr/>
        </p:nvSpPr>
        <p:spPr>
          <a:xfrm>
            <a:off x="4297680" y="914400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14B8A6"/>
                </a:solidFill>
                <a:latin typeface="Malgun Gothic"/>
                <a:ea typeface="Malgun Gothic"/>
                <a:cs typeface="Malgun Gothic"/>
                <a:sym typeface="Malgun Gothic"/>
              </a:rPr>
              <a:t>yolov8n 학습 곡선 — val mAP 천장 시그널</a:t>
            </a:r>
            <a:endParaRPr/>
          </a:p>
        </p:txBody>
      </p:sp>
      <p:pic>
        <p:nvPicPr>
          <p:cNvPr id="291" name="Google Shape;291;p20" descr="06_aug_ablation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297680" y="1303020"/>
            <a:ext cx="4572000" cy="2286000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p20"/>
          <p:cNvSpPr txBox="1"/>
          <p:nvPr/>
        </p:nvSpPr>
        <p:spPr>
          <a:xfrm>
            <a:off x="4297680" y="3657600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1" u="none" strike="noStrike" cap="none">
                <a:solidFill>
                  <a:srgbClr val="475569"/>
                </a:solidFill>
                <a:latin typeface="Malgun Gothic"/>
                <a:ea typeface="Malgun Gothic"/>
                <a:cs typeface="Malgun Gothic"/>
                <a:sym typeface="Malgun Gothic"/>
              </a:rPr>
              <a:t>metrics/mAP50 epoch 5에서 0.985 도달 후 평탄</a:t>
            </a:r>
            <a:endParaRPr/>
          </a:p>
        </p:txBody>
      </p:sp>
      <p:sp>
        <p:nvSpPr>
          <p:cNvPr id="293" name="Google Shape;293;p20"/>
          <p:cNvSpPr/>
          <p:nvPr/>
        </p:nvSpPr>
        <p:spPr>
          <a:xfrm>
            <a:off x="4297680" y="4023360"/>
            <a:ext cx="4572000" cy="73152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20"/>
          <p:cNvSpPr txBox="1"/>
          <p:nvPr/>
        </p:nvSpPr>
        <p:spPr>
          <a:xfrm>
            <a:off x="4434840" y="4114800"/>
            <a:ext cx="4297680" cy="4728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dirty="0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Val</a:t>
            </a:r>
            <a:r>
              <a:rPr lang="ko-KR" altLang="en-US" sz="1100" b="1" dirty="0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 성능은 이미 천장에 가까움</a:t>
            </a:r>
            <a:endParaRPr lang="en-US" altLang="ko-KR" sz="1100" b="1" dirty="0">
              <a:solidFill>
                <a:srgbClr val="1E293B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 dirty="0">
                <a:solidFill>
                  <a:srgbClr val="475569"/>
                </a:solidFill>
                <a:latin typeface="Malgun Gothic"/>
                <a:ea typeface="Malgun Gothic"/>
                <a:cs typeface="Malgun Gothic"/>
                <a:sym typeface="Malgun Gothic"/>
              </a:rPr>
              <a:t>→ </a:t>
            </a:r>
            <a:r>
              <a:rPr lang="ko-KR" altLang="en-US" sz="900" b="0" i="0" u="none" strike="noStrike" cap="none" dirty="0">
                <a:solidFill>
                  <a:srgbClr val="475569"/>
                </a:solidFill>
                <a:latin typeface="Malgun Gothic"/>
                <a:ea typeface="Malgun Gothic"/>
                <a:cs typeface="Malgun Gothic"/>
                <a:sym typeface="Malgun Gothic"/>
              </a:rPr>
              <a:t>실제 촬영 환경에 가까운 평가 기준 필요</a:t>
            </a:r>
            <a:endParaRPr dirty="0"/>
          </a:p>
        </p:txBody>
      </p:sp>
      <p:sp>
        <p:nvSpPr>
          <p:cNvPr id="295" name="Google Shape;295;p20"/>
          <p:cNvSpPr txBox="1"/>
          <p:nvPr/>
        </p:nvSpPr>
        <p:spPr>
          <a:xfrm>
            <a:off x="365760" y="4846320"/>
            <a:ext cx="36576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94A3B8"/>
                </a:solidFill>
                <a:latin typeface="Malgun Gothic"/>
                <a:ea typeface="Malgun Gothic"/>
                <a:cs typeface="Malgun Gothic"/>
                <a:sym typeface="Malgun Gothic"/>
              </a:rPr>
              <a:t>HealthEat · 3팀</a:t>
            </a:r>
            <a:endParaRPr/>
          </a:p>
        </p:txBody>
      </p:sp>
      <p:sp>
        <p:nvSpPr>
          <p:cNvPr id="296" name="Google Shape;296;p20"/>
          <p:cNvSpPr txBox="1"/>
          <p:nvPr/>
        </p:nvSpPr>
        <p:spPr>
          <a:xfrm>
            <a:off x="5486400" y="4846320"/>
            <a:ext cx="3291840" cy="2112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dirty="0">
                <a:solidFill>
                  <a:srgbClr val="94A3B8"/>
                </a:solidFill>
                <a:latin typeface="Malgun Gothic"/>
                <a:ea typeface="Malgun Gothic"/>
                <a:cs typeface="Malgun Gothic"/>
                <a:sym typeface="Malgun Gothic"/>
              </a:rPr>
              <a:t>8</a:t>
            </a:r>
            <a:r>
              <a:rPr lang="en-US" sz="900" b="0" i="0" u="none" strike="noStrike" cap="none" dirty="0">
                <a:solidFill>
                  <a:srgbClr val="94A3B8"/>
                </a:solidFill>
                <a:latin typeface="Malgun Gothic"/>
                <a:ea typeface="Malgun Gothic"/>
                <a:cs typeface="Malgun Gothic"/>
                <a:sym typeface="Malgun Gothic"/>
              </a:rPr>
              <a:t> / </a:t>
            </a:r>
            <a:r>
              <a:rPr lang="en-US" sz="900" dirty="0">
                <a:solidFill>
                  <a:srgbClr val="94A3B8"/>
                </a:solidFill>
                <a:latin typeface="Malgun Gothic"/>
                <a:ea typeface="Malgun Gothic"/>
                <a:cs typeface="Malgun Gothic"/>
                <a:sym typeface="Malgun Gothic"/>
              </a:rPr>
              <a:t>17</a:t>
            </a:r>
            <a:endParaRPr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21"/>
          <p:cNvSpPr/>
          <p:nvPr/>
        </p:nvSpPr>
        <p:spPr>
          <a:xfrm>
            <a:off x="365760" y="292608"/>
            <a:ext cx="292608" cy="292608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21"/>
          <p:cNvSpPr txBox="1"/>
          <p:nvPr/>
        </p:nvSpPr>
        <p:spPr>
          <a:xfrm>
            <a:off x="365760" y="317922"/>
            <a:ext cx="292608" cy="241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/>
                <a:ea typeface="Malgun Gothic"/>
                <a:sym typeface="Malgun Gothic"/>
              </a:rPr>
              <a:t>04</a:t>
            </a:r>
            <a:endParaRPr dirty="0"/>
          </a:p>
        </p:txBody>
      </p:sp>
      <p:sp>
        <p:nvSpPr>
          <p:cNvPr id="303" name="Google Shape;303;p21"/>
          <p:cNvSpPr txBox="1"/>
          <p:nvPr/>
        </p:nvSpPr>
        <p:spPr>
          <a:xfrm>
            <a:off x="777240" y="271532"/>
            <a:ext cx="7772400" cy="380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YOLOv8n </a:t>
            </a:r>
            <a:r>
              <a:rPr lang="ko-KR" altLang="en-US" sz="2000" b="1" dirty="0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베이스라인</a:t>
            </a:r>
            <a:r>
              <a:rPr lang="en-US" sz="2000" b="1" i="0" u="none" strike="noStrike" cap="none" dirty="0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 — Kaggle </a:t>
            </a:r>
            <a:r>
              <a:rPr lang="en-US" sz="2000" b="1" i="0" u="none" strike="noStrike" cap="none" dirty="0" err="1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점수</a:t>
            </a:r>
            <a:endParaRPr dirty="0"/>
          </a:p>
        </p:txBody>
      </p:sp>
      <p:sp>
        <p:nvSpPr>
          <p:cNvPr id="304" name="Google Shape;304;p21"/>
          <p:cNvSpPr/>
          <p:nvPr/>
        </p:nvSpPr>
        <p:spPr>
          <a:xfrm>
            <a:off x="365760" y="731520"/>
            <a:ext cx="8412480" cy="80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21"/>
          <p:cNvSpPr txBox="1"/>
          <p:nvPr/>
        </p:nvSpPr>
        <p:spPr>
          <a:xfrm>
            <a:off x="457200" y="914400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14B8A6"/>
                </a:solidFill>
                <a:latin typeface="Malgun Gothic"/>
                <a:ea typeface="Malgun Gothic"/>
                <a:cs typeface="Malgun Gothic"/>
                <a:sym typeface="Malgun Gothic"/>
              </a:rPr>
              <a:t>베이스라인 결과</a:t>
            </a:r>
            <a:endParaRPr/>
          </a:p>
        </p:txBody>
      </p:sp>
      <p:sp>
        <p:nvSpPr>
          <p:cNvPr id="306" name="Google Shape;306;p21"/>
          <p:cNvSpPr/>
          <p:nvPr/>
        </p:nvSpPr>
        <p:spPr>
          <a:xfrm>
            <a:off x="457200" y="1371600"/>
            <a:ext cx="1828800" cy="1463040"/>
          </a:xfrm>
          <a:prstGeom prst="roundRect">
            <a:avLst>
              <a:gd name="adj" fmla="val 10000"/>
            </a:avLst>
          </a:prstGeom>
          <a:solidFill>
            <a:srgbClr val="115E5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21"/>
          <p:cNvSpPr txBox="1"/>
          <p:nvPr/>
        </p:nvSpPr>
        <p:spPr>
          <a:xfrm>
            <a:off x="457200" y="1463040"/>
            <a:ext cx="1828800" cy="2265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 dirty="0" err="1">
                <a:solidFill>
                  <a:srgbClr val="CBD5E1"/>
                </a:solidFill>
                <a:latin typeface="Malgun Gothic"/>
                <a:ea typeface="Malgun Gothic"/>
                <a:cs typeface="Malgun Gothic"/>
                <a:sym typeface="Malgun Gothic"/>
              </a:rPr>
              <a:t>val</a:t>
            </a:r>
            <a:r>
              <a:rPr lang="en-US" sz="1000" b="0" i="0" u="none" strike="noStrike" cap="none" dirty="0">
                <a:solidFill>
                  <a:srgbClr val="CBD5E1"/>
                </a:solidFill>
                <a:latin typeface="Malgun Gothic"/>
                <a:ea typeface="Malgun Gothic"/>
                <a:cs typeface="Malgun Gothic"/>
                <a:sym typeface="Malgun Gothic"/>
              </a:rPr>
              <a:t> mAP@0.5</a:t>
            </a:r>
            <a:endParaRPr dirty="0"/>
          </a:p>
        </p:txBody>
      </p:sp>
      <p:sp>
        <p:nvSpPr>
          <p:cNvPr id="308" name="Google Shape;308;p21"/>
          <p:cNvSpPr txBox="1"/>
          <p:nvPr/>
        </p:nvSpPr>
        <p:spPr>
          <a:xfrm>
            <a:off x="457200" y="1783080"/>
            <a:ext cx="18288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0.985</a:t>
            </a:r>
            <a:endParaRPr/>
          </a:p>
        </p:txBody>
      </p:sp>
      <p:sp>
        <p:nvSpPr>
          <p:cNvPr id="309" name="Google Shape;309;p21"/>
          <p:cNvSpPr txBox="1"/>
          <p:nvPr/>
        </p:nvSpPr>
        <p:spPr>
          <a:xfrm>
            <a:off x="457200" y="2468880"/>
            <a:ext cx="1828800" cy="2112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 dirty="0">
                <a:solidFill>
                  <a:srgbClr val="CBD5E1"/>
                </a:solidFill>
                <a:latin typeface="Malgun Gothic"/>
                <a:ea typeface="Malgun Gothic"/>
                <a:cs typeface="Malgun Gothic"/>
                <a:sym typeface="Malgun Gothic"/>
              </a:rPr>
              <a:t>YOLOv8n </a:t>
            </a:r>
            <a:r>
              <a:rPr lang="en-US" sz="900" b="0" i="0" u="none" strike="noStrike" cap="none" dirty="0" err="1">
                <a:solidFill>
                  <a:srgbClr val="CBD5E1"/>
                </a:solidFill>
                <a:latin typeface="Malgun Gothic"/>
                <a:ea typeface="Malgun Gothic"/>
                <a:cs typeface="Malgun Gothic"/>
                <a:sym typeface="Malgun Gothic"/>
              </a:rPr>
              <a:t>no_aug</a:t>
            </a:r>
            <a:endParaRPr dirty="0"/>
          </a:p>
        </p:txBody>
      </p:sp>
      <p:sp>
        <p:nvSpPr>
          <p:cNvPr id="310" name="Google Shape;310;p21"/>
          <p:cNvSpPr/>
          <p:nvPr/>
        </p:nvSpPr>
        <p:spPr>
          <a:xfrm>
            <a:off x="2377440" y="1371600"/>
            <a:ext cx="1828800" cy="1463040"/>
          </a:xfrm>
          <a:prstGeom prst="roundRect">
            <a:avLst>
              <a:gd name="adj" fmla="val 10000"/>
            </a:avLst>
          </a:prstGeom>
          <a:solidFill>
            <a:srgbClr val="14B8A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21"/>
          <p:cNvSpPr txBox="1"/>
          <p:nvPr/>
        </p:nvSpPr>
        <p:spPr>
          <a:xfrm>
            <a:off x="2377440" y="146304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Kaggle Score</a:t>
            </a:r>
            <a:endParaRPr/>
          </a:p>
        </p:txBody>
      </p:sp>
      <p:sp>
        <p:nvSpPr>
          <p:cNvPr id="312" name="Google Shape;312;p21"/>
          <p:cNvSpPr txBox="1"/>
          <p:nvPr/>
        </p:nvSpPr>
        <p:spPr>
          <a:xfrm>
            <a:off x="2377440" y="1783080"/>
            <a:ext cx="18288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0.985</a:t>
            </a:r>
            <a:endParaRPr/>
          </a:p>
        </p:txBody>
      </p:sp>
      <p:sp>
        <p:nvSpPr>
          <p:cNvPr id="313" name="Google Shape;313;p21"/>
          <p:cNvSpPr txBox="1"/>
          <p:nvPr/>
        </p:nvSpPr>
        <p:spPr>
          <a:xfrm>
            <a:off x="2377440" y="2468880"/>
            <a:ext cx="1828800" cy="2112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 dirty="0" err="1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mAP</a:t>
            </a:r>
            <a:r>
              <a:rPr lang="en-US" sz="900" b="0" i="0" u="none" strike="noStrike" cap="none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@[0.75:0.95]</a:t>
            </a:r>
            <a:endParaRPr dirty="0"/>
          </a:p>
        </p:txBody>
      </p:sp>
      <p:sp>
        <p:nvSpPr>
          <p:cNvPr id="314" name="Google Shape;314;p21"/>
          <p:cNvSpPr txBox="1"/>
          <p:nvPr/>
        </p:nvSpPr>
        <p:spPr>
          <a:xfrm>
            <a:off x="457200" y="3017520"/>
            <a:ext cx="3840480" cy="1554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 dirty="0" err="1">
                <a:solidFill>
                  <a:srgbClr val="14B8A6"/>
                </a:solidFill>
                <a:latin typeface="Malgun Gothic"/>
                <a:ea typeface="Malgun Gothic"/>
                <a:cs typeface="Malgun Gothic"/>
                <a:sym typeface="Malgun Gothic"/>
              </a:rPr>
              <a:t>학습</a:t>
            </a:r>
            <a:r>
              <a:rPr lang="en-US" sz="1200" b="1" i="0" u="none" strike="noStrike" cap="none" dirty="0">
                <a:solidFill>
                  <a:srgbClr val="14B8A6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1200" b="1" i="0" u="none" strike="noStrike" cap="none" dirty="0" err="1">
                <a:solidFill>
                  <a:srgbClr val="14B8A6"/>
                </a:solidFill>
                <a:latin typeface="Malgun Gothic"/>
                <a:ea typeface="Malgun Gothic"/>
                <a:cs typeface="Malgun Gothic"/>
                <a:sym typeface="Malgun Gothic"/>
              </a:rPr>
              <a:t>사양</a:t>
            </a:r>
            <a:endParaRPr dirty="0"/>
          </a:p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 dirty="0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• </a:t>
            </a:r>
            <a:r>
              <a:rPr lang="en-US" sz="1000" b="0" i="0" u="none" strike="noStrike" cap="none" dirty="0" err="1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모델</a:t>
            </a:r>
            <a:r>
              <a:rPr lang="en-US" sz="1000" b="0" i="0" u="none" strike="noStrike" cap="none" dirty="0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: YOLOv8n (</a:t>
            </a:r>
            <a:r>
              <a:rPr lang="en-US" sz="1000" b="0" i="0" u="none" strike="noStrike" cap="none" dirty="0" err="1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Ultralytics</a:t>
            </a:r>
            <a:r>
              <a:rPr lang="en-US" sz="1000" b="0" i="0" u="none" strike="noStrike" cap="none" dirty="0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)</a:t>
            </a:r>
            <a:endParaRPr dirty="0"/>
          </a:p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 dirty="0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• </a:t>
            </a:r>
            <a:r>
              <a:rPr lang="en-US" sz="1000" b="0" i="0" u="none" strike="noStrike" cap="none" dirty="0" err="1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imgsz</a:t>
            </a:r>
            <a:r>
              <a:rPr lang="en-US" sz="1000" b="0" i="0" u="none" strike="noStrike" cap="none" dirty="0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: 640, batch: 16, epochs: 15</a:t>
            </a:r>
            <a:endParaRPr dirty="0"/>
          </a:p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 dirty="0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• seed: 42, optimizer: SGD (default)</a:t>
            </a:r>
            <a:endParaRPr dirty="0"/>
          </a:p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 dirty="0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• </a:t>
            </a:r>
            <a:r>
              <a:rPr lang="en-US" sz="1000" b="0" i="0" u="none" strike="noStrike" cap="none" dirty="0" err="1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환경</a:t>
            </a:r>
            <a:r>
              <a:rPr lang="en-US" sz="1000" b="0" i="0" u="none" strike="noStrike" cap="none" dirty="0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: </a:t>
            </a:r>
            <a:r>
              <a:rPr lang="en-US" sz="1000" b="0" i="0" u="none" strike="noStrike" cap="none" dirty="0" err="1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Colab</a:t>
            </a:r>
            <a:r>
              <a:rPr lang="en-US" sz="1000" b="0" i="0" u="none" strike="noStrike" cap="none" dirty="0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 Pro A100 GPU</a:t>
            </a:r>
            <a:endParaRPr dirty="0"/>
          </a:p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 dirty="0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• </a:t>
            </a:r>
            <a:r>
              <a:rPr lang="en-US" sz="1000" b="0" i="0" u="none" strike="noStrike" cap="none" dirty="0" err="1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학습</a:t>
            </a:r>
            <a:r>
              <a:rPr lang="en-US" sz="1000" b="0" i="0" u="none" strike="noStrike" cap="none" dirty="0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1000" b="0" i="0" u="none" strike="noStrike" cap="none" dirty="0" err="1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시간</a:t>
            </a:r>
            <a:r>
              <a:rPr lang="en-US" sz="1000" b="0" i="0" u="none" strike="noStrike" cap="none" dirty="0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: 약 31분</a:t>
            </a:r>
            <a:endParaRPr dirty="0"/>
          </a:p>
        </p:txBody>
      </p:sp>
      <p:pic>
        <p:nvPicPr>
          <p:cNvPr id="315" name="Google Shape;315;p21" descr="07_yolov8n_PR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72000" y="1081689"/>
            <a:ext cx="2103120" cy="1402781"/>
          </a:xfrm>
          <a:prstGeom prst="rect">
            <a:avLst/>
          </a:prstGeom>
          <a:noFill/>
          <a:ln>
            <a:noFill/>
          </a:ln>
        </p:spPr>
      </p:pic>
      <p:pic>
        <p:nvPicPr>
          <p:cNvPr id="316" name="Google Shape;316;p21" descr="07_yolov8n_F1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766560" y="1112185"/>
            <a:ext cx="2011680" cy="134179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7" name="Google Shape;317;p21" descr="07_yolov8n_confusion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572000" y="2868930"/>
            <a:ext cx="2103120" cy="157734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8" name="Google Shape;318;p21" descr="07_yolov8n_iou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766560" y="3067172"/>
            <a:ext cx="2011680" cy="1180856"/>
          </a:xfrm>
          <a:prstGeom prst="rect">
            <a:avLst/>
          </a:prstGeom>
          <a:noFill/>
          <a:ln>
            <a:noFill/>
          </a:ln>
        </p:spPr>
      </p:pic>
      <p:sp>
        <p:nvSpPr>
          <p:cNvPr id="319" name="Google Shape;319;p21"/>
          <p:cNvSpPr txBox="1"/>
          <p:nvPr/>
        </p:nvSpPr>
        <p:spPr>
          <a:xfrm>
            <a:off x="365760" y="4846320"/>
            <a:ext cx="36576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94A3B8"/>
                </a:solidFill>
                <a:latin typeface="Malgun Gothic"/>
                <a:ea typeface="Malgun Gothic"/>
                <a:cs typeface="Malgun Gothic"/>
                <a:sym typeface="Malgun Gothic"/>
              </a:rPr>
              <a:t>HealthEat · 3팀</a:t>
            </a:r>
            <a:endParaRPr/>
          </a:p>
        </p:txBody>
      </p:sp>
      <p:sp>
        <p:nvSpPr>
          <p:cNvPr id="320" name="Google Shape;320;p21"/>
          <p:cNvSpPr txBox="1"/>
          <p:nvPr/>
        </p:nvSpPr>
        <p:spPr>
          <a:xfrm>
            <a:off x="5486400" y="4846320"/>
            <a:ext cx="3291840" cy="2112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 dirty="0">
                <a:solidFill>
                  <a:srgbClr val="94A3B8"/>
                </a:solidFill>
                <a:latin typeface="Malgun Gothic"/>
                <a:ea typeface="Malgun Gothic"/>
                <a:cs typeface="Malgun Gothic"/>
                <a:sym typeface="Malgun Gothic"/>
              </a:rPr>
              <a:t>9 / 17</a:t>
            </a:r>
            <a:endParaRPr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23"/>
          <p:cNvSpPr/>
          <p:nvPr/>
        </p:nvSpPr>
        <p:spPr>
          <a:xfrm>
            <a:off x="365760" y="292608"/>
            <a:ext cx="292608" cy="292608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23"/>
          <p:cNvSpPr txBox="1"/>
          <p:nvPr/>
        </p:nvSpPr>
        <p:spPr>
          <a:xfrm>
            <a:off x="365760" y="317922"/>
            <a:ext cx="292608" cy="241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/>
                <a:ea typeface="Malgun Gothic"/>
                <a:sym typeface="Malgun Gothic"/>
              </a:rPr>
              <a:t>05</a:t>
            </a:r>
            <a:endParaRPr dirty="0"/>
          </a:p>
        </p:txBody>
      </p:sp>
      <p:sp>
        <p:nvSpPr>
          <p:cNvPr id="354" name="Google Shape;354;p23"/>
          <p:cNvSpPr txBox="1"/>
          <p:nvPr/>
        </p:nvSpPr>
        <p:spPr>
          <a:xfrm>
            <a:off x="777240" y="271532"/>
            <a:ext cx="7772400" cy="380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 err="1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모델 비교 — 8개 후보 → RTMDet 선정</a:t>
            </a:r>
            <a:endParaRPr dirty="0"/>
          </a:p>
        </p:txBody>
      </p:sp>
      <p:sp>
        <p:nvSpPr>
          <p:cNvPr id="355" name="Google Shape;355;p23"/>
          <p:cNvSpPr/>
          <p:nvPr/>
        </p:nvSpPr>
        <p:spPr>
          <a:xfrm>
            <a:off x="365760" y="731520"/>
            <a:ext cx="8412480" cy="80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23"/>
          <p:cNvSpPr txBox="1"/>
          <p:nvPr/>
        </p:nvSpPr>
        <p:spPr>
          <a:xfrm>
            <a:off x="457200" y="955548"/>
            <a:ext cx="8321040" cy="2573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t" anchorCtr="0">
            <a:spAutoFit/>
          </a:bodyPr>
          <a:lstStyle/>
          <a:p>
            <a:pPr lvl="0"/>
            <a:r>
              <a:rPr lang="en-US" sz="1200" b="0" i="0" u="none" strike="noStrike" cap="none" dirty="0">
                <a:solidFill>
                  <a:srgbClr val="475569"/>
                </a:solidFill>
                <a:latin typeface="Malgun Gothic"/>
                <a:ea typeface="Malgun Gothic"/>
                <a:cs typeface="Malgun Gothic"/>
                <a:sym typeface="Malgun Gothic"/>
              </a:rPr>
              <a:t>33장 자체 평가셋 기준 (정답 47개, 1개 ≈ 2.1%p)</a:t>
            </a:r>
            <a:endParaRPr dirty="0"/>
          </a:p>
        </p:txBody>
      </p:sp>
      <p:sp>
        <p:nvSpPr>
          <p:cNvPr id="357" name="Google Shape;357;p23"/>
          <p:cNvSpPr/>
          <p:nvPr/>
        </p:nvSpPr>
        <p:spPr>
          <a:xfrm>
            <a:off x="457200" y="1371600"/>
            <a:ext cx="8321040" cy="329184"/>
          </a:xfrm>
          <a:prstGeom prst="rect">
            <a:avLst/>
          </a:prstGeom>
          <a:solidFill>
            <a:srgbClr val="115E5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23"/>
          <p:cNvSpPr txBox="1"/>
          <p:nvPr/>
        </p:nvSpPr>
        <p:spPr>
          <a:xfrm>
            <a:off x="457200" y="1371600"/>
            <a:ext cx="228600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  모델</a:t>
            </a:r>
            <a:endParaRPr/>
          </a:p>
        </p:txBody>
      </p:sp>
      <p:sp>
        <p:nvSpPr>
          <p:cNvPr id="359" name="Google Shape;359;p23"/>
          <p:cNvSpPr txBox="1"/>
          <p:nvPr/>
        </p:nvSpPr>
        <p:spPr>
          <a:xfrm>
            <a:off x="2743200" y="1371600"/>
            <a:ext cx="118872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1순위 </a:t>
            </a:r>
            <a:r>
              <a:rPr lang="en-US" sz="1000" b="1" i="0" u="none" strike="noStrike" cap="none" dirty="0" err="1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정답률</a:t>
            </a:r>
            <a:endParaRPr dirty="0"/>
          </a:p>
        </p:txBody>
      </p:sp>
      <p:sp>
        <p:nvSpPr>
          <p:cNvPr id="360" name="Google Shape;360;p23"/>
          <p:cNvSpPr txBox="1"/>
          <p:nvPr/>
        </p:nvSpPr>
        <p:spPr>
          <a:xfrm>
            <a:off x="3931920" y="1371600"/>
            <a:ext cx="118872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3순위 내 정답률</a:t>
            </a:r>
            <a:endParaRPr/>
          </a:p>
        </p:txBody>
      </p:sp>
      <p:sp>
        <p:nvSpPr>
          <p:cNvPr id="361" name="Google Shape;361;p23"/>
          <p:cNvSpPr txBox="1"/>
          <p:nvPr/>
        </p:nvSpPr>
        <p:spPr>
          <a:xfrm>
            <a:off x="5120640" y="1422896"/>
            <a:ext cx="1188720" cy="2265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/>
                <a:ea typeface="Malgun Gothic"/>
                <a:sym typeface="Malgun Gothic"/>
              </a:rPr>
              <a:t>Detection</a:t>
            </a:r>
            <a:endParaRPr dirty="0"/>
          </a:p>
        </p:txBody>
      </p:sp>
      <p:sp>
        <p:nvSpPr>
          <p:cNvPr id="362" name="Google Shape;362;p23"/>
          <p:cNvSpPr txBox="1"/>
          <p:nvPr/>
        </p:nvSpPr>
        <p:spPr>
          <a:xfrm>
            <a:off x="6309360" y="1371600"/>
            <a:ext cx="118872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모델 크기</a:t>
            </a:r>
            <a:endParaRPr/>
          </a:p>
        </p:txBody>
      </p:sp>
      <p:sp>
        <p:nvSpPr>
          <p:cNvPr id="363" name="Google Shape;363;p23"/>
          <p:cNvSpPr txBox="1"/>
          <p:nvPr/>
        </p:nvSpPr>
        <p:spPr>
          <a:xfrm>
            <a:off x="7498080" y="1371600"/>
            <a:ext cx="128016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처리 속도 (GPU)</a:t>
            </a:r>
            <a:endParaRPr/>
          </a:p>
        </p:txBody>
      </p:sp>
      <p:sp>
        <p:nvSpPr>
          <p:cNvPr id="364" name="Google Shape;364;p23"/>
          <p:cNvSpPr/>
          <p:nvPr/>
        </p:nvSpPr>
        <p:spPr>
          <a:xfrm>
            <a:off x="457200" y="1700784"/>
            <a:ext cx="8321040" cy="329184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23"/>
          <p:cNvSpPr txBox="1"/>
          <p:nvPr/>
        </p:nvSpPr>
        <p:spPr>
          <a:xfrm>
            <a:off x="457200" y="1700784"/>
            <a:ext cx="228600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  YOLOv8n</a:t>
            </a:r>
            <a:endParaRPr/>
          </a:p>
        </p:txBody>
      </p:sp>
      <p:sp>
        <p:nvSpPr>
          <p:cNvPr id="366" name="Google Shape;366;p23"/>
          <p:cNvSpPr txBox="1"/>
          <p:nvPr/>
        </p:nvSpPr>
        <p:spPr>
          <a:xfrm>
            <a:off x="2743200" y="1700784"/>
            <a:ext cx="118872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27.7%</a:t>
            </a:r>
            <a:endParaRPr/>
          </a:p>
        </p:txBody>
      </p:sp>
      <p:sp>
        <p:nvSpPr>
          <p:cNvPr id="367" name="Google Shape;367;p23"/>
          <p:cNvSpPr txBox="1"/>
          <p:nvPr/>
        </p:nvSpPr>
        <p:spPr>
          <a:xfrm>
            <a:off x="3931920" y="1700784"/>
            <a:ext cx="118872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36.2%</a:t>
            </a:r>
            <a:endParaRPr/>
          </a:p>
        </p:txBody>
      </p:sp>
      <p:sp>
        <p:nvSpPr>
          <p:cNvPr id="368" name="Google Shape;368;p23"/>
          <p:cNvSpPr txBox="1"/>
          <p:nvPr/>
        </p:nvSpPr>
        <p:spPr>
          <a:xfrm>
            <a:off x="5120640" y="1700784"/>
            <a:ext cx="118872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91.5%</a:t>
            </a:r>
            <a:endParaRPr/>
          </a:p>
        </p:txBody>
      </p:sp>
      <p:sp>
        <p:nvSpPr>
          <p:cNvPr id="369" name="Google Shape;369;p23"/>
          <p:cNvSpPr txBox="1"/>
          <p:nvPr/>
        </p:nvSpPr>
        <p:spPr>
          <a:xfrm>
            <a:off x="6309360" y="1700784"/>
            <a:ext cx="118872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3.0M</a:t>
            </a:r>
            <a:endParaRPr/>
          </a:p>
        </p:txBody>
      </p:sp>
      <p:sp>
        <p:nvSpPr>
          <p:cNvPr id="370" name="Google Shape;370;p23"/>
          <p:cNvSpPr txBox="1"/>
          <p:nvPr/>
        </p:nvSpPr>
        <p:spPr>
          <a:xfrm>
            <a:off x="7498080" y="1700784"/>
            <a:ext cx="128016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8.5ms</a:t>
            </a:r>
            <a:endParaRPr/>
          </a:p>
        </p:txBody>
      </p:sp>
      <p:sp>
        <p:nvSpPr>
          <p:cNvPr id="371" name="Google Shape;371;p23"/>
          <p:cNvSpPr/>
          <p:nvPr/>
        </p:nvSpPr>
        <p:spPr>
          <a:xfrm>
            <a:off x="457200" y="2029968"/>
            <a:ext cx="8321040" cy="329184"/>
          </a:xfrm>
          <a:prstGeom prst="rect">
            <a:avLst/>
          </a:prstGeom>
          <a:solidFill>
            <a:srgbClr val="F8FAFC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23"/>
          <p:cNvSpPr txBox="1"/>
          <p:nvPr/>
        </p:nvSpPr>
        <p:spPr>
          <a:xfrm>
            <a:off x="457200" y="2029968"/>
            <a:ext cx="228600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 dirty="0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  YOLOv8s</a:t>
            </a:r>
            <a:endParaRPr dirty="0"/>
          </a:p>
        </p:txBody>
      </p:sp>
      <p:sp>
        <p:nvSpPr>
          <p:cNvPr id="373" name="Google Shape;373;p23"/>
          <p:cNvSpPr txBox="1"/>
          <p:nvPr/>
        </p:nvSpPr>
        <p:spPr>
          <a:xfrm>
            <a:off x="2743200" y="2029968"/>
            <a:ext cx="118872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29.8%</a:t>
            </a:r>
            <a:endParaRPr/>
          </a:p>
        </p:txBody>
      </p:sp>
      <p:sp>
        <p:nvSpPr>
          <p:cNvPr id="374" name="Google Shape;374;p23"/>
          <p:cNvSpPr txBox="1"/>
          <p:nvPr/>
        </p:nvSpPr>
        <p:spPr>
          <a:xfrm>
            <a:off x="3931920" y="2029968"/>
            <a:ext cx="118872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38.3%</a:t>
            </a:r>
            <a:endParaRPr/>
          </a:p>
        </p:txBody>
      </p:sp>
      <p:sp>
        <p:nvSpPr>
          <p:cNvPr id="375" name="Google Shape;375;p23"/>
          <p:cNvSpPr txBox="1"/>
          <p:nvPr/>
        </p:nvSpPr>
        <p:spPr>
          <a:xfrm>
            <a:off x="5120640" y="2029968"/>
            <a:ext cx="118872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93.6%</a:t>
            </a:r>
            <a:endParaRPr/>
          </a:p>
        </p:txBody>
      </p:sp>
      <p:sp>
        <p:nvSpPr>
          <p:cNvPr id="376" name="Google Shape;376;p23"/>
          <p:cNvSpPr txBox="1"/>
          <p:nvPr/>
        </p:nvSpPr>
        <p:spPr>
          <a:xfrm>
            <a:off x="6309360" y="2029968"/>
            <a:ext cx="118872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11.1M</a:t>
            </a:r>
            <a:endParaRPr/>
          </a:p>
        </p:txBody>
      </p:sp>
      <p:sp>
        <p:nvSpPr>
          <p:cNvPr id="377" name="Google Shape;377;p23"/>
          <p:cNvSpPr txBox="1"/>
          <p:nvPr/>
        </p:nvSpPr>
        <p:spPr>
          <a:xfrm>
            <a:off x="7498080" y="2029968"/>
            <a:ext cx="128016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12ms</a:t>
            </a:r>
            <a:endParaRPr/>
          </a:p>
        </p:txBody>
      </p:sp>
      <p:sp>
        <p:nvSpPr>
          <p:cNvPr id="378" name="Google Shape;378;p23"/>
          <p:cNvSpPr/>
          <p:nvPr/>
        </p:nvSpPr>
        <p:spPr>
          <a:xfrm>
            <a:off x="457200" y="2359152"/>
            <a:ext cx="8321040" cy="329184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23"/>
          <p:cNvSpPr txBox="1"/>
          <p:nvPr/>
        </p:nvSpPr>
        <p:spPr>
          <a:xfrm>
            <a:off x="457200" y="2359152"/>
            <a:ext cx="228600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 dirty="0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  YOLO11n</a:t>
            </a:r>
            <a:endParaRPr dirty="0"/>
          </a:p>
        </p:txBody>
      </p:sp>
      <p:sp>
        <p:nvSpPr>
          <p:cNvPr id="380" name="Google Shape;380;p23"/>
          <p:cNvSpPr txBox="1"/>
          <p:nvPr/>
        </p:nvSpPr>
        <p:spPr>
          <a:xfrm>
            <a:off x="2743200" y="2359152"/>
            <a:ext cx="118872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25.5%</a:t>
            </a:r>
            <a:endParaRPr/>
          </a:p>
        </p:txBody>
      </p:sp>
      <p:sp>
        <p:nvSpPr>
          <p:cNvPr id="381" name="Google Shape;381;p23"/>
          <p:cNvSpPr txBox="1"/>
          <p:nvPr/>
        </p:nvSpPr>
        <p:spPr>
          <a:xfrm>
            <a:off x="3931920" y="2359152"/>
            <a:ext cx="118872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34.0%</a:t>
            </a:r>
            <a:endParaRPr/>
          </a:p>
        </p:txBody>
      </p:sp>
      <p:sp>
        <p:nvSpPr>
          <p:cNvPr id="382" name="Google Shape;382;p23"/>
          <p:cNvSpPr txBox="1"/>
          <p:nvPr/>
        </p:nvSpPr>
        <p:spPr>
          <a:xfrm>
            <a:off x="5120640" y="2359152"/>
            <a:ext cx="118872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89.4%</a:t>
            </a:r>
            <a:endParaRPr/>
          </a:p>
        </p:txBody>
      </p:sp>
      <p:sp>
        <p:nvSpPr>
          <p:cNvPr id="383" name="Google Shape;383;p23"/>
          <p:cNvSpPr txBox="1"/>
          <p:nvPr/>
        </p:nvSpPr>
        <p:spPr>
          <a:xfrm>
            <a:off x="6309360" y="2359152"/>
            <a:ext cx="118872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2.6M</a:t>
            </a:r>
            <a:endParaRPr/>
          </a:p>
        </p:txBody>
      </p:sp>
      <p:sp>
        <p:nvSpPr>
          <p:cNvPr id="384" name="Google Shape;384;p23"/>
          <p:cNvSpPr txBox="1"/>
          <p:nvPr/>
        </p:nvSpPr>
        <p:spPr>
          <a:xfrm>
            <a:off x="7498080" y="2359152"/>
            <a:ext cx="128016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9.0ms</a:t>
            </a:r>
            <a:endParaRPr/>
          </a:p>
        </p:txBody>
      </p:sp>
      <p:sp>
        <p:nvSpPr>
          <p:cNvPr id="385" name="Google Shape;385;p23"/>
          <p:cNvSpPr/>
          <p:nvPr/>
        </p:nvSpPr>
        <p:spPr>
          <a:xfrm>
            <a:off x="457200" y="2688336"/>
            <a:ext cx="8321040" cy="329184"/>
          </a:xfrm>
          <a:prstGeom prst="rect">
            <a:avLst/>
          </a:prstGeom>
          <a:solidFill>
            <a:srgbClr val="F8FAFC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23"/>
          <p:cNvSpPr txBox="1"/>
          <p:nvPr/>
        </p:nvSpPr>
        <p:spPr>
          <a:xfrm>
            <a:off x="457200" y="2688336"/>
            <a:ext cx="228600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 dirty="0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  YOLO11s</a:t>
            </a:r>
            <a:endParaRPr dirty="0"/>
          </a:p>
        </p:txBody>
      </p:sp>
      <p:sp>
        <p:nvSpPr>
          <p:cNvPr id="387" name="Google Shape;387;p23"/>
          <p:cNvSpPr txBox="1"/>
          <p:nvPr/>
        </p:nvSpPr>
        <p:spPr>
          <a:xfrm>
            <a:off x="2743200" y="2688336"/>
            <a:ext cx="118872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 dirty="0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23.4%</a:t>
            </a:r>
            <a:endParaRPr dirty="0"/>
          </a:p>
        </p:txBody>
      </p:sp>
      <p:sp>
        <p:nvSpPr>
          <p:cNvPr id="388" name="Google Shape;388;p23"/>
          <p:cNvSpPr txBox="1"/>
          <p:nvPr/>
        </p:nvSpPr>
        <p:spPr>
          <a:xfrm>
            <a:off x="3931920" y="2688336"/>
            <a:ext cx="118872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 dirty="0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31.9%</a:t>
            </a:r>
            <a:endParaRPr dirty="0"/>
          </a:p>
        </p:txBody>
      </p:sp>
      <p:sp>
        <p:nvSpPr>
          <p:cNvPr id="389" name="Google Shape;389;p23"/>
          <p:cNvSpPr txBox="1"/>
          <p:nvPr/>
        </p:nvSpPr>
        <p:spPr>
          <a:xfrm>
            <a:off x="5120640" y="2688336"/>
            <a:ext cx="118872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87.2%</a:t>
            </a:r>
            <a:endParaRPr/>
          </a:p>
        </p:txBody>
      </p:sp>
      <p:sp>
        <p:nvSpPr>
          <p:cNvPr id="390" name="Google Shape;390;p23"/>
          <p:cNvSpPr txBox="1"/>
          <p:nvPr/>
        </p:nvSpPr>
        <p:spPr>
          <a:xfrm>
            <a:off x="6309360" y="2688336"/>
            <a:ext cx="118872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 dirty="0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9.5M</a:t>
            </a:r>
            <a:endParaRPr dirty="0"/>
          </a:p>
        </p:txBody>
      </p:sp>
      <p:sp>
        <p:nvSpPr>
          <p:cNvPr id="391" name="Google Shape;391;p23"/>
          <p:cNvSpPr txBox="1"/>
          <p:nvPr/>
        </p:nvSpPr>
        <p:spPr>
          <a:xfrm>
            <a:off x="7498080" y="2688336"/>
            <a:ext cx="128016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 dirty="0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18ms</a:t>
            </a:r>
            <a:endParaRPr dirty="0"/>
          </a:p>
        </p:txBody>
      </p:sp>
      <p:sp>
        <p:nvSpPr>
          <p:cNvPr id="392" name="Google Shape;392;p23"/>
          <p:cNvSpPr/>
          <p:nvPr/>
        </p:nvSpPr>
        <p:spPr>
          <a:xfrm>
            <a:off x="457200" y="3017520"/>
            <a:ext cx="8321040" cy="329184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23"/>
          <p:cNvSpPr txBox="1"/>
          <p:nvPr/>
        </p:nvSpPr>
        <p:spPr>
          <a:xfrm>
            <a:off x="457200" y="3017520"/>
            <a:ext cx="228600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 dirty="0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  FRCNN MobileNetV3</a:t>
            </a:r>
            <a:endParaRPr dirty="0"/>
          </a:p>
        </p:txBody>
      </p:sp>
      <p:sp>
        <p:nvSpPr>
          <p:cNvPr id="394" name="Google Shape;394;p23"/>
          <p:cNvSpPr txBox="1"/>
          <p:nvPr/>
        </p:nvSpPr>
        <p:spPr>
          <a:xfrm>
            <a:off x="2743200" y="3017520"/>
            <a:ext cx="118872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15.2%</a:t>
            </a:r>
            <a:endParaRPr/>
          </a:p>
        </p:txBody>
      </p:sp>
      <p:sp>
        <p:nvSpPr>
          <p:cNvPr id="395" name="Google Shape;395;p23"/>
          <p:cNvSpPr txBox="1"/>
          <p:nvPr/>
        </p:nvSpPr>
        <p:spPr>
          <a:xfrm>
            <a:off x="3931920" y="3017520"/>
            <a:ext cx="118872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24.2%</a:t>
            </a:r>
            <a:endParaRPr/>
          </a:p>
        </p:txBody>
      </p:sp>
      <p:sp>
        <p:nvSpPr>
          <p:cNvPr id="396" name="Google Shape;396;p23"/>
          <p:cNvSpPr txBox="1"/>
          <p:nvPr/>
        </p:nvSpPr>
        <p:spPr>
          <a:xfrm>
            <a:off x="5120640" y="3017520"/>
            <a:ext cx="118872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100%</a:t>
            </a:r>
            <a:endParaRPr/>
          </a:p>
        </p:txBody>
      </p:sp>
      <p:sp>
        <p:nvSpPr>
          <p:cNvPr id="397" name="Google Shape;397;p23"/>
          <p:cNvSpPr txBox="1"/>
          <p:nvPr/>
        </p:nvSpPr>
        <p:spPr>
          <a:xfrm>
            <a:off x="6309360" y="3017520"/>
            <a:ext cx="118872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19.5M</a:t>
            </a:r>
            <a:endParaRPr/>
          </a:p>
        </p:txBody>
      </p:sp>
      <p:sp>
        <p:nvSpPr>
          <p:cNvPr id="398" name="Google Shape;398;p23"/>
          <p:cNvSpPr txBox="1"/>
          <p:nvPr/>
        </p:nvSpPr>
        <p:spPr>
          <a:xfrm>
            <a:off x="7498080" y="3017520"/>
            <a:ext cx="128016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85ms</a:t>
            </a:r>
            <a:endParaRPr/>
          </a:p>
        </p:txBody>
      </p:sp>
      <p:sp>
        <p:nvSpPr>
          <p:cNvPr id="399" name="Google Shape;399;p23"/>
          <p:cNvSpPr/>
          <p:nvPr/>
        </p:nvSpPr>
        <p:spPr>
          <a:xfrm>
            <a:off x="457200" y="3346704"/>
            <a:ext cx="8321040" cy="329184"/>
          </a:xfrm>
          <a:prstGeom prst="rect">
            <a:avLst/>
          </a:prstGeom>
          <a:solidFill>
            <a:srgbClr val="F8FAFC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23"/>
          <p:cNvSpPr txBox="1"/>
          <p:nvPr/>
        </p:nvSpPr>
        <p:spPr>
          <a:xfrm>
            <a:off x="457200" y="3346704"/>
            <a:ext cx="228600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 dirty="0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  YOLOX-S</a:t>
            </a:r>
            <a:endParaRPr dirty="0"/>
          </a:p>
        </p:txBody>
      </p:sp>
      <p:sp>
        <p:nvSpPr>
          <p:cNvPr id="401" name="Google Shape;401;p23"/>
          <p:cNvSpPr txBox="1"/>
          <p:nvPr/>
        </p:nvSpPr>
        <p:spPr>
          <a:xfrm>
            <a:off x="2743200" y="3346704"/>
            <a:ext cx="118872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24.2%</a:t>
            </a:r>
            <a:endParaRPr/>
          </a:p>
        </p:txBody>
      </p:sp>
      <p:sp>
        <p:nvSpPr>
          <p:cNvPr id="402" name="Google Shape;402;p23"/>
          <p:cNvSpPr txBox="1"/>
          <p:nvPr/>
        </p:nvSpPr>
        <p:spPr>
          <a:xfrm>
            <a:off x="3931920" y="3346704"/>
            <a:ext cx="118872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33.3%</a:t>
            </a:r>
            <a:endParaRPr/>
          </a:p>
        </p:txBody>
      </p:sp>
      <p:sp>
        <p:nvSpPr>
          <p:cNvPr id="403" name="Google Shape;403;p23"/>
          <p:cNvSpPr txBox="1"/>
          <p:nvPr/>
        </p:nvSpPr>
        <p:spPr>
          <a:xfrm>
            <a:off x="5120640" y="3346704"/>
            <a:ext cx="118872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100%</a:t>
            </a:r>
            <a:endParaRPr/>
          </a:p>
        </p:txBody>
      </p:sp>
      <p:sp>
        <p:nvSpPr>
          <p:cNvPr id="404" name="Google Shape;404;p23"/>
          <p:cNvSpPr txBox="1"/>
          <p:nvPr/>
        </p:nvSpPr>
        <p:spPr>
          <a:xfrm>
            <a:off x="6309360" y="3346704"/>
            <a:ext cx="118872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9.0M</a:t>
            </a:r>
            <a:endParaRPr/>
          </a:p>
        </p:txBody>
      </p:sp>
      <p:sp>
        <p:nvSpPr>
          <p:cNvPr id="405" name="Google Shape;405;p23"/>
          <p:cNvSpPr txBox="1"/>
          <p:nvPr/>
        </p:nvSpPr>
        <p:spPr>
          <a:xfrm>
            <a:off x="7498080" y="3346704"/>
            <a:ext cx="128016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55ms</a:t>
            </a:r>
            <a:endParaRPr/>
          </a:p>
        </p:txBody>
      </p:sp>
      <p:sp>
        <p:nvSpPr>
          <p:cNvPr id="406" name="Google Shape;406;p23"/>
          <p:cNvSpPr/>
          <p:nvPr/>
        </p:nvSpPr>
        <p:spPr>
          <a:xfrm>
            <a:off x="457200" y="3675888"/>
            <a:ext cx="8321040" cy="329184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23"/>
          <p:cNvSpPr txBox="1"/>
          <p:nvPr/>
        </p:nvSpPr>
        <p:spPr>
          <a:xfrm>
            <a:off x="457200" y="3675888"/>
            <a:ext cx="228600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 dirty="0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  RT-DETR</a:t>
            </a:r>
            <a:endParaRPr dirty="0"/>
          </a:p>
        </p:txBody>
      </p:sp>
      <p:sp>
        <p:nvSpPr>
          <p:cNvPr id="408" name="Google Shape;408;p23"/>
          <p:cNvSpPr txBox="1"/>
          <p:nvPr/>
        </p:nvSpPr>
        <p:spPr>
          <a:xfrm>
            <a:off x="2743200" y="3675888"/>
            <a:ext cx="118872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27.7%</a:t>
            </a:r>
            <a:endParaRPr/>
          </a:p>
        </p:txBody>
      </p:sp>
      <p:sp>
        <p:nvSpPr>
          <p:cNvPr id="409" name="Google Shape;409;p23"/>
          <p:cNvSpPr txBox="1"/>
          <p:nvPr/>
        </p:nvSpPr>
        <p:spPr>
          <a:xfrm>
            <a:off x="3931920" y="3675888"/>
            <a:ext cx="118872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36.2%</a:t>
            </a:r>
            <a:endParaRPr/>
          </a:p>
        </p:txBody>
      </p:sp>
      <p:sp>
        <p:nvSpPr>
          <p:cNvPr id="410" name="Google Shape;410;p23"/>
          <p:cNvSpPr txBox="1"/>
          <p:nvPr/>
        </p:nvSpPr>
        <p:spPr>
          <a:xfrm>
            <a:off x="5120640" y="3675888"/>
            <a:ext cx="118872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95.7%</a:t>
            </a:r>
            <a:endParaRPr/>
          </a:p>
        </p:txBody>
      </p:sp>
      <p:sp>
        <p:nvSpPr>
          <p:cNvPr id="411" name="Google Shape;411;p23"/>
          <p:cNvSpPr txBox="1"/>
          <p:nvPr/>
        </p:nvSpPr>
        <p:spPr>
          <a:xfrm>
            <a:off x="6309360" y="3675888"/>
            <a:ext cx="118872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20.0M</a:t>
            </a:r>
            <a:endParaRPr/>
          </a:p>
        </p:txBody>
      </p:sp>
      <p:sp>
        <p:nvSpPr>
          <p:cNvPr id="412" name="Google Shape;412;p23"/>
          <p:cNvSpPr txBox="1"/>
          <p:nvPr/>
        </p:nvSpPr>
        <p:spPr>
          <a:xfrm>
            <a:off x="7498080" y="3675888"/>
            <a:ext cx="128016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42ms</a:t>
            </a:r>
            <a:endParaRPr/>
          </a:p>
        </p:txBody>
      </p:sp>
      <p:sp>
        <p:nvSpPr>
          <p:cNvPr id="413" name="Google Shape;413;p23"/>
          <p:cNvSpPr/>
          <p:nvPr/>
        </p:nvSpPr>
        <p:spPr>
          <a:xfrm>
            <a:off x="457200" y="4005072"/>
            <a:ext cx="8321040" cy="329184"/>
          </a:xfrm>
          <a:prstGeom prst="rect">
            <a:avLst/>
          </a:prstGeom>
          <a:solidFill>
            <a:srgbClr val="14B8A6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23"/>
          <p:cNvSpPr txBox="1"/>
          <p:nvPr/>
        </p:nvSpPr>
        <p:spPr>
          <a:xfrm>
            <a:off x="457200" y="4005072"/>
            <a:ext cx="228600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  ★ </a:t>
            </a:r>
            <a:r>
              <a:rPr lang="en-US" sz="1000" b="1" i="0" u="none" strike="noStrike" cap="none" dirty="0" err="1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RTMDet</a:t>
            </a:r>
            <a:r>
              <a:rPr lang="en-US" sz="1000" b="1" i="0" u="none" strike="noStrike" cap="none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-tiny</a:t>
            </a:r>
            <a:endParaRPr dirty="0"/>
          </a:p>
        </p:txBody>
      </p:sp>
      <p:sp>
        <p:nvSpPr>
          <p:cNvPr id="415" name="Google Shape;415;p23"/>
          <p:cNvSpPr txBox="1"/>
          <p:nvPr/>
        </p:nvSpPr>
        <p:spPr>
          <a:xfrm>
            <a:off x="2743200" y="4005072"/>
            <a:ext cx="118872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29.8%</a:t>
            </a:r>
            <a:endParaRPr/>
          </a:p>
        </p:txBody>
      </p:sp>
      <p:sp>
        <p:nvSpPr>
          <p:cNvPr id="416" name="Google Shape;416;p23"/>
          <p:cNvSpPr txBox="1"/>
          <p:nvPr/>
        </p:nvSpPr>
        <p:spPr>
          <a:xfrm>
            <a:off x="3931920" y="4005072"/>
            <a:ext cx="118872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40.4%</a:t>
            </a:r>
            <a:endParaRPr/>
          </a:p>
        </p:txBody>
      </p:sp>
      <p:sp>
        <p:nvSpPr>
          <p:cNvPr id="417" name="Google Shape;417;p23"/>
          <p:cNvSpPr txBox="1"/>
          <p:nvPr/>
        </p:nvSpPr>
        <p:spPr>
          <a:xfrm>
            <a:off x="5120640" y="4005072"/>
            <a:ext cx="118872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95.7%</a:t>
            </a:r>
            <a:endParaRPr/>
          </a:p>
        </p:txBody>
      </p:sp>
      <p:sp>
        <p:nvSpPr>
          <p:cNvPr id="418" name="Google Shape;418;p23"/>
          <p:cNvSpPr txBox="1"/>
          <p:nvPr/>
        </p:nvSpPr>
        <p:spPr>
          <a:xfrm>
            <a:off x="6309360" y="4005072"/>
            <a:ext cx="118872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4.9M</a:t>
            </a:r>
            <a:endParaRPr/>
          </a:p>
        </p:txBody>
      </p:sp>
      <p:sp>
        <p:nvSpPr>
          <p:cNvPr id="419" name="Google Shape;419;p23"/>
          <p:cNvSpPr txBox="1"/>
          <p:nvPr/>
        </p:nvSpPr>
        <p:spPr>
          <a:xfrm>
            <a:off x="7498080" y="4005072"/>
            <a:ext cx="128016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128ms</a:t>
            </a:r>
            <a:endParaRPr/>
          </a:p>
        </p:txBody>
      </p:sp>
      <p:sp>
        <p:nvSpPr>
          <p:cNvPr id="420" name="Google Shape;420;p23"/>
          <p:cNvSpPr/>
          <p:nvPr/>
        </p:nvSpPr>
        <p:spPr>
          <a:xfrm>
            <a:off x="457200" y="4297680"/>
            <a:ext cx="8321040" cy="50292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9525" cap="flat" cmpd="sng">
            <a:solidFill>
              <a:srgbClr val="14B8A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23"/>
          <p:cNvSpPr txBox="1"/>
          <p:nvPr/>
        </p:nvSpPr>
        <p:spPr>
          <a:xfrm>
            <a:off x="457200" y="4420455"/>
            <a:ext cx="8321040" cy="2573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ctr" anchorCtr="0">
            <a:spAutoFit/>
          </a:bodyPr>
          <a:lstStyle/>
          <a:p>
            <a:pPr lvl="0" algn="ctr"/>
            <a:r>
              <a:rPr lang="en-US" sz="1200" b="1" dirty="0" err="1">
                <a:solidFill>
                  <a:srgbClr val="14B8A6"/>
                </a:solidFill>
                <a:latin typeface="Malgun Gothic"/>
                <a:ea typeface="Malgun Gothic"/>
                <a:cs typeface="Malgun Gothic"/>
                <a:sym typeface="Malgun Gothic"/>
              </a:rPr>
              <a:t>RTMDet</a:t>
            </a:r>
            <a:r>
              <a:rPr lang="en-US" sz="1200" b="1" dirty="0">
                <a:solidFill>
                  <a:srgbClr val="14B8A6"/>
                </a:solidFill>
                <a:latin typeface="Malgun Gothic"/>
                <a:ea typeface="Malgun Gothic"/>
                <a:cs typeface="Malgun Gothic"/>
                <a:sym typeface="Malgun Gothic"/>
              </a:rPr>
              <a:t>-tiny </a:t>
            </a:r>
            <a:r>
              <a:rPr lang="en-US" sz="1200" b="1" dirty="0" err="1">
                <a:solidFill>
                  <a:srgbClr val="14B8A6"/>
                </a:solidFill>
                <a:latin typeface="Malgun Gothic"/>
                <a:ea typeface="Malgun Gothic"/>
                <a:cs typeface="Malgun Gothic"/>
                <a:sym typeface="Malgun Gothic"/>
              </a:rPr>
              <a:t>선정</a:t>
            </a:r>
            <a:r>
              <a:rPr lang="en-US" sz="1200" b="1" dirty="0">
                <a:solidFill>
                  <a:srgbClr val="14B8A6"/>
                </a:solidFill>
                <a:latin typeface="Malgun Gothic"/>
                <a:ea typeface="Malgun Gothic"/>
                <a:cs typeface="Malgun Gothic"/>
                <a:sym typeface="Malgun Gothic"/>
              </a:rPr>
              <a:t> — 1순위 </a:t>
            </a:r>
            <a:r>
              <a:rPr lang="en-US" sz="1200" b="1" dirty="0" err="1">
                <a:solidFill>
                  <a:srgbClr val="14B8A6"/>
                </a:solidFill>
                <a:latin typeface="Malgun Gothic"/>
                <a:ea typeface="Malgun Gothic"/>
                <a:cs typeface="Malgun Gothic"/>
                <a:sym typeface="Malgun Gothic"/>
              </a:rPr>
              <a:t>정답률</a:t>
            </a:r>
            <a:r>
              <a:rPr lang="en-US" sz="1200" b="1" dirty="0">
                <a:solidFill>
                  <a:srgbClr val="14B8A6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1200" b="1" dirty="0" err="1">
                <a:solidFill>
                  <a:srgbClr val="14B8A6"/>
                </a:solidFill>
                <a:latin typeface="Malgun Gothic"/>
                <a:ea typeface="Malgun Gothic"/>
                <a:cs typeface="Malgun Gothic"/>
                <a:sym typeface="Malgun Gothic"/>
              </a:rPr>
              <a:t>공동</a:t>
            </a:r>
            <a:r>
              <a:rPr lang="en-US" sz="1200" b="1" dirty="0">
                <a:solidFill>
                  <a:srgbClr val="14B8A6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1200" b="1" dirty="0" err="1">
                <a:solidFill>
                  <a:srgbClr val="14B8A6"/>
                </a:solidFill>
                <a:latin typeface="Malgun Gothic"/>
                <a:ea typeface="Malgun Gothic"/>
                <a:cs typeface="Malgun Gothic"/>
                <a:sym typeface="Malgun Gothic"/>
              </a:rPr>
              <a:t>최고</a:t>
            </a:r>
            <a:r>
              <a:rPr lang="en-US" sz="1200" b="1" dirty="0">
                <a:solidFill>
                  <a:srgbClr val="14B8A6"/>
                </a:solidFill>
                <a:latin typeface="Malgun Gothic"/>
                <a:ea typeface="Malgun Gothic"/>
                <a:cs typeface="Malgun Gothic"/>
                <a:sym typeface="Malgun Gothic"/>
              </a:rPr>
              <a:t> + 3순위 내 </a:t>
            </a:r>
            <a:r>
              <a:rPr lang="en-US" sz="1200" b="1" dirty="0" err="1">
                <a:solidFill>
                  <a:srgbClr val="14B8A6"/>
                </a:solidFill>
                <a:latin typeface="Malgun Gothic"/>
                <a:ea typeface="Malgun Gothic"/>
                <a:cs typeface="Malgun Gothic"/>
                <a:sym typeface="Malgun Gothic"/>
              </a:rPr>
              <a:t>정답률</a:t>
            </a:r>
            <a:r>
              <a:rPr lang="en-US" sz="1200" b="1" dirty="0">
                <a:solidFill>
                  <a:srgbClr val="14B8A6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1200" b="1" dirty="0" err="1">
                <a:solidFill>
                  <a:srgbClr val="14B8A6"/>
                </a:solidFill>
                <a:latin typeface="Malgun Gothic"/>
                <a:ea typeface="Malgun Gothic"/>
                <a:cs typeface="Malgun Gothic"/>
                <a:sym typeface="Malgun Gothic"/>
              </a:rPr>
              <a:t>최고</a:t>
            </a:r>
            <a:r>
              <a:rPr lang="en-US" sz="1200" b="1" dirty="0">
                <a:solidFill>
                  <a:srgbClr val="14B8A6"/>
                </a:solidFill>
                <a:latin typeface="Malgun Gothic"/>
                <a:ea typeface="Malgun Gothic"/>
                <a:cs typeface="Malgun Gothic"/>
                <a:sym typeface="Malgun Gothic"/>
              </a:rPr>
              <a:t> + </a:t>
            </a:r>
            <a:r>
              <a:rPr lang="en-US" altLang="ko-KR" sz="1200" b="1" dirty="0">
                <a:solidFill>
                  <a:srgbClr val="14B8A6"/>
                </a:solidFill>
                <a:latin typeface="Malgun Gothic"/>
                <a:ea typeface="Malgun Gothic"/>
                <a:cs typeface="Malgun Gothic"/>
                <a:sym typeface="Malgun Gothic"/>
              </a:rPr>
              <a:t>Detection</a:t>
            </a:r>
            <a:r>
              <a:rPr lang="en-US" sz="1200" b="1" dirty="0">
                <a:solidFill>
                  <a:srgbClr val="14B8A6"/>
                </a:solidFill>
                <a:latin typeface="Malgun Gothic"/>
                <a:ea typeface="Malgun Gothic"/>
                <a:cs typeface="Malgun Gothic"/>
                <a:sym typeface="Malgun Gothic"/>
              </a:rPr>
              <a:t> 95.7% + </a:t>
            </a:r>
            <a:r>
              <a:rPr lang="ko-KR" altLang="en-US" sz="1200" b="1" dirty="0">
                <a:solidFill>
                  <a:srgbClr val="14B8A6"/>
                </a:solidFill>
                <a:latin typeface="Malgun Gothic"/>
                <a:ea typeface="Malgun Gothic"/>
                <a:cs typeface="Malgun Gothic"/>
                <a:sym typeface="Malgun Gothic"/>
              </a:rPr>
              <a:t>경량</a:t>
            </a:r>
            <a:r>
              <a:rPr lang="en-US" altLang="ko-KR" sz="1200" b="1" dirty="0">
                <a:solidFill>
                  <a:srgbClr val="14B8A6"/>
                </a:solidFill>
                <a:latin typeface="Malgun Gothic"/>
                <a:ea typeface="Malgun Gothic"/>
                <a:cs typeface="Malgun Gothic"/>
                <a:sym typeface="Malgun Gothic"/>
              </a:rPr>
              <a:t>(4.9M)</a:t>
            </a:r>
            <a:endParaRPr dirty="0"/>
          </a:p>
        </p:txBody>
      </p:sp>
      <p:sp>
        <p:nvSpPr>
          <p:cNvPr id="422" name="Google Shape;422;p23"/>
          <p:cNvSpPr txBox="1"/>
          <p:nvPr/>
        </p:nvSpPr>
        <p:spPr>
          <a:xfrm>
            <a:off x="365760" y="4846320"/>
            <a:ext cx="36576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94A3B8"/>
                </a:solidFill>
                <a:latin typeface="Malgun Gothic"/>
                <a:ea typeface="Malgun Gothic"/>
                <a:cs typeface="Malgun Gothic"/>
                <a:sym typeface="Malgun Gothic"/>
              </a:rPr>
              <a:t>HealthEat · 3팀</a:t>
            </a:r>
            <a:endParaRPr/>
          </a:p>
        </p:txBody>
      </p:sp>
      <p:sp>
        <p:nvSpPr>
          <p:cNvPr id="423" name="Google Shape;423;p23"/>
          <p:cNvSpPr txBox="1"/>
          <p:nvPr/>
        </p:nvSpPr>
        <p:spPr>
          <a:xfrm>
            <a:off x="5486400" y="4846320"/>
            <a:ext cx="3291840" cy="2112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 dirty="0">
                <a:solidFill>
                  <a:srgbClr val="94A3B8"/>
                </a:solidFill>
                <a:latin typeface="Malgun Gothic"/>
                <a:ea typeface="Malgun Gothic"/>
                <a:cs typeface="Malgun Gothic"/>
                <a:sym typeface="Malgun Gothic"/>
              </a:rPr>
              <a:t>10 / 1</a:t>
            </a:r>
            <a:r>
              <a:rPr lang="en-US" sz="900" dirty="0">
                <a:solidFill>
                  <a:srgbClr val="94A3B8"/>
                </a:solidFill>
                <a:latin typeface="Malgun Gothic"/>
                <a:ea typeface="Malgun Gothic"/>
                <a:cs typeface="Malgun Gothic"/>
                <a:sym typeface="Malgun Gothic"/>
              </a:rPr>
              <a:t>7</a:t>
            </a:r>
            <a:endParaRPr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Google Shape;588;p29"/>
          <p:cNvSpPr/>
          <p:nvPr/>
        </p:nvSpPr>
        <p:spPr>
          <a:xfrm>
            <a:off x="365760" y="292608"/>
            <a:ext cx="292608" cy="292608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9" name="Google Shape;589;p29"/>
          <p:cNvSpPr txBox="1"/>
          <p:nvPr/>
        </p:nvSpPr>
        <p:spPr>
          <a:xfrm>
            <a:off x="365760" y="317922"/>
            <a:ext cx="292608" cy="241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/>
                <a:ea typeface="Malgun Gothic"/>
                <a:sym typeface="Malgun Gothic"/>
              </a:rPr>
              <a:t>06</a:t>
            </a:r>
            <a:endParaRPr dirty="0"/>
          </a:p>
        </p:txBody>
      </p:sp>
      <p:sp>
        <p:nvSpPr>
          <p:cNvPr id="590" name="Google Shape;590;p29"/>
          <p:cNvSpPr txBox="1"/>
          <p:nvPr/>
        </p:nvSpPr>
        <p:spPr>
          <a:xfrm>
            <a:off x="777240" y="271532"/>
            <a:ext cx="7772400" cy="380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ctr" anchorCtr="0">
            <a:spAutoFit/>
          </a:bodyPr>
          <a:lstStyle/>
          <a:p>
            <a:pPr lvl="0"/>
            <a:r>
              <a:rPr lang="en-US" altLang="ko-KR" sz="2000" b="1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검출 모델 하나만으로는 부족 — 신뢰성 문제</a:t>
            </a:r>
            <a:endParaRPr dirty="0"/>
          </a:p>
        </p:txBody>
      </p:sp>
      <p:sp>
        <p:nvSpPr>
          <p:cNvPr id="591" name="Google Shape;591;p29"/>
          <p:cNvSpPr/>
          <p:nvPr/>
        </p:nvSpPr>
        <p:spPr>
          <a:xfrm>
            <a:off x="365760" y="731520"/>
            <a:ext cx="8412480" cy="80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92" name="Google Shape;592;p29" descr="14_pin_classes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11250" y="914400"/>
            <a:ext cx="1035100" cy="3657600"/>
          </a:xfrm>
          <a:prstGeom prst="rect">
            <a:avLst/>
          </a:prstGeom>
          <a:noFill/>
          <a:ln>
            <a:noFill/>
          </a:ln>
        </p:spPr>
      </p:pic>
      <p:sp>
        <p:nvSpPr>
          <p:cNvPr id="593" name="Google Shape;593;p29"/>
          <p:cNvSpPr txBox="1"/>
          <p:nvPr/>
        </p:nvSpPr>
        <p:spPr>
          <a:xfrm>
            <a:off x="457200" y="4572000"/>
            <a:ext cx="274320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1" u="none" strike="noStrike" cap="none" dirty="0" err="1">
                <a:solidFill>
                  <a:srgbClr val="475569"/>
                </a:solidFill>
                <a:latin typeface="Malgun Gothic"/>
                <a:ea typeface="Malgun Gothic"/>
                <a:cs typeface="Malgun Gothic"/>
                <a:sym typeface="Malgun Gothic"/>
              </a:rPr>
              <a:t>비슷하게 생긴 알약 — 모델이 구분 못함</a:t>
            </a:r>
            <a:endParaRPr dirty="0"/>
          </a:p>
        </p:txBody>
      </p:sp>
      <p:sp>
        <p:nvSpPr>
          <p:cNvPr id="594" name="Google Shape;594;p29"/>
          <p:cNvSpPr txBox="1"/>
          <p:nvPr/>
        </p:nvSpPr>
        <p:spPr>
          <a:xfrm>
            <a:off x="3383280" y="914400"/>
            <a:ext cx="5486400" cy="2881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t" anchorCtr="0">
            <a:spAutoFit/>
          </a:bodyPr>
          <a:lstStyle/>
          <a:p>
            <a:pPr lvl="0"/>
            <a:r>
              <a:rPr lang="ko-KR" altLang="en-US" b="1">
                <a:solidFill>
                  <a:srgbClr val="DC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검출 모델 하나만으로는 풀기 어려운 두 가지 문제</a:t>
            </a:r>
            <a:endParaRPr/>
          </a:p>
        </p:txBody>
      </p:sp>
      <p:sp>
        <p:nvSpPr>
          <p:cNvPr id="595" name="Google Shape;595;p29"/>
          <p:cNvSpPr txBox="1"/>
          <p:nvPr/>
        </p:nvSpPr>
        <p:spPr>
          <a:xfrm>
            <a:off x="3383280" y="1371600"/>
            <a:ext cx="5486400" cy="2496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t" anchorCtr="0">
            <a:sp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cap="none" dirty="0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▍ 1) 비슷하게 생긴 알약을 헷갈림</a:t>
            </a:r>
            <a:endParaRPr dirty="0"/>
          </a:p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 dirty="0">
                <a:solidFill>
                  <a:srgbClr val="475569"/>
                </a:solidFill>
                <a:latin typeface="Malgun Gothic"/>
                <a:ea typeface="Malgun Gothic"/>
                <a:cs typeface="Malgun Gothic"/>
                <a:sym typeface="Malgun Gothic"/>
              </a:rPr>
              <a:t>70개 사례 분석 — 모델이 알약을 볼 때 보는 부위가 거의 같음 (유사도 99.2%)</a:t>
            </a:r>
            <a:endParaRPr dirty="0"/>
          </a:p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 dirty="0" err="1">
                <a:solidFill>
                  <a:srgbClr val="475569"/>
                </a:solidFill>
                <a:latin typeface="Malgun Gothic"/>
                <a:ea typeface="Malgun Gothic"/>
                <a:cs typeface="Malgun Gothic"/>
                <a:sym typeface="Malgun Gothic"/>
              </a:rPr>
              <a:t>같은 글자가 새겨진 알약끼리 서로 바꿔서 인식하는 패턴 발견</a:t>
            </a:r>
            <a:endParaRPr dirty="0"/>
          </a:p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 dirty="0">
                <a:solidFill>
                  <a:srgbClr val="475569"/>
                </a:solidFill>
                <a:latin typeface="Malgun Gothic"/>
                <a:ea typeface="Malgun Gothic"/>
                <a:cs typeface="Malgun Gothic"/>
                <a:sym typeface="Malgun Gothic"/>
              </a:rPr>
              <a:t>→ 비슷한 두 알약을 서로 헷갈려서 잘못 답함</a:t>
            </a:r>
            <a:endParaRPr dirty="0"/>
          </a:p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 b="0" i="0" u="none" strike="noStrike" cap="none" dirty="0">
              <a:solidFill>
                <a:srgbClr val="475569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cap="none" dirty="0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▍ 2) 알약이 아닌 것도 알약이라 답함</a:t>
            </a:r>
            <a:endParaRPr dirty="0"/>
          </a:p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 dirty="0" err="1">
                <a:solidFill>
                  <a:srgbClr val="475569"/>
                </a:solidFill>
                <a:latin typeface="Malgun Gothic"/>
                <a:ea typeface="Malgun Gothic"/>
                <a:cs typeface="Malgun Gothic"/>
                <a:sym typeface="Malgun Gothic"/>
              </a:rPr>
              <a:t>검출 모델만으로는 "알약 아님"을 명확히 구분하기 어려움</a:t>
            </a:r>
            <a:endParaRPr lang="en-US" sz="1100" dirty="0">
              <a:solidFill>
                <a:srgbClr val="475569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 dirty="0">
                <a:solidFill>
                  <a:srgbClr val="475569"/>
                </a:solidFill>
                <a:latin typeface="Malgun Gothic"/>
                <a:ea typeface="Malgun Gothic"/>
                <a:cs typeface="Malgun Gothic"/>
                <a:sym typeface="Malgun Gothic"/>
              </a:rPr>
              <a:t>→ 잘못된 알약 정보가 사용자에게 전달될 위험</a:t>
            </a:r>
            <a:endParaRPr dirty="0"/>
          </a:p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 b="0" i="0" u="none" strike="noStrike" cap="none" dirty="0">
              <a:solidFill>
                <a:srgbClr val="475569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 b="0" i="0" u="none" strike="noStrike" cap="none" dirty="0">
              <a:solidFill>
                <a:srgbClr val="475569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 dirty="0">
                <a:solidFill>
                  <a:srgbClr val="14B8A6"/>
                </a:solidFill>
                <a:latin typeface="Malgun Gothic"/>
                <a:ea typeface="Malgun Gothic"/>
                <a:cs typeface="Malgun Gothic"/>
                <a:sym typeface="Malgun Gothic"/>
              </a:rPr>
              <a:t>→ 의료 분야는 신뢰성이 안전과 직결됨 → </a:t>
            </a:r>
            <a:r>
              <a:rPr lang="en-US" sz="1200" b="1" dirty="0">
                <a:solidFill>
                  <a:srgbClr val="14B8A6"/>
                </a:solidFill>
                <a:latin typeface="Malgun Gothic"/>
                <a:ea typeface="Malgun Gothic"/>
                <a:cs typeface="Malgun Gothic"/>
                <a:sym typeface="Malgun Gothic"/>
              </a:rPr>
              <a:t>Two-stage </a:t>
            </a:r>
            <a:r>
              <a:rPr lang="ko-KR" altLang="en-US" sz="1200" b="1" dirty="0">
                <a:solidFill>
                  <a:srgbClr val="14B8A6"/>
                </a:solidFill>
                <a:latin typeface="Malgun Gothic"/>
                <a:ea typeface="Malgun Gothic"/>
                <a:cs typeface="Malgun Gothic"/>
                <a:sym typeface="Malgun Gothic"/>
              </a:rPr>
              <a:t>기법 도입</a:t>
            </a:r>
            <a:endParaRPr dirty="0"/>
          </a:p>
        </p:txBody>
      </p:sp>
      <p:sp>
        <p:nvSpPr>
          <p:cNvPr id="596" name="Google Shape;596;p29"/>
          <p:cNvSpPr txBox="1"/>
          <p:nvPr/>
        </p:nvSpPr>
        <p:spPr>
          <a:xfrm>
            <a:off x="365760" y="4846320"/>
            <a:ext cx="36576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94A3B8"/>
                </a:solidFill>
                <a:latin typeface="Malgun Gothic"/>
                <a:ea typeface="Malgun Gothic"/>
                <a:cs typeface="Malgun Gothic"/>
                <a:sym typeface="Malgun Gothic"/>
              </a:rPr>
              <a:t>HealthEat · 3팀</a:t>
            </a:r>
            <a:endParaRPr/>
          </a:p>
        </p:txBody>
      </p:sp>
      <p:sp>
        <p:nvSpPr>
          <p:cNvPr id="597" name="Google Shape;597;p29"/>
          <p:cNvSpPr txBox="1"/>
          <p:nvPr/>
        </p:nvSpPr>
        <p:spPr>
          <a:xfrm>
            <a:off x="5486400" y="4846320"/>
            <a:ext cx="3291840" cy="2112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 dirty="0">
                <a:solidFill>
                  <a:srgbClr val="94A3B8"/>
                </a:solidFill>
                <a:latin typeface="Malgun Gothic"/>
                <a:ea typeface="Malgun Gothic"/>
                <a:cs typeface="Malgun Gothic"/>
                <a:sym typeface="Malgun Gothic"/>
              </a:rPr>
              <a:t>11 / 17</a:t>
            </a:r>
            <a:endParaRPr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Google Shape;602;p30"/>
          <p:cNvSpPr/>
          <p:nvPr/>
        </p:nvSpPr>
        <p:spPr>
          <a:xfrm>
            <a:off x="365760" y="292608"/>
            <a:ext cx="292608" cy="292608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3" name="Google Shape;603;p30"/>
          <p:cNvSpPr txBox="1"/>
          <p:nvPr/>
        </p:nvSpPr>
        <p:spPr>
          <a:xfrm>
            <a:off x="365760" y="317922"/>
            <a:ext cx="292608" cy="241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/>
                <a:ea typeface="Malgun Gothic"/>
                <a:sym typeface="Malgun Gothic"/>
              </a:rPr>
              <a:t>06</a:t>
            </a:r>
            <a:endParaRPr dirty="0"/>
          </a:p>
        </p:txBody>
      </p:sp>
      <p:sp>
        <p:nvSpPr>
          <p:cNvPr id="604" name="Google Shape;604;p30"/>
          <p:cNvSpPr txBox="1"/>
          <p:nvPr/>
        </p:nvSpPr>
        <p:spPr>
          <a:xfrm>
            <a:off x="777240" y="271532"/>
            <a:ext cx="7772400" cy="380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ctr" anchorCtr="0">
            <a:spAutoFit/>
          </a:bodyPr>
          <a:lstStyle/>
          <a:p>
            <a:pPr lvl="0"/>
            <a:r>
              <a:rPr lang="en-US" altLang="ko-KR" sz="2000" b="1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Two-Stage CNN </a:t>
            </a:r>
            <a:r>
              <a:rPr lang="ko-KR" altLang="en-US" sz="2000" b="1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도입 </a:t>
            </a:r>
            <a:r>
              <a:rPr lang="en-US" altLang="ko-KR" sz="2000" b="1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— </a:t>
            </a:r>
            <a:r>
              <a:rPr lang="ko-KR" altLang="en-US" sz="2000" b="1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추론 안정성 보완</a:t>
            </a:r>
            <a:endParaRPr dirty="0"/>
          </a:p>
        </p:txBody>
      </p:sp>
      <p:sp>
        <p:nvSpPr>
          <p:cNvPr id="605" name="Google Shape;605;p30"/>
          <p:cNvSpPr/>
          <p:nvPr/>
        </p:nvSpPr>
        <p:spPr>
          <a:xfrm>
            <a:off x="365760" y="731520"/>
            <a:ext cx="8412480" cy="80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6" name="Google Shape;606;p30"/>
          <p:cNvSpPr/>
          <p:nvPr/>
        </p:nvSpPr>
        <p:spPr>
          <a:xfrm>
            <a:off x="457200" y="777240"/>
            <a:ext cx="2286000" cy="86868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12700" cap="flat" cmpd="sng">
            <a:solidFill>
              <a:srgbClr val="14B8A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7" name="Google Shape;607;p30"/>
          <p:cNvSpPr txBox="1"/>
          <p:nvPr/>
        </p:nvSpPr>
        <p:spPr>
          <a:xfrm>
            <a:off x="457200" y="822960"/>
            <a:ext cx="22860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 dirty="0">
                <a:solidFill>
                  <a:srgbClr val="14B8A6"/>
                </a:solidFill>
                <a:latin typeface="Malgun Gothic"/>
                <a:ea typeface="Malgun Gothic"/>
                <a:cs typeface="Malgun Gothic"/>
                <a:sym typeface="Malgun Gothic"/>
              </a:rPr>
              <a:t>1단계: Detection</a:t>
            </a:r>
            <a:endParaRPr dirty="0"/>
          </a:p>
        </p:txBody>
      </p:sp>
      <p:sp>
        <p:nvSpPr>
          <p:cNvPr id="608" name="Google Shape;608;p30"/>
          <p:cNvSpPr txBox="1"/>
          <p:nvPr/>
        </p:nvSpPr>
        <p:spPr>
          <a:xfrm>
            <a:off x="457200" y="1033272"/>
            <a:ext cx="22860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RTMDet-tiny</a:t>
            </a:r>
            <a:endParaRPr/>
          </a:p>
        </p:txBody>
      </p:sp>
      <p:sp>
        <p:nvSpPr>
          <p:cNvPr id="609" name="Google Shape;609;p30"/>
          <p:cNvSpPr txBox="1"/>
          <p:nvPr/>
        </p:nvSpPr>
        <p:spPr>
          <a:xfrm>
            <a:off x="457200" y="1371600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475569"/>
                </a:solidFill>
                <a:latin typeface="Malgun Gothic"/>
                <a:ea typeface="Malgun Gothic"/>
                <a:cs typeface="Malgun Gothic"/>
                <a:sym typeface="Malgun Gothic"/>
              </a:rPr>
              <a:t>bbox 검출 + 1차 분류</a:t>
            </a:r>
            <a:endParaRPr/>
          </a:p>
        </p:txBody>
      </p:sp>
      <p:sp>
        <p:nvSpPr>
          <p:cNvPr id="610" name="Google Shape;610;p30"/>
          <p:cNvSpPr/>
          <p:nvPr/>
        </p:nvSpPr>
        <p:spPr>
          <a:xfrm>
            <a:off x="2834640" y="1097280"/>
            <a:ext cx="457200" cy="2286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14B8A6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1" name="Google Shape;611;p30"/>
          <p:cNvSpPr txBox="1"/>
          <p:nvPr/>
        </p:nvSpPr>
        <p:spPr>
          <a:xfrm>
            <a:off x="2834640" y="1344168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1" u="none" strike="noStrike" cap="none">
                <a:solidFill>
                  <a:srgbClr val="475569"/>
                </a:solidFill>
                <a:latin typeface="Malgun Gothic"/>
                <a:ea typeface="Malgun Gothic"/>
                <a:cs typeface="Malgun Gothic"/>
                <a:sym typeface="Malgun Gothic"/>
              </a:rPr>
              <a:t>crop</a:t>
            </a:r>
            <a:endParaRPr/>
          </a:p>
        </p:txBody>
      </p:sp>
      <p:sp>
        <p:nvSpPr>
          <p:cNvPr id="612" name="Google Shape;612;p30"/>
          <p:cNvSpPr/>
          <p:nvPr/>
        </p:nvSpPr>
        <p:spPr>
          <a:xfrm>
            <a:off x="3383280" y="777240"/>
            <a:ext cx="2286000" cy="86868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12700" cap="flat" cmpd="sng">
            <a:solidFill>
              <a:srgbClr val="14B8A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3" name="Google Shape;613;p30"/>
          <p:cNvSpPr txBox="1"/>
          <p:nvPr/>
        </p:nvSpPr>
        <p:spPr>
          <a:xfrm>
            <a:off x="3383280" y="822960"/>
            <a:ext cx="22860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14B8A6"/>
                </a:solidFill>
                <a:latin typeface="Malgun Gothic"/>
                <a:ea typeface="Malgun Gothic"/>
                <a:cs typeface="Malgun Gothic"/>
                <a:sym typeface="Malgun Gothic"/>
              </a:rPr>
              <a:t>2단계: Classification</a:t>
            </a:r>
            <a:endParaRPr/>
          </a:p>
        </p:txBody>
      </p:sp>
      <p:sp>
        <p:nvSpPr>
          <p:cNvPr id="614" name="Google Shape;614;p30"/>
          <p:cNvSpPr txBox="1"/>
          <p:nvPr/>
        </p:nvSpPr>
        <p:spPr>
          <a:xfrm>
            <a:off x="3383280" y="1033272"/>
            <a:ext cx="22860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EfficientNet-B0</a:t>
            </a:r>
            <a:endParaRPr/>
          </a:p>
        </p:txBody>
      </p:sp>
      <p:sp>
        <p:nvSpPr>
          <p:cNvPr id="615" name="Google Shape;615;p30"/>
          <p:cNvSpPr txBox="1"/>
          <p:nvPr/>
        </p:nvSpPr>
        <p:spPr>
          <a:xfrm>
            <a:off x="3383280" y="1371600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475569"/>
                </a:solidFill>
                <a:latin typeface="Malgun Gothic"/>
                <a:ea typeface="Malgun Gothic"/>
                <a:cs typeface="Malgun Gothic"/>
                <a:sym typeface="Malgun Gothic"/>
              </a:rPr>
              <a:t>119 클래스 (118 + 비알약)</a:t>
            </a:r>
            <a:endParaRPr/>
          </a:p>
        </p:txBody>
      </p:sp>
      <p:sp>
        <p:nvSpPr>
          <p:cNvPr id="616" name="Google Shape;616;p30"/>
          <p:cNvSpPr/>
          <p:nvPr/>
        </p:nvSpPr>
        <p:spPr>
          <a:xfrm>
            <a:off x="5760720" y="1097280"/>
            <a:ext cx="457200" cy="2286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14B8A6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7" name="Google Shape;617;p30"/>
          <p:cNvSpPr/>
          <p:nvPr/>
        </p:nvSpPr>
        <p:spPr>
          <a:xfrm>
            <a:off x="6309360" y="777240"/>
            <a:ext cx="2468880" cy="868680"/>
          </a:xfrm>
          <a:prstGeom prst="roundRect">
            <a:avLst>
              <a:gd name="adj" fmla="val 10000"/>
            </a:avLst>
          </a:prstGeom>
          <a:solidFill>
            <a:srgbClr val="14B8A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8" name="Google Shape;618;p30"/>
          <p:cNvSpPr txBox="1"/>
          <p:nvPr/>
        </p:nvSpPr>
        <p:spPr>
          <a:xfrm>
            <a:off x="6309360" y="822960"/>
            <a:ext cx="246888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CBD5E1"/>
                </a:solidFill>
                <a:latin typeface="Malgun Gothic"/>
                <a:ea typeface="Malgun Gothic"/>
                <a:cs typeface="Malgun Gothic"/>
                <a:sym typeface="Malgun Gothic"/>
              </a:rPr>
              <a:t>Decision</a:t>
            </a:r>
            <a:endParaRPr/>
          </a:p>
        </p:txBody>
      </p:sp>
      <p:sp>
        <p:nvSpPr>
          <p:cNvPr id="619" name="Google Shape;619;p30"/>
          <p:cNvSpPr txBox="1"/>
          <p:nvPr/>
        </p:nvSpPr>
        <p:spPr>
          <a:xfrm>
            <a:off x="6309360" y="1033272"/>
            <a:ext cx="24688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결합 + 신뢰도 평가</a:t>
            </a:r>
            <a:endParaRPr/>
          </a:p>
        </p:txBody>
      </p:sp>
      <p:sp>
        <p:nvSpPr>
          <p:cNvPr id="620" name="Google Shape;620;p30"/>
          <p:cNvSpPr txBox="1"/>
          <p:nvPr/>
        </p:nvSpPr>
        <p:spPr>
          <a:xfrm>
            <a:off x="6309360" y="1371600"/>
            <a:ext cx="2468880" cy="2112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b="0" i="0" u="none" strike="noStrike" cap="none">
                <a:solidFill>
                  <a:srgbClr val="CBD5E1"/>
                </a:solidFill>
                <a:latin typeface="Malgun Gothic"/>
                <a:ea typeface="Malgun Gothic"/>
                <a:cs typeface="Malgun Gothic"/>
                <a:sym typeface="Malgun Gothic"/>
              </a:rPr>
              <a:t>식별 가능 </a:t>
            </a:r>
            <a:r>
              <a:rPr lang="en-US" altLang="ko-KR" sz="900" b="0" i="0" u="none" strike="noStrike" cap="none">
                <a:solidFill>
                  <a:srgbClr val="CBD5E1"/>
                </a:solidFill>
                <a:latin typeface="Malgun Gothic"/>
                <a:ea typeface="Malgun Gothic"/>
                <a:cs typeface="Malgun Gothic"/>
                <a:sym typeface="Malgun Gothic"/>
              </a:rPr>
              <a:t>/ </a:t>
            </a:r>
            <a:r>
              <a:rPr lang="ko-KR" altLang="en-US" sz="900" b="0" i="0" u="none" strike="noStrike" cap="none">
                <a:solidFill>
                  <a:srgbClr val="CBD5E1"/>
                </a:solidFill>
                <a:latin typeface="Malgun Gothic"/>
                <a:ea typeface="Malgun Gothic"/>
                <a:cs typeface="Malgun Gothic"/>
                <a:sym typeface="Malgun Gothic"/>
              </a:rPr>
              <a:t>추가 확인 </a:t>
            </a:r>
            <a:r>
              <a:rPr lang="en-US" altLang="ko-KR" sz="900" b="0" i="0" u="none" strike="noStrike" cap="none">
                <a:solidFill>
                  <a:srgbClr val="CBD5E1"/>
                </a:solidFill>
                <a:latin typeface="Malgun Gothic"/>
                <a:ea typeface="Malgun Gothic"/>
                <a:cs typeface="Malgun Gothic"/>
                <a:sym typeface="Malgun Gothic"/>
              </a:rPr>
              <a:t>/ </a:t>
            </a:r>
            <a:r>
              <a:rPr lang="ko-KR" altLang="en-US" sz="900" b="0" i="0" u="none" strike="noStrike" cap="none">
                <a:solidFill>
                  <a:srgbClr val="CBD5E1"/>
                </a:solidFill>
                <a:latin typeface="Malgun Gothic"/>
                <a:ea typeface="Malgun Gothic"/>
                <a:cs typeface="Malgun Gothic"/>
                <a:sym typeface="Malgun Gothic"/>
              </a:rPr>
              <a:t>재촬영</a:t>
            </a:r>
            <a:endParaRPr/>
          </a:p>
        </p:txBody>
      </p:sp>
      <p:sp>
        <p:nvSpPr>
          <p:cNvPr id="621" name="Google Shape;621;p30"/>
          <p:cNvSpPr txBox="1"/>
          <p:nvPr/>
        </p:nvSpPr>
        <p:spPr>
          <a:xfrm>
            <a:off x="457200" y="1737360"/>
            <a:ext cx="832104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14B8A6"/>
                </a:solidFill>
                <a:latin typeface="Malgun Gothic"/>
                <a:ea typeface="Malgun Gothic"/>
                <a:cs typeface="Malgun Gothic"/>
                <a:sym typeface="Malgun Gothic"/>
              </a:rPr>
              <a:t>학습 데이터 구성 — 비알약 클래스로 오탐 필터링 학습</a:t>
            </a:r>
            <a:endParaRPr/>
          </a:p>
        </p:txBody>
      </p:sp>
      <p:sp>
        <p:nvSpPr>
          <p:cNvPr id="622" name="Google Shape;622;p30"/>
          <p:cNvSpPr/>
          <p:nvPr/>
        </p:nvSpPr>
        <p:spPr>
          <a:xfrm>
            <a:off x="457200" y="1965960"/>
            <a:ext cx="4023360" cy="77724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10150" cap="flat" cmpd="sng">
            <a:solidFill>
              <a:srgbClr val="14B8A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3" name="Google Shape;623;p30"/>
          <p:cNvSpPr txBox="1"/>
          <p:nvPr/>
        </p:nvSpPr>
        <p:spPr>
          <a:xfrm>
            <a:off x="457200" y="1993392"/>
            <a:ext cx="402336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14B8A6"/>
                </a:solidFill>
                <a:latin typeface="Malgun Gothic"/>
                <a:ea typeface="Malgun Gothic"/>
                <a:cs typeface="Malgun Gothic"/>
                <a:sym typeface="Malgun Gothic"/>
              </a:rPr>
              <a:t>Positive — class 0~117 (118 종)</a:t>
            </a:r>
            <a:endParaRPr/>
          </a:p>
        </p:txBody>
      </p:sp>
      <p:sp>
        <p:nvSpPr>
          <p:cNvPr id="624" name="Google Shape;624;p30"/>
          <p:cNvSpPr txBox="1"/>
          <p:nvPr/>
        </p:nvSpPr>
        <p:spPr>
          <a:xfrm>
            <a:off x="457200" y="2203704"/>
            <a:ext cx="40233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61,329 개</a:t>
            </a:r>
            <a:endParaRPr/>
          </a:p>
        </p:txBody>
      </p:sp>
      <p:sp>
        <p:nvSpPr>
          <p:cNvPr id="625" name="Google Shape;625;p30"/>
          <p:cNvSpPr txBox="1"/>
          <p:nvPr/>
        </p:nvSpPr>
        <p:spPr>
          <a:xfrm>
            <a:off x="457200" y="2496312"/>
            <a:ext cx="402336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475569"/>
                </a:solidFill>
                <a:latin typeface="Malgun Gothic"/>
                <a:ea typeface="Malgun Gothic"/>
                <a:cs typeface="Malgun Gothic"/>
                <a:sym typeface="Malgun Gothic"/>
              </a:rPr>
              <a:t>원본 GT crop 38,301  +  합성 bbox crop 23,028</a:t>
            </a:r>
            <a:endParaRPr/>
          </a:p>
        </p:txBody>
      </p:sp>
      <p:sp>
        <p:nvSpPr>
          <p:cNvPr id="626" name="Google Shape;626;p30"/>
          <p:cNvSpPr/>
          <p:nvPr/>
        </p:nvSpPr>
        <p:spPr>
          <a:xfrm>
            <a:off x="4754880" y="1965960"/>
            <a:ext cx="4023360" cy="77724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10150" cap="flat" cmpd="sng">
            <a:solidFill>
              <a:srgbClr val="D977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7" name="Google Shape;627;p30"/>
          <p:cNvSpPr txBox="1"/>
          <p:nvPr/>
        </p:nvSpPr>
        <p:spPr>
          <a:xfrm>
            <a:off x="4754880" y="1993392"/>
            <a:ext cx="402336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D97706"/>
                </a:solidFill>
                <a:latin typeface="Malgun Gothic"/>
                <a:ea typeface="Malgun Gothic"/>
                <a:cs typeface="Malgun Gothic"/>
                <a:sym typeface="Malgun Gothic"/>
              </a:rPr>
              <a:t>Negative — class 118 (비알약, 오탐 필터링)</a:t>
            </a:r>
            <a:endParaRPr/>
          </a:p>
        </p:txBody>
      </p:sp>
      <p:sp>
        <p:nvSpPr>
          <p:cNvPr id="628" name="Google Shape;628;p30"/>
          <p:cNvSpPr txBox="1"/>
          <p:nvPr/>
        </p:nvSpPr>
        <p:spPr>
          <a:xfrm>
            <a:off x="4754880" y="2203704"/>
            <a:ext cx="40233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37,548 개</a:t>
            </a:r>
            <a:endParaRPr/>
          </a:p>
        </p:txBody>
      </p:sp>
      <p:sp>
        <p:nvSpPr>
          <p:cNvPr id="629" name="Google Shape;629;p30"/>
          <p:cNvSpPr txBox="1"/>
          <p:nvPr/>
        </p:nvSpPr>
        <p:spPr>
          <a:xfrm>
            <a:off x="4754880" y="2496312"/>
            <a:ext cx="402336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475569"/>
                </a:solidFill>
                <a:latin typeface="Malgun Gothic"/>
                <a:ea typeface="Malgun Gothic"/>
                <a:cs typeface="Malgun Gothic"/>
                <a:sym typeface="Malgun Gothic"/>
              </a:rPr>
              <a:t>배경 외부 crop 7,698  +  배경 이미지 crop 29,850</a:t>
            </a:r>
            <a:endParaRPr/>
          </a:p>
        </p:txBody>
      </p:sp>
      <p:sp>
        <p:nvSpPr>
          <p:cNvPr id="630" name="Google Shape;630;p30"/>
          <p:cNvSpPr txBox="1"/>
          <p:nvPr/>
        </p:nvSpPr>
        <p:spPr>
          <a:xfrm>
            <a:off x="457200" y="2880360"/>
            <a:ext cx="83210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14B8A6"/>
                </a:solidFill>
                <a:latin typeface="Malgun Gothic"/>
                <a:ea typeface="Malgun Gothic"/>
                <a:cs typeface="Malgun Gothic"/>
                <a:sym typeface="Malgun Gothic"/>
              </a:rPr>
              <a:t>CNN 4 버전 비교 — NON_PILL_WEIGHT 실험 (오탐 제어)</a:t>
            </a:r>
            <a:endParaRPr/>
          </a:p>
        </p:txBody>
      </p:sp>
      <p:sp>
        <p:nvSpPr>
          <p:cNvPr id="631" name="Google Shape;631;p30"/>
          <p:cNvSpPr/>
          <p:nvPr/>
        </p:nvSpPr>
        <p:spPr>
          <a:xfrm>
            <a:off x="457200" y="3200400"/>
            <a:ext cx="8321040" cy="292608"/>
          </a:xfrm>
          <a:prstGeom prst="rect">
            <a:avLst/>
          </a:prstGeom>
          <a:solidFill>
            <a:srgbClr val="115E5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2" name="Google Shape;632;p30"/>
          <p:cNvSpPr txBox="1"/>
          <p:nvPr/>
        </p:nvSpPr>
        <p:spPr>
          <a:xfrm>
            <a:off x="457200" y="3200400"/>
            <a:ext cx="13716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  버전</a:t>
            </a:r>
            <a:endParaRPr/>
          </a:p>
        </p:txBody>
      </p:sp>
      <p:sp>
        <p:nvSpPr>
          <p:cNvPr id="633" name="Google Shape;633;p30"/>
          <p:cNvSpPr txBox="1"/>
          <p:nvPr/>
        </p:nvSpPr>
        <p:spPr>
          <a:xfrm>
            <a:off x="1828800" y="3200400"/>
            <a:ext cx="13716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NON_PILL_W</a:t>
            </a:r>
            <a:endParaRPr/>
          </a:p>
        </p:txBody>
      </p:sp>
      <p:sp>
        <p:nvSpPr>
          <p:cNvPr id="634" name="Google Shape;634;p30"/>
          <p:cNvSpPr txBox="1"/>
          <p:nvPr/>
        </p:nvSpPr>
        <p:spPr>
          <a:xfrm>
            <a:off x="3200400" y="3200400"/>
            <a:ext cx="13716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위치+cls</a:t>
            </a:r>
            <a:endParaRPr/>
          </a:p>
        </p:txBody>
      </p:sp>
      <p:sp>
        <p:nvSpPr>
          <p:cNvPr id="635" name="Google Shape;635;p30"/>
          <p:cNvSpPr txBox="1"/>
          <p:nvPr/>
        </p:nvSpPr>
        <p:spPr>
          <a:xfrm>
            <a:off x="4572000" y="3200400"/>
            <a:ext cx="13716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위치만</a:t>
            </a:r>
            <a:endParaRPr/>
          </a:p>
        </p:txBody>
      </p:sp>
      <p:sp>
        <p:nvSpPr>
          <p:cNvPr id="636" name="Google Shape;636;p30"/>
          <p:cNvSpPr txBox="1"/>
          <p:nvPr/>
        </p:nvSpPr>
        <p:spPr>
          <a:xfrm>
            <a:off x="5943600" y="3200400"/>
            <a:ext cx="13716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미탐</a:t>
            </a:r>
            <a:endParaRPr/>
          </a:p>
        </p:txBody>
      </p:sp>
      <p:sp>
        <p:nvSpPr>
          <p:cNvPr id="637" name="Google Shape;637;p30"/>
          <p:cNvSpPr txBox="1"/>
          <p:nvPr/>
        </p:nvSpPr>
        <p:spPr>
          <a:xfrm>
            <a:off x="7315200" y="3200400"/>
            <a:ext cx="146304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오탐</a:t>
            </a:r>
            <a:endParaRPr/>
          </a:p>
        </p:txBody>
      </p:sp>
      <p:sp>
        <p:nvSpPr>
          <p:cNvPr id="638" name="Google Shape;638;p30"/>
          <p:cNvSpPr/>
          <p:nvPr/>
        </p:nvSpPr>
        <p:spPr>
          <a:xfrm>
            <a:off x="457200" y="3493008"/>
            <a:ext cx="8321040" cy="292608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9" name="Google Shape;639;p30"/>
          <p:cNvSpPr txBox="1"/>
          <p:nvPr/>
        </p:nvSpPr>
        <p:spPr>
          <a:xfrm>
            <a:off x="457200" y="3493008"/>
            <a:ext cx="13716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  v3</a:t>
            </a:r>
            <a:endParaRPr/>
          </a:p>
        </p:txBody>
      </p:sp>
      <p:sp>
        <p:nvSpPr>
          <p:cNvPr id="640" name="Google Shape;640;p30"/>
          <p:cNvSpPr txBox="1"/>
          <p:nvPr/>
        </p:nvSpPr>
        <p:spPr>
          <a:xfrm>
            <a:off x="1828800" y="3493008"/>
            <a:ext cx="13716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5.0</a:t>
            </a:r>
            <a:endParaRPr/>
          </a:p>
        </p:txBody>
      </p:sp>
      <p:sp>
        <p:nvSpPr>
          <p:cNvPr id="641" name="Google Shape;641;p30"/>
          <p:cNvSpPr txBox="1"/>
          <p:nvPr/>
        </p:nvSpPr>
        <p:spPr>
          <a:xfrm>
            <a:off x="3200400" y="3493008"/>
            <a:ext cx="13716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12</a:t>
            </a:r>
            <a:endParaRPr/>
          </a:p>
        </p:txBody>
      </p:sp>
      <p:sp>
        <p:nvSpPr>
          <p:cNvPr id="642" name="Google Shape;642;p30"/>
          <p:cNvSpPr txBox="1"/>
          <p:nvPr/>
        </p:nvSpPr>
        <p:spPr>
          <a:xfrm>
            <a:off x="4572000" y="3493008"/>
            <a:ext cx="13716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40</a:t>
            </a:r>
            <a:endParaRPr/>
          </a:p>
        </p:txBody>
      </p:sp>
      <p:sp>
        <p:nvSpPr>
          <p:cNvPr id="643" name="Google Shape;643;p30"/>
          <p:cNvSpPr txBox="1"/>
          <p:nvPr/>
        </p:nvSpPr>
        <p:spPr>
          <a:xfrm>
            <a:off x="5943600" y="3493008"/>
            <a:ext cx="13716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7</a:t>
            </a:r>
            <a:endParaRPr/>
          </a:p>
        </p:txBody>
      </p:sp>
      <p:sp>
        <p:nvSpPr>
          <p:cNvPr id="644" name="Google Shape;644;p30"/>
          <p:cNvSpPr txBox="1"/>
          <p:nvPr/>
        </p:nvSpPr>
        <p:spPr>
          <a:xfrm>
            <a:off x="7315200" y="3493008"/>
            <a:ext cx="146304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27</a:t>
            </a:r>
            <a:endParaRPr/>
          </a:p>
        </p:txBody>
      </p:sp>
      <p:sp>
        <p:nvSpPr>
          <p:cNvPr id="645" name="Google Shape;645;p30"/>
          <p:cNvSpPr/>
          <p:nvPr/>
        </p:nvSpPr>
        <p:spPr>
          <a:xfrm>
            <a:off x="457200" y="3785616"/>
            <a:ext cx="8321040" cy="292608"/>
          </a:xfrm>
          <a:prstGeom prst="rect">
            <a:avLst/>
          </a:prstGeom>
          <a:solidFill>
            <a:srgbClr val="14B8A6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6" name="Google Shape;646;p30"/>
          <p:cNvSpPr txBox="1"/>
          <p:nvPr/>
        </p:nvSpPr>
        <p:spPr>
          <a:xfrm>
            <a:off x="457200" y="3785616"/>
            <a:ext cx="13716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  ★ v4</a:t>
            </a:r>
            <a:endParaRPr/>
          </a:p>
        </p:txBody>
      </p:sp>
      <p:sp>
        <p:nvSpPr>
          <p:cNvPr id="647" name="Google Shape;647;p30"/>
          <p:cNvSpPr txBox="1"/>
          <p:nvPr/>
        </p:nvSpPr>
        <p:spPr>
          <a:xfrm>
            <a:off x="1828800" y="3785616"/>
            <a:ext cx="13716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3.0</a:t>
            </a:r>
            <a:endParaRPr/>
          </a:p>
        </p:txBody>
      </p:sp>
      <p:sp>
        <p:nvSpPr>
          <p:cNvPr id="648" name="Google Shape;648;p30"/>
          <p:cNvSpPr txBox="1"/>
          <p:nvPr/>
        </p:nvSpPr>
        <p:spPr>
          <a:xfrm>
            <a:off x="3200400" y="3785616"/>
            <a:ext cx="13716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9</a:t>
            </a:r>
            <a:endParaRPr/>
          </a:p>
        </p:txBody>
      </p:sp>
      <p:sp>
        <p:nvSpPr>
          <p:cNvPr id="649" name="Google Shape;649;p30"/>
          <p:cNvSpPr txBox="1"/>
          <p:nvPr/>
        </p:nvSpPr>
        <p:spPr>
          <a:xfrm>
            <a:off x="4572000" y="3785616"/>
            <a:ext cx="13716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34</a:t>
            </a:r>
            <a:endParaRPr/>
          </a:p>
        </p:txBody>
      </p:sp>
      <p:sp>
        <p:nvSpPr>
          <p:cNvPr id="650" name="Google Shape;650;p30"/>
          <p:cNvSpPr txBox="1"/>
          <p:nvPr/>
        </p:nvSpPr>
        <p:spPr>
          <a:xfrm>
            <a:off x="5943600" y="3785616"/>
            <a:ext cx="13716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13</a:t>
            </a:r>
            <a:endParaRPr/>
          </a:p>
        </p:txBody>
      </p:sp>
      <p:sp>
        <p:nvSpPr>
          <p:cNvPr id="651" name="Google Shape;651;p30"/>
          <p:cNvSpPr txBox="1"/>
          <p:nvPr/>
        </p:nvSpPr>
        <p:spPr>
          <a:xfrm>
            <a:off x="7315200" y="3785616"/>
            <a:ext cx="146304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5</a:t>
            </a:r>
            <a:endParaRPr/>
          </a:p>
        </p:txBody>
      </p:sp>
      <p:sp>
        <p:nvSpPr>
          <p:cNvPr id="652" name="Google Shape;652;p30"/>
          <p:cNvSpPr/>
          <p:nvPr/>
        </p:nvSpPr>
        <p:spPr>
          <a:xfrm>
            <a:off x="457200" y="4078224"/>
            <a:ext cx="8321040" cy="292608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3" name="Google Shape;653;p30"/>
          <p:cNvSpPr txBox="1"/>
          <p:nvPr/>
        </p:nvSpPr>
        <p:spPr>
          <a:xfrm>
            <a:off x="457200" y="4078224"/>
            <a:ext cx="13716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  v5</a:t>
            </a:r>
            <a:endParaRPr/>
          </a:p>
        </p:txBody>
      </p:sp>
      <p:sp>
        <p:nvSpPr>
          <p:cNvPr id="654" name="Google Shape;654;p30"/>
          <p:cNvSpPr txBox="1"/>
          <p:nvPr/>
        </p:nvSpPr>
        <p:spPr>
          <a:xfrm>
            <a:off x="1828800" y="4078224"/>
            <a:ext cx="13716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1.0</a:t>
            </a:r>
            <a:endParaRPr/>
          </a:p>
        </p:txBody>
      </p:sp>
      <p:sp>
        <p:nvSpPr>
          <p:cNvPr id="655" name="Google Shape;655;p30"/>
          <p:cNvSpPr txBox="1"/>
          <p:nvPr/>
        </p:nvSpPr>
        <p:spPr>
          <a:xfrm>
            <a:off x="3200400" y="4078224"/>
            <a:ext cx="13716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9</a:t>
            </a:r>
            <a:endParaRPr/>
          </a:p>
        </p:txBody>
      </p:sp>
      <p:sp>
        <p:nvSpPr>
          <p:cNvPr id="656" name="Google Shape;656;p30"/>
          <p:cNvSpPr txBox="1"/>
          <p:nvPr/>
        </p:nvSpPr>
        <p:spPr>
          <a:xfrm>
            <a:off x="4572000" y="4078224"/>
            <a:ext cx="13716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30</a:t>
            </a:r>
            <a:endParaRPr/>
          </a:p>
        </p:txBody>
      </p:sp>
      <p:sp>
        <p:nvSpPr>
          <p:cNvPr id="657" name="Google Shape;657;p30"/>
          <p:cNvSpPr txBox="1"/>
          <p:nvPr/>
        </p:nvSpPr>
        <p:spPr>
          <a:xfrm>
            <a:off x="5943600" y="4078224"/>
            <a:ext cx="13716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17</a:t>
            </a:r>
            <a:endParaRPr/>
          </a:p>
        </p:txBody>
      </p:sp>
      <p:sp>
        <p:nvSpPr>
          <p:cNvPr id="658" name="Google Shape;658;p30"/>
          <p:cNvSpPr txBox="1"/>
          <p:nvPr/>
        </p:nvSpPr>
        <p:spPr>
          <a:xfrm>
            <a:off x="7315200" y="4078224"/>
            <a:ext cx="146304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9</a:t>
            </a:r>
            <a:endParaRPr/>
          </a:p>
        </p:txBody>
      </p:sp>
      <p:sp>
        <p:nvSpPr>
          <p:cNvPr id="659" name="Google Shape;659;p30"/>
          <p:cNvSpPr/>
          <p:nvPr/>
        </p:nvSpPr>
        <p:spPr>
          <a:xfrm>
            <a:off x="457200" y="4370832"/>
            <a:ext cx="8321040" cy="292608"/>
          </a:xfrm>
          <a:prstGeom prst="rect">
            <a:avLst/>
          </a:prstGeom>
          <a:solidFill>
            <a:srgbClr val="F8FAFC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0" name="Google Shape;660;p30"/>
          <p:cNvSpPr txBox="1"/>
          <p:nvPr/>
        </p:nvSpPr>
        <p:spPr>
          <a:xfrm>
            <a:off x="457200" y="4370832"/>
            <a:ext cx="13716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  v6</a:t>
            </a:r>
            <a:endParaRPr/>
          </a:p>
        </p:txBody>
      </p:sp>
      <p:sp>
        <p:nvSpPr>
          <p:cNvPr id="661" name="Google Shape;661;p30"/>
          <p:cNvSpPr txBox="1"/>
          <p:nvPr/>
        </p:nvSpPr>
        <p:spPr>
          <a:xfrm>
            <a:off x="1828800" y="4370832"/>
            <a:ext cx="13716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5.0+</a:t>
            </a:r>
            <a:endParaRPr/>
          </a:p>
        </p:txBody>
      </p:sp>
      <p:sp>
        <p:nvSpPr>
          <p:cNvPr id="662" name="Google Shape;662;p30"/>
          <p:cNvSpPr txBox="1"/>
          <p:nvPr/>
        </p:nvSpPr>
        <p:spPr>
          <a:xfrm>
            <a:off x="3200400" y="4370832"/>
            <a:ext cx="13716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8</a:t>
            </a:r>
            <a:endParaRPr/>
          </a:p>
        </p:txBody>
      </p:sp>
      <p:sp>
        <p:nvSpPr>
          <p:cNvPr id="663" name="Google Shape;663;p30"/>
          <p:cNvSpPr txBox="1"/>
          <p:nvPr/>
        </p:nvSpPr>
        <p:spPr>
          <a:xfrm>
            <a:off x="4572000" y="4370832"/>
            <a:ext cx="13716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28</a:t>
            </a:r>
            <a:endParaRPr/>
          </a:p>
        </p:txBody>
      </p:sp>
      <p:sp>
        <p:nvSpPr>
          <p:cNvPr id="664" name="Google Shape;664;p30"/>
          <p:cNvSpPr txBox="1"/>
          <p:nvPr/>
        </p:nvSpPr>
        <p:spPr>
          <a:xfrm>
            <a:off x="5943600" y="4370832"/>
            <a:ext cx="13716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19</a:t>
            </a:r>
            <a:endParaRPr/>
          </a:p>
        </p:txBody>
      </p:sp>
      <p:sp>
        <p:nvSpPr>
          <p:cNvPr id="665" name="Google Shape;665;p30"/>
          <p:cNvSpPr txBox="1"/>
          <p:nvPr/>
        </p:nvSpPr>
        <p:spPr>
          <a:xfrm>
            <a:off x="7315200" y="4370832"/>
            <a:ext cx="146304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6</a:t>
            </a:r>
            <a:endParaRPr/>
          </a:p>
        </p:txBody>
      </p:sp>
      <p:sp>
        <p:nvSpPr>
          <p:cNvPr id="666" name="Google Shape;666;p30"/>
          <p:cNvSpPr txBox="1"/>
          <p:nvPr/>
        </p:nvSpPr>
        <p:spPr>
          <a:xfrm>
            <a:off x="457200" y="4663440"/>
            <a:ext cx="8321040" cy="2112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t" anchorCtr="0">
            <a:spAutoFit/>
          </a:bodyPr>
          <a:lstStyle/>
          <a:p>
            <a:pPr lvl="0" algn="ctr"/>
            <a:r>
              <a:rPr lang="en-US" altLang="ko-KR" sz="900" i="1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v4 </a:t>
            </a:r>
            <a:r>
              <a:rPr lang="ko-KR" altLang="en-US" sz="900" i="1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채택 </a:t>
            </a:r>
            <a:r>
              <a:rPr lang="en-US" altLang="ko-KR" sz="900" i="1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— </a:t>
            </a:r>
            <a:r>
              <a:rPr lang="ko-KR" altLang="en-US" sz="900" i="1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오탐 </a:t>
            </a:r>
            <a:r>
              <a:rPr lang="en-US" altLang="ko-KR" sz="900" i="1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5</a:t>
            </a:r>
            <a:r>
              <a:rPr lang="ko-KR" altLang="en-US" sz="900" i="1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개로 최저</a:t>
            </a:r>
            <a:r>
              <a:rPr lang="en-US" altLang="ko-KR" sz="900" i="1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, </a:t>
            </a:r>
            <a:r>
              <a:rPr lang="ko-KR" altLang="en-US" sz="900" i="1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잘못된 후보 노출 위험 최소화</a:t>
            </a:r>
            <a:endParaRPr dirty="0"/>
          </a:p>
        </p:txBody>
      </p:sp>
      <p:sp>
        <p:nvSpPr>
          <p:cNvPr id="667" name="Google Shape;667;p30"/>
          <p:cNvSpPr txBox="1"/>
          <p:nvPr/>
        </p:nvSpPr>
        <p:spPr>
          <a:xfrm>
            <a:off x="365760" y="4846320"/>
            <a:ext cx="36576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94A3B8"/>
                </a:solidFill>
                <a:latin typeface="Malgun Gothic"/>
                <a:ea typeface="Malgun Gothic"/>
                <a:cs typeface="Malgun Gothic"/>
                <a:sym typeface="Malgun Gothic"/>
              </a:rPr>
              <a:t>HealthEat · 3팀</a:t>
            </a:r>
            <a:endParaRPr/>
          </a:p>
        </p:txBody>
      </p:sp>
      <p:sp>
        <p:nvSpPr>
          <p:cNvPr id="668" name="Google Shape;668;p30"/>
          <p:cNvSpPr txBox="1"/>
          <p:nvPr/>
        </p:nvSpPr>
        <p:spPr>
          <a:xfrm>
            <a:off x="5486400" y="4846320"/>
            <a:ext cx="3291840" cy="2112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dirty="0">
                <a:solidFill>
                  <a:srgbClr val="94A3B8"/>
                </a:solidFill>
                <a:latin typeface="Malgun Gothic"/>
                <a:ea typeface="Malgun Gothic"/>
                <a:cs typeface="Malgun Gothic"/>
                <a:sym typeface="Malgun Gothic"/>
              </a:rPr>
              <a:t>12</a:t>
            </a:r>
            <a:r>
              <a:rPr lang="en-US" sz="900" b="0" i="0" u="none" strike="noStrike" cap="none" dirty="0">
                <a:solidFill>
                  <a:srgbClr val="94A3B8"/>
                </a:solidFill>
                <a:latin typeface="Malgun Gothic"/>
                <a:ea typeface="Malgun Gothic"/>
                <a:cs typeface="Malgun Gothic"/>
                <a:sym typeface="Malgun Gothic"/>
              </a:rPr>
              <a:t> / 17</a:t>
            </a:r>
            <a:endParaRPr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3" name="Google Shape;673;p31"/>
          <p:cNvSpPr/>
          <p:nvPr/>
        </p:nvSpPr>
        <p:spPr>
          <a:xfrm>
            <a:off x="365760" y="292608"/>
            <a:ext cx="292608" cy="292608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4" name="Google Shape;674;p31"/>
          <p:cNvSpPr txBox="1"/>
          <p:nvPr/>
        </p:nvSpPr>
        <p:spPr>
          <a:xfrm>
            <a:off x="365760" y="317922"/>
            <a:ext cx="292608" cy="241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/>
                <a:ea typeface="Malgun Gothic"/>
                <a:sym typeface="Malgun Gothic"/>
              </a:rPr>
              <a:t>07</a:t>
            </a:r>
            <a:endParaRPr dirty="0"/>
          </a:p>
        </p:txBody>
      </p:sp>
      <p:sp>
        <p:nvSpPr>
          <p:cNvPr id="675" name="Google Shape;675;p31"/>
          <p:cNvSpPr txBox="1"/>
          <p:nvPr/>
        </p:nvSpPr>
        <p:spPr>
          <a:xfrm>
            <a:off x="777240" y="271532"/>
            <a:ext cx="7772400" cy="380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ctr" anchorCtr="0">
            <a:spAutoFit/>
          </a:bodyPr>
          <a:lstStyle/>
          <a:p>
            <a:pPr lvl="0"/>
            <a:r>
              <a:rPr lang="ko-KR" altLang="en-US" sz="2000" b="1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웹페이지 통합 </a:t>
            </a:r>
            <a:r>
              <a:rPr lang="en-US" altLang="ko-KR" sz="2000" b="1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— </a:t>
            </a:r>
            <a:r>
              <a:rPr lang="ko-KR" altLang="en-US" sz="2000" b="1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다중축 검증 시스템</a:t>
            </a:r>
            <a:endParaRPr dirty="0"/>
          </a:p>
        </p:txBody>
      </p:sp>
      <p:sp>
        <p:nvSpPr>
          <p:cNvPr id="676" name="Google Shape;676;p31"/>
          <p:cNvSpPr/>
          <p:nvPr/>
        </p:nvSpPr>
        <p:spPr>
          <a:xfrm>
            <a:off x="365760" y="731520"/>
            <a:ext cx="8412480" cy="80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7" name="Google Shape;677;p31"/>
          <p:cNvSpPr/>
          <p:nvPr/>
        </p:nvSpPr>
        <p:spPr>
          <a:xfrm>
            <a:off x="365760" y="1828800"/>
            <a:ext cx="1280160" cy="91440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8" name="Google Shape;678;p31"/>
          <p:cNvSpPr txBox="1"/>
          <p:nvPr/>
        </p:nvSpPr>
        <p:spPr>
          <a:xfrm>
            <a:off x="365760" y="1874519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475569"/>
                </a:solidFill>
                <a:latin typeface="Malgun Gothic"/>
                <a:ea typeface="Malgun Gothic"/>
                <a:cs typeface="Malgun Gothic"/>
                <a:sym typeface="Malgun Gothic"/>
              </a:rPr>
              <a:t>사용자 입력</a:t>
            </a:r>
            <a:endParaRPr/>
          </a:p>
        </p:txBody>
      </p:sp>
      <p:sp>
        <p:nvSpPr>
          <p:cNvPr id="679" name="Google Shape;679;p31"/>
          <p:cNvSpPr txBox="1"/>
          <p:nvPr/>
        </p:nvSpPr>
        <p:spPr>
          <a:xfrm>
            <a:off x="365760" y="2194560"/>
            <a:ext cx="12801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📷</a:t>
            </a:r>
            <a:br>
              <a:rPr lang="en-US" sz="1400" b="0" i="0" u="none" strike="noStrike" cap="none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en-US" sz="1400" b="0" i="0" u="none" strike="noStrike" cap="none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알약 사진</a:t>
            </a:r>
            <a:endParaRPr/>
          </a:p>
        </p:txBody>
      </p:sp>
      <p:sp>
        <p:nvSpPr>
          <p:cNvPr id="680" name="Google Shape;680;p31"/>
          <p:cNvSpPr/>
          <p:nvPr/>
        </p:nvSpPr>
        <p:spPr>
          <a:xfrm>
            <a:off x="1691640" y="2194560"/>
            <a:ext cx="274320" cy="18288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14B8A6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1" name="Google Shape;681;p31"/>
          <p:cNvSpPr/>
          <p:nvPr/>
        </p:nvSpPr>
        <p:spPr>
          <a:xfrm>
            <a:off x="2011680" y="1554480"/>
            <a:ext cx="2377440" cy="155448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12700" cap="flat" cmpd="sng">
            <a:solidFill>
              <a:srgbClr val="14B8A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2" name="Google Shape;682;p31"/>
          <p:cNvSpPr txBox="1"/>
          <p:nvPr/>
        </p:nvSpPr>
        <p:spPr>
          <a:xfrm>
            <a:off x="2011680" y="1645920"/>
            <a:ext cx="23774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14B8A6"/>
                </a:solidFill>
                <a:latin typeface="Malgun Gothic"/>
                <a:ea typeface="Malgun Gothic"/>
                <a:cs typeface="Malgun Gothic"/>
                <a:sym typeface="Malgun Gothic"/>
              </a:rPr>
              <a:t>1단계 — 모델 추론</a:t>
            </a:r>
            <a:endParaRPr/>
          </a:p>
        </p:txBody>
      </p:sp>
      <p:sp>
        <p:nvSpPr>
          <p:cNvPr id="683" name="Google Shape;683;p31"/>
          <p:cNvSpPr txBox="1"/>
          <p:nvPr/>
        </p:nvSpPr>
        <p:spPr>
          <a:xfrm>
            <a:off x="2103120" y="1965960"/>
            <a:ext cx="2194560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▸ RTMDet 검출</a:t>
            </a:r>
            <a:endParaRPr/>
          </a:p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475569"/>
                </a:solidFill>
                <a:latin typeface="Malgun Gothic"/>
                <a:ea typeface="Malgun Gothic"/>
                <a:cs typeface="Malgun Gothic"/>
                <a:sym typeface="Malgun Gothic"/>
              </a:rPr>
              <a:t>  bbox + 1차 분류</a:t>
            </a:r>
            <a:endParaRPr/>
          </a:p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▸ CNN 2차 분류</a:t>
            </a:r>
            <a:endParaRPr/>
          </a:p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475569"/>
                </a:solidFill>
                <a:latin typeface="Malgun Gothic"/>
                <a:ea typeface="Malgun Gothic"/>
                <a:cs typeface="Malgun Gothic"/>
                <a:sym typeface="Malgun Gothic"/>
              </a:rPr>
              <a:t>  119 클래스 / 비알약</a:t>
            </a:r>
            <a:endParaRPr/>
          </a:p>
        </p:txBody>
      </p:sp>
      <p:sp>
        <p:nvSpPr>
          <p:cNvPr id="684" name="Google Shape;684;p31"/>
          <p:cNvSpPr/>
          <p:nvPr/>
        </p:nvSpPr>
        <p:spPr>
          <a:xfrm>
            <a:off x="4434840" y="2194560"/>
            <a:ext cx="274320" cy="18288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14B8A6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5" name="Google Shape;685;p31"/>
          <p:cNvSpPr/>
          <p:nvPr/>
        </p:nvSpPr>
        <p:spPr>
          <a:xfrm>
            <a:off x="4754880" y="914400"/>
            <a:ext cx="2560320" cy="320040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12700" cap="flat" cmpd="sng">
            <a:solidFill>
              <a:srgbClr val="14B8A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6" name="Google Shape;686;p31"/>
          <p:cNvSpPr txBox="1"/>
          <p:nvPr/>
        </p:nvSpPr>
        <p:spPr>
          <a:xfrm>
            <a:off x="4754880" y="1005840"/>
            <a:ext cx="25603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14B8A6"/>
                </a:solidFill>
                <a:latin typeface="Malgun Gothic"/>
                <a:ea typeface="Malgun Gothic"/>
                <a:cs typeface="Malgun Gothic"/>
                <a:sym typeface="Malgun Gothic"/>
              </a:rPr>
              <a:t>2단계 — 다중 보조축</a:t>
            </a:r>
            <a:endParaRPr/>
          </a:p>
        </p:txBody>
      </p:sp>
      <p:sp>
        <p:nvSpPr>
          <p:cNvPr id="687" name="Google Shape;687;p31"/>
          <p:cNvSpPr txBox="1"/>
          <p:nvPr/>
        </p:nvSpPr>
        <p:spPr>
          <a:xfrm>
            <a:off x="4846320" y="1325880"/>
            <a:ext cx="237744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🔍 Qwen VLM 서버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  각인 후보 선택</a:t>
            </a:r>
            <a:endParaRPr/>
          </a:p>
        </p:txBody>
      </p:sp>
      <p:sp>
        <p:nvSpPr>
          <p:cNvPr id="688" name="Google Shape;688;p31"/>
          <p:cNvSpPr txBox="1"/>
          <p:nvPr/>
        </p:nvSpPr>
        <p:spPr>
          <a:xfrm>
            <a:off x="4846320" y="1874520"/>
            <a:ext cx="237744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🎨 색상/모양 추정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  API 정보와 비교</a:t>
            </a:r>
            <a:endParaRPr/>
          </a:p>
        </p:txBody>
      </p:sp>
      <p:sp>
        <p:nvSpPr>
          <p:cNvPr id="689" name="Google Shape;689;p31"/>
          <p:cNvSpPr txBox="1"/>
          <p:nvPr/>
        </p:nvSpPr>
        <p:spPr>
          <a:xfrm>
            <a:off x="4846320" y="2423160"/>
            <a:ext cx="237744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💊 식약처 API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  낱알식별 정보</a:t>
            </a:r>
            <a:endParaRPr/>
          </a:p>
        </p:txBody>
      </p:sp>
      <p:sp>
        <p:nvSpPr>
          <p:cNvPr id="690" name="Google Shape;690;p31"/>
          <p:cNvSpPr txBox="1"/>
          <p:nvPr/>
        </p:nvSpPr>
        <p:spPr>
          <a:xfrm>
            <a:off x="4846320" y="2971800"/>
            <a:ext cx="237744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📋 e약은요 API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  제품 참고 정보</a:t>
            </a:r>
            <a:endParaRPr/>
          </a:p>
        </p:txBody>
      </p:sp>
      <p:sp>
        <p:nvSpPr>
          <p:cNvPr id="691" name="Google Shape;691;p31"/>
          <p:cNvSpPr txBox="1"/>
          <p:nvPr/>
        </p:nvSpPr>
        <p:spPr>
          <a:xfrm>
            <a:off x="4846320" y="3520440"/>
            <a:ext cx="237744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💾 로컬 캐시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  118종 마스터 DB</a:t>
            </a:r>
            <a:endParaRPr/>
          </a:p>
        </p:txBody>
      </p:sp>
      <p:sp>
        <p:nvSpPr>
          <p:cNvPr id="692" name="Google Shape;692;p31"/>
          <p:cNvSpPr/>
          <p:nvPr/>
        </p:nvSpPr>
        <p:spPr>
          <a:xfrm>
            <a:off x="7360920" y="2194560"/>
            <a:ext cx="274320" cy="18288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14B8A6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3" name="Google Shape;693;p31"/>
          <p:cNvSpPr/>
          <p:nvPr/>
        </p:nvSpPr>
        <p:spPr>
          <a:xfrm>
            <a:off x="7680960" y="1554480"/>
            <a:ext cx="1280160" cy="1554480"/>
          </a:xfrm>
          <a:prstGeom prst="roundRect">
            <a:avLst>
              <a:gd name="adj" fmla="val 10000"/>
            </a:avLst>
          </a:prstGeom>
          <a:solidFill>
            <a:srgbClr val="14B8A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4" name="Google Shape;694;p31"/>
          <p:cNvSpPr txBox="1"/>
          <p:nvPr/>
        </p:nvSpPr>
        <p:spPr>
          <a:xfrm>
            <a:off x="7680960" y="1645920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CBD5E1"/>
                </a:solidFill>
                <a:latin typeface="Malgun Gothic"/>
                <a:ea typeface="Malgun Gothic"/>
                <a:cs typeface="Malgun Gothic"/>
                <a:sym typeface="Malgun Gothic"/>
              </a:rPr>
              <a:t>최종 출력</a:t>
            </a:r>
            <a:endParaRPr/>
          </a:p>
        </p:txBody>
      </p:sp>
      <p:sp>
        <p:nvSpPr>
          <p:cNvPr id="695" name="Google Shape;695;p31"/>
          <p:cNvSpPr txBox="1"/>
          <p:nvPr/>
        </p:nvSpPr>
        <p:spPr>
          <a:xfrm>
            <a:off x="7680960" y="1920240"/>
            <a:ext cx="1280160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▸ bbox</a:t>
            </a:r>
            <a:endParaRPr/>
          </a:p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▸ 알약명</a:t>
            </a:r>
            <a:endParaRPr/>
          </a:p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▸ 신뢰도</a:t>
            </a:r>
            <a:endParaRPr/>
          </a:p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▸ 정보 + 권장</a:t>
            </a:r>
            <a:endParaRPr/>
          </a:p>
        </p:txBody>
      </p:sp>
      <p:sp>
        <p:nvSpPr>
          <p:cNvPr id="698" name="Google Shape;698;p31"/>
          <p:cNvSpPr/>
          <p:nvPr/>
        </p:nvSpPr>
        <p:spPr>
          <a:xfrm>
            <a:off x="457200" y="4311274"/>
            <a:ext cx="8321040" cy="365760"/>
          </a:xfrm>
          <a:prstGeom prst="roundRect">
            <a:avLst>
              <a:gd name="adj" fmla="val 10000"/>
            </a:avLst>
          </a:prstGeom>
          <a:solidFill>
            <a:srgbClr val="115E5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9" name="Google Shape;699;p31"/>
          <p:cNvSpPr txBox="1"/>
          <p:nvPr/>
        </p:nvSpPr>
        <p:spPr>
          <a:xfrm>
            <a:off x="457200" y="4373164"/>
            <a:ext cx="8321040" cy="241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ctr" anchorCtr="0">
            <a:spAutoFit/>
          </a:bodyPr>
          <a:lstStyle/>
          <a:p>
            <a:pPr lvl="0" algn="ctr"/>
            <a:r>
              <a:rPr lang="ko-KR" altLang="en-US" sz="1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모델 추론 </a:t>
            </a:r>
            <a:r>
              <a:rPr lang="en-US" altLang="ko-KR" sz="1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+ </a:t>
            </a:r>
            <a:r>
              <a:rPr lang="ko-KR" altLang="en-US" sz="1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다중 보조 정보로 추론 안정성 및 사용자 신뢰성 보완</a:t>
            </a:r>
            <a:endParaRPr dirty="0"/>
          </a:p>
        </p:txBody>
      </p:sp>
      <p:sp>
        <p:nvSpPr>
          <p:cNvPr id="700" name="Google Shape;700;p31"/>
          <p:cNvSpPr txBox="1"/>
          <p:nvPr/>
        </p:nvSpPr>
        <p:spPr>
          <a:xfrm>
            <a:off x="365760" y="4846320"/>
            <a:ext cx="36576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94A3B8"/>
                </a:solidFill>
                <a:latin typeface="Malgun Gothic"/>
                <a:ea typeface="Malgun Gothic"/>
                <a:cs typeface="Malgun Gothic"/>
                <a:sym typeface="Malgun Gothic"/>
              </a:rPr>
              <a:t>HealthEat · 3팀</a:t>
            </a:r>
            <a:endParaRPr/>
          </a:p>
        </p:txBody>
      </p:sp>
      <p:sp>
        <p:nvSpPr>
          <p:cNvPr id="701" name="Google Shape;701;p31"/>
          <p:cNvSpPr txBox="1"/>
          <p:nvPr/>
        </p:nvSpPr>
        <p:spPr>
          <a:xfrm>
            <a:off x="5486400" y="4846320"/>
            <a:ext cx="3291840" cy="2112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dirty="0">
                <a:solidFill>
                  <a:srgbClr val="94A3B8"/>
                </a:solidFill>
                <a:latin typeface="Malgun Gothic"/>
                <a:ea typeface="Malgun Gothic"/>
                <a:cs typeface="Malgun Gothic"/>
                <a:sym typeface="Malgun Gothic"/>
              </a:rPr>
              <a:t>13</a:t>
            </a:r>
            <a:r>
              <a:rPr lang="en-US" sz="900" b="0" i="0" u="none" strike="noStrike" cap="none" dirty="0">
                <a:solidFill>
                  <a:srgbClr val="94A3B8"/>
                </a:solidFill>
                <a:latin typeface="Malgun Gothic"/>
                <a:ea typeface="Malgun Gothic"/>
                <a:cs typeface="Malgun Gothic"/>
                <a:sym typeface="Malgun Gothic"/>
              </a:rPr>
              <a:t> / 17</a:t>
            </a:r>
            <a:endParaRPr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" name="Google Shape;706;p32"/>
          <p:cNvSpPr/>
          <p:nvPr/>
        </p:nvSpPr>
        <p:spPr>
          <a:xfrm>
            <a:off x="365760" y="292608"/>
            <a:ext cx="292608" cy="292608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7" name="Google Shape;707;p32"/>
          <p:cNvSpPr txBox="1"/>
          <p:nvPr/>
        </p:nvSpPr>
        <p:spPr>
          <a:xfrm>
            <a:off x="365760" y="317922"/>
            <a:ext cx="292608" cy="241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0</a:t>
            </a:r>
            <a:r>
              <a:rPr lang="en-US" sz="1100" b="1" i="0" u="none" strike="noStrike" cap="none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7</a:t>
            </a:r>
            <a:endParaRPr dirty="0"/>
          </a:p>
        </p:txBody>
      </p:sp>
      <p:sp>
        <p:nvSpPr>
          <p:cNvPr id="708" name="Google Shape;708;p32"/>
          <p:cNvSpPr txBox="1"/>
          <p:nvPr/>
        </p:nvSpPr>
        <p:spPr>
          <a:xfrm>
            <a:off x="777240" y="271532"/>
            <a:ext cx="7772400" cy="380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ctr" anchorCtr="0">
            <a:spAutoFit/>
          </a:bodyPr>
          <a:lstStyle/>
          <a:p>
            <a:pPr lvl="0"/>
            <a:r>
              <a:rPr lang="ko-KR" altLang="en-US" sz="2000" b="1" dirty="0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사용자 검증 </a:t>
            </a:r>
            <a:r>
              <a:rPr lang="en-US" altLang="ko-KR" sz="2000" b="1" dirty="0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UX — "</a:t>
            </a:r>
            <a:r>
              <a:rPr lang="ko-KR" altLang="en-US" sz="2000" b="1" dirty="0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정답 확정이 아닌 후보 보조</a:t>
            </a:r>
            <a:r>
              <a:rPr lang="en-US" altLang="ko-KR" sz="2000" b="1" dirty="0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"</a:t>
            </a:r>
            <a:endParaRPr dirty="0"/>
          </a:p>
        </p:txBody>
      </p:sp>
      <p:sp>
        <p:nvSpPr>
          <p:cNvPr id="709" name="Google Shape;709;p32"/>
          <p:cNvSpPr/>
          <p:nvPr/>
        </p:nvSpPr>
        <p:spPr>
          <a:xfrm>
            <a:off x="365760" y="731520"/>
            <a:ext cx="8412480" cy="80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0" name="Google Shape;710;p32"/>
          <p:cNvSpPr txBox="1"/>
          <p:nvPr/>
        </p:nvSpPr>
        <p:spPr>
          <a:xfrm>
            <a:off x="457200" y="914400"/>
            <a:ext cx="41148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14B8A6"/>
                </a:solidFill>
                <a:latin typeface="Malgun Gothic"/>
                <a:ea typeface="Malgun Gothic"/>
                <a:cs typeface="Malgun Gothic"/>
                <a:sym typeface="Malgun Gothic"/>
              </a:rPr>
              <a:t>결과 상태 표시 (3가지)</a:t>
            </a:r>
            <a:endParaRPr/>
          </a:p>
        </p:txBody>
      </p:sp>
      <p:sp>
        <p:nvSpPr>
          <p:cNvPr id="711" name="Google Shape;711;p32"/>
          <p:cNvSpPr/>
          <p:nvPr/>
        </p:nvSpPr>
        <p:spPr>
          <a:xfrm>
            <a:off x="457200" y="1371600"/>
            <a:ext cx="4114800" cy="86868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12700" cap="flat" cmpd="sng">
            <a:solidFill>
              <a:srgbClr val="14B8A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2" name="Google Shape;712;p32"/>
          <p:cNvSpPr txBox="1"/>
          <p:nvPr/>
        </p:nvSpPr>
        <p:spPr>
          <a:xfrm>
            <a:off x="640080" y="1463040"/>
            <a:ext cx="54864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14B8A6"/>
                </a:solidFill>
                <a:latin typeface="Malgun Gothic"/>
                <a:ea typeface="Malgun Gothic"/>
                <a:cs typeface="Malgun Gothic"/>
                <a:sym typeface="Malgun Gothic"/>
              </a:rPr>
              <a:t>✅</a:t>
            </a:r>
            <a:endParaRPr/>
          </a:p>
        </p:txBody>
      </p:sp>
      <p:sp>
        <p:nvSpPr>
          <p:cNvPr id="713" name="Google Shape;713;p32"/>
          <p:cNvSpPr txBox="1"/>
          <p:nvPr/>
        </p:nvSpPr>
        <p:spPr>
          <a:xfrm>
            <a:off x="1280160" y="1508760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식별 가능</a:t>
            </a:r>
            <a:endParaRPr/>
          </a:p>
        </p:txBody>
      </p:sp>
      <p:sp>
        <p:nvSpPr>
          <p:cNvPr id="714" name="Google Shape;714;p32"/>
          <p:cNvSpPr txBox="1"/>
          <p:nvPr/>
        </p:nvSpPr>
        <p:spPr>
          <a:xfrm>
            <a:off x="1280160" y="1828800"/>
            <a:ext cx="2743200" cy="2265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00" b="0" i="0" u="none" strike="noStrike" cap="none">
                <a:solidFill>
                  <a:srgbClr val="475569"/>
                </a:solidFill>
                <a:latin typeface="Malgun Gothic"/>
                <a:ea typeface="Malgun Gothic"/>
                <a:cs typeface="Malgun Gothic"/>
                <a:sym typeface="Malgun Gothic"/>
              </a:rPr>
              <a:t>후보가 비교적 안정적으로 도출</a:t>
            </a:r>
            <a:endParaRPr dirty="0"/>
          </a:p>
        </p:txBody>
      </p:sp>
      <p:sp>
        <p:nvSpPr>
          <p:cNvPr id="715" name="Google Shape;715;p32"/>
          <p:cNvSpPr/>
          <p:nvPr/>
        </p:nvSpPr>
        <p:spPr>
          <a:xfrm>
            <a:off x="457200" y="2331720"/>
            <a:ext cx="4114800" cy="86868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12700" cap="flat" cmpd="sng">
            <a:solidFill>
              <a:srgbClr val="D977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6" name="Google Shape;716;p32"/>
          <p:cNvSpPr txBox="1"/>
          <p:nvPr/>
        </p:nvSpPr>
        <p:spPr>
          <a:xfrm>
            <a:off x="640080" y="2423160"/>
            <a:ext cx="54864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D97706"/>
                </a:solidFill>
                <a:latin typeface="Malgun Gothic"/>
                <a:ea typeface="Malgun Gothic"/>
                <a:cs typeface="Malgun Gothic"/>
                <a:sym typeface="Malgun Gothic"/>
              </a:rPr>
              <a:t>⚠️</a:t>
            </a:r>
            <a:endParaRPr/>
          </a:p>
        </p:txBody>
      </p:sp>
      <p:sp>
        <p:nvSpPr>
          <p:cNvPr id="717" name="Google Shape;717;p32"/>
          <p:cNvSpPr txBox="1"/>
          <p:nvPr/>
        </p:nvSpPr>
        <p:spPr>
          <a:xfrm>
            <a:off x="1280160" y="2468880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추가 확인 필요</a:t>
            </a:r>
            <a:endParaRPr/>
          </a:p>
        </p:txBody>
      </p:sp>
      <p:sp>
        <p:nvSpPr>
          <p:cNvPr id="718" name="Google Shape;718;p32"/>
          <p:cNvSpPr txBox="1"/>
          <p:nvPr/>
        </p:nvSpPr>
        <p:spPr>
          <a:xfrm>
            <a:off x="1280160" y="2788920"/>
            <a:ext cx="2743200" cy="2265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t" anchorCtr="0">
            <a:spAutoFit/>
          </a:bodyPr>
          <a:lstStyle/>
          <a:p>
            <a:pPr lvl="0"/>
            <a:r>
              <a:rPr lang="ko-KR" altLang="en-US" sz="1000">
                <a:solidFill>
                  <a:srgbClr val="475569"/>
                </a:solidFill>
                <a:latin typeface="Malgun Gothic"/>
                <a:ea typeface="Malgun Gothic"/>
                <a:cs typeface="Malgun Gothic"/>
                <a:sym typeface="Malgun Gothic"/>
              </a:rPr>
              <a:t>후보는 있으나 추가 검증 필요</a:t>
            </a:r>
            <a:endParaRPr dirty="0"/>
          </a:p>
        </p:txBody>
      </p:sp>
      <p:sp>
        <p:nvSpPr>
          <p:cNvPr id="719" name="Google Shape;719;p32"/>
          <p:cNvSpPr/>
          <p:nvPr/>
        </p:nvSpPr>
        <p:spPr>
          <a:xfrm>
            <a:off x="457200" y="3291840"/>
            <a:ext cx="4114800" cy="86868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12700" cap="flat" cmpd="sng">
            <a:solidFill>
              <a:srgbClr val="DC262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0" name="Google Shape;720;p32"/>
          <p:cNvSpPr txBox="1"/>
          <p:nvPr/>
        </p:nvSpPr>
        <p:spPr>
          <a:xfrm>
            <a:off x="640080" y="3383280"/>
            <a:ext cx="54864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DC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🔄</a:t>
            </a:r>
            <a:endParaRPr/>
          </a:p>
        </p:txBody>
      </p:sp>
      <p:sp>
        <p:nvSpPr>
          <p:cNvPr id="721" name="Google Shape;721;p32"/>
          <p:cNvSpPr txBox="1"/>
          <p:nvPr/>
        </p:nvSpPr>
        <p:spPr>
          <a:xfrm>
            <a:off x="1280160" y="3429000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재촬영 권장</a:t>
            </a:r>
            <a:endParaRPr/>
          </a:p>
        </p:txBody>
      </p:sp>
      <p:sp>
        <p:nvSpPr>
          <p:cNvPr id="722" name="Google Shape;722;p32"/>
          <p:cNvSpPr txBox="1"/>
          <p:nvPr/>
        </p:nvSpPr>
        <p:spPr>
          <a:xfrm>
            <a:off x="1280160" y="3749040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475569"/>
                </a:solidFill>
                <a:latin typeface="Malgun Gothic"/>
                <a:ea typeface="Malgun Gothic"/>
                <a:cs typeface="Malgun Gothic"/>
                <a:sym typeface="Malgun Gothic"/>
              </a:rPr>
              <a:t>검출 실패 또는 bbox 품질 문제</a:t>
            </a:r>
            <a:endParaRPr/>
          </a:p>
        </p:txBody>
      </p:sp>
      <p:sp>
        <p:nvSpPr>
          <p:cNvPr id="723" name="Google Shape;723;p32"/>
          <p:cNvSpPr/>
          <p:nvPr/>
        </p:nvSpPr>
        <p:spPr>
          <a:xfrm>
            <a:off x="4846320" y="914400"/>
            <a:ext cx="3931920" cy="338328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4" name="Google Shape;724;p32"/>
          <p:cNvSpPr txBox="1"/>
          <p:nvPr/>
        </p:nvSpPr>
        <p:spPr>
          <a:xfrm>
            <a:off x="5029200" y="1051560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14B8A6"/>
                </a:solidFill>
                <a:latin typeface="Malgun Gothic"/>
                <a:ea typeface="Malgun Gothic"/>
                <a:cs typeface="Malgun Gothic"/>
                <a:sym typeface="Malgun Gothic"/>
              </a:rPr>
              <a:t>사용자 각인 직접 입력 UI</a:t>
            </a:r>
            <a:endParaRPr/>
          </a:p>
        </p:txBody>
      </p:sp>
      <p:sp>
        <p:nvSpPr>
          <p:cNvPr id="725" name="Google Shape;725;p32"/>
          <p:cNvSpPr txBox="1"/>
          <p:nvPr/>
        </p:nvSpPr>
        <p:spPr>
          <a:xfrm>
            <a:off x="5029200" y="1463040"/>
            <a:ext cx="3657600" cy="21332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 dirty="0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▍ </a:t>
            </a:r>
            <a:r>
              <a:rPr lang="en-US" sz="1100" b="1" i="0" u="none" strike="noStrike" cap="none" dirty="0" err="1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자동</a:t>
            </a:r>
            <a:r>
              <a:rPr lang="en-US" sz="1100" b="1" i="0" u="none" strike="noStrike" cap="none" dirty="0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altLang="en-US" sz="1100" b="1" i="0" u="none" strike="noStrike" cap="none" dirty="0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각인 판단</a:t>
            </a:r>
            <a:r>
              <a:rPr lang="en-US" sz="1100" b="1" i="0" u="none" strike="noStrike" cap="none" dirty="0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1100" b="1" i="0" u="none" strike="noStrike" cap="none" dirty="0" err="1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한계</a:t>
            </a:r>
            <a:r>
              <a:rPr lang="en-US" sz="1100" b="1" i="0" u="none" strike="noStrike" cap="none" dirty="0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1100" b="1" i="0" u="none" strike="noStrike" cap="none" dirty="0" err="1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보완</a:t>
            </a:r>
            <a:endParaRPr dirty="0"/>
          </a:p>
          <a:p>
            <a:pPr lvl="0">
              <a:lnSpc>
                <a:spcPct val="130000"/>
              </a:lnSpc>
            </a:pPr>
            <a:r>
              <a:rPr lang="en-US" altLang="ko-KR" sz="1000" dirty="0">
                <a:solidFill>
                  <a:srgbClr val="475569"/>
                </a:solidFill>
                <a:latin typeface="Malgun Gothic"/>
                <a:ea typeface="Malgun Gothic"/>
                <a:cs typeface="Malgun Gothic"/>
                <a:sym typeface="Malgun Gothic"/>
              </a:rPr>
              <a:t>Qwen VLM </a:t>
            </a:r>
            <a:r>
              <a:rPr lang="ko-KR" altLang="en-US" sz="1000" dirty="0">
                <a:solidFill>
                  <a:srgbClr val="475569"/>
                </a:solidFill>
                <a:latin typeface="Malgun Gothic"/>
                <a:ea typeface="Malgun Gothic"/>
                <a:cs typeface="Malgun Gothic"/>
                <a:sym typeface="Malgun Gothic"/>
              </a:rPr>
              <a:t>기반 각인 후보 판단을 사용자 입력으로 보정</a:t>
            </a:r>
            <a:endParaRPr lang="en-US" altLang="ko-KR" sz="1000" dirty="0">
              <a:solidFill>
                <a:srgbClr val="475569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lvl="0">
              <a:lnSpc>
                <a:spcPct val="130000"/>
              </a:lnSpc>
            </a:pPr>
            <a:endParaRPr sz="1000" b="0" i="0" u="none" strike="noStrike" cap="none" dirty="0">
              <a:solidFill>
                <a:srgbClr val="475569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 dirty="0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▍ </a:t>
            </a:r>
            <a:r>
              <a:rPr lang="en-US" sz="1100" b="1" i="0" u="none" strike="noStrike" cap="none" dirty="0" err="1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양방향</a:t>
            </a:r>
            <a:r>
              <a:rPr lang="en-US" sz="1100" b="1" i="0" u="none" strike="noStrike" cap="none" dirty="0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1100" b="1" i="0" u="none" strike="noStrike" cap="none" dirty="0" err="1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검색</a:t>
            </a:r>
            <a:endParaRPr dirty="0"/>
          </a:p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 dirty="0" err="1">
                <a:solidFill>
                  <a:srgbClr val="475569"/>
                </a:solidFill>
                <a:latin typeface="Malgun Gothic"/>
                <a:ea typeface="Malgun Gothic"/>
                <a:cs typeface="Malgun Gothic"/>
                <a:sym typeface="Malgun Gothic"/>
              </a:rPr>
              <a:t>앞면</a:t>
            </a:r>
            <a:r>
              <a:rPr lang="en-US" sz="1000" b="0" i="0" u="none" strike="noStrike" cap="none" dirty="0">
                <a:solidFill>
                  <a:srgbClr val="475569"/>
                </a:solidFill>
                <a:latin typeface="Malgun Gothic"/>
                <a:ea typeface="Malgun Gothic"/>
                <a:cs typeface="Malgun Gothic"/>
                <a:sym typeface="Malgun Gothic"/>
              </a:rPr>
              <a:t>/</a:t>
            </a:r>
            <a:r>
              <a:rPr lang="en-US" sz="1000" b="0" i="0" u="none" strike="noStrike" cap="none" dirty="0" err="1">
                <a:solidFill>
                  <a:srgbClr val="475569"/>
                </a:solidFill>
                <a:latin typeface="Malgun Gothic"/>
                <a:ea typeface="Malgun Gothic"/>
                <a:cs typeface="Malgun Gothic"/>
                <a:sym typeface="Malgun Gothic"/>
              </a:rPr>
              <a:t>뒷면</a:t>
            </a:r>
            <a:r>
              <a:rPr lang="en-US" sz="1000" b="0" i="0" u="none" strike="noStrike" cap="none" dirty="0">
                <a:solidFill>
                  <a:srgbClr val="475569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1000" b="0" i="0" u="none" strike="noStrike" cap="none" dirty="0" err="1">
                <a:solidFill>
                  <a:srgbClr val="475569"/>
                </a:solidFill>
                <a:latin typeface="Malgun Gothic"/>
                <a:ea typeface="Malgun Gothic"/>
                <a:cs typeface="Malgun Gothic"/>
                <a:sym typeface="Malgun Gothic"/>
              </a:rPr>
              <a:t>무관</a:t>
            </a:r>
            <a:r>
              <a:rPr lang="en-US" sz="1000" b="0" i="0" u="none" strike="noStrike" cap="none" dirty="0">
                <a:solidFill>
                  <a:srgbClr val="475569"/>
                </a:solidFill>
                <a:latin typeface="Malgun Gothic"/>
                <a:ea typeface="Malgun Gothic"/>
                <a:cs typeface="Malgun Gothic"/>
                <a:sym typeface="Malgun Gothic"/>
              </a:rPr>
              <a:t> — </a:t>
            </a:r>
            <a:r>
              <a:rPr lang="en-US" sz="1000" b="0" i="0" u="none" strike="noStrike" cap="none" dirty="0" err="1">
                <a:solidFill>
                  <a:srgbClr val="475569"/>
                </a:solidFill>
                <a:latin typeface="Malgun Gothic"/>
                <a:ea typeface="Malgun Gothic"/>
                <a:cs typeface="Malgun Gothic"/>
                <a:sym typeface="Malgun Gothic"/>
              </a:rPr>
              <a:t>입력</a:t>
            </a:r>
            <a:r>
              <a:rPr lang="en-US" sz="1000" b="0" i="0" u="none" strike="noStrike" cap="none" dirty="0">
                <a:solidFill>
                  <a:srgbClr val="475569"/>
                </a:solidFill>
                <a:latin typeface="Malgun Gothic"/>
                <a:ea typeface="Malgun Gothic"/>
                <a:cs typeface="Malgun Gothic"/>
                <a:sym typeface="Malgun Gothic"/>
              </a:rPr>
              <a:t> 1, </a:t>
            </a:r>
            <a:r>
              <a:rPr lang="en-US" sz="1000" b="0" i="0" u="none" strike="noStrike" cap="none" dirty="0" err="1">
                <a:solidFill>
                  <a:srgbClr val="475569"/>
                </a:solidFill>
                <a:latin typeface="Malgun Gothic"/>
                <a:ea typeface="Malgun Gothic"/>
                <a:cs typeface="Malgun Gothic"/>
                <a:sym typeface="Malgun Gothic"/>
              </a:rPr>
              <a:t>입력</a:t>
            </a:r>
            <a:r>
              <a:rPr lang="en-US" sz="1000" b="0" i="0" u="none" strike="noStrike" cap="none" dirty="0">
                <a:solidFill>
                  <a:srgbClr val="475569"/>
                </a:solidFill>
                <a:latin typeface="Malgun Gothic"/>
                <a:ea typeface="Malgun Gothic"/>
                <a:cs typeface="Malgun Gothic"/>
                <a:sym typeface="Malgun Gothic"/>
              </a:rPr>
              <a:t> 2 </a:t>
            </a:r>
            <a:r>
              <a:rPr lang="en-US" sz="1000" b="0" i="0" u="none" strike="noStrike" cap="none" dirty="0" err="1">
                <a:solidFill>
                  <a:srgbClr val="475569"/>
                </a:solidFill>
                <a:latin typeface="Malgun Gothic"/>
                <a:ea typeface="Malgun Gothic"/>
                <a:cs typeface="Malgun Gothic"/>
                <a:sym typeface="Malgun Gothic"/>
              </a:rPr>
              <a:t>모두</a:t>
            </a:r>
            <a:r>
              <a:rPr lang="en-US" sz="1000" b="0" i="0" u="none" strike="noStrike" cap="none" dirty="0">
                <a:solidFill>
                  <a:srgbClr val="475569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1000" b="0" i="0" u="none" strike="noStrike" cap="none" dirty="0" err="1">
                <a:solidFill>
                  <a:srgbClr val="475569"/>
                </a:solidFill>
                <a:latin typeface="Malgun Gothic"/>
                <a:ea typeface="Malgun Gothic"/>
                <a:cs typeface="Malgun Gothic"/>
                <a:sym typeface="Malgun Gothic"/>
              </a:rPr>
              <a:t>검색</a:t>
            </a:r>
            <a:endParaRPr dirty="0"/>
          </a:p>
          <a:p>
            <a:pPr lvl="0">
              <a:lnSpc>
                <a:spcPct val="130000"/>
              </a:lnSpc>
            </a:pPr>
            <a:r>
              <a:rPr lang="ko-KR" altLang="en-US" sz="1000" i="1" dirty="0">
                <a:solidFill>
                  <a:srgbClr val="475569"/>
                </a:solidFill>
                <a:latin typeface="Malgun Gothic"/>
                <a:ea typeface="Malgun Gothic"/>
                <a:cs typeface="Malgun Gothic"/>
                <a:sym typeface="Malgun Gothic"/>
              </a:rPr>
              <a:t>예</a:t>
            </a:r>
            <a:r>
              <a:rPr lang="en-US" altLang="ko-KR" sz="1000" i="1" dirty="0">
                <a:solidFill>
                  <a:srgbClr val="475569"/>
                </a:solidFill>
                <a:latin typeface="Malgun Gothic"/>
                <a:ea typeface="Malgun Gothic"/>
                <a:cs typeface="Malgun Gothic"/>
                <a:sym typeface="Malgun Gothic"/>
              </a:rPr>
              <a:t>: MAXOZOL | 500/20 → </a:t>
            </a:r>
            <a:r>
              <a:rPr lang="ko-KR" altLang="en-US" sz="1000" i="1" dirty="0">
                <a:solidFill>
                  <a:srgbClr val="475569"/>
                </a:solidFill>
                <a:latin typeface="Malgun Gothic"/>
                <a:ea typeface="Malgun Gothic"/>
                <a:cs typeface="Malgun Gothic"/>
                <a:sym typeface="Malgun Gothic"/>
              </a:rPr>
              <a:t>입력 순서와 무관하게 검색</a:t>
            </a:r>
            <a:endParaRPr lang="en-US" altLang="ko-KR" sz="1000" i="1" dirty="0">
              <a:solidFill>
                <a:srgbClr val="475569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lvl="0">
              <a:lnSpc>
                <a:spcPct val="130000"/>
              </a:lnSpc>
            </a:pPr>
            <a:endParaRPr sz="1000" b="0" i="1" u="none" strike="noStrike" cap="none" dirty="0">
              <a:solidFill>
                <a:srgbClr val="475569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 dirty="0">
                <a:solidFill>
                  <a:srgbClr val="DC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▍ </a:t>
            </a:r>
            <a:r>
              <a:rPr lang="en-US" sz="1100" b="1" i="0" u="none" strike="noStrike" cap="none" dirty="0" err="1">
                <a:solidFill>
                  <a:srgbClr val="DC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핵심</a:t>
            </a:r>
            <a:r>
              <a:rPr lang="en-US" sz="1100" b="1" i="0" u="none" strike="noStrike" cap="none" dirty="0">
                <a:solidFill>
                  <a:srgbClr val="DC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1100" b="1" i="0" u="none" strike="noStrike" cap="none" dirty="0" err="1">
                <a:solidFill>
                  <a:srgbClr val="DC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철학</a:t>
            </a:r>
            <a:endParaRPr dirty="0"/>
          </a:p>
          <a:p>
            <a:pPr lvl="0">
              <a:lnSpc>
                <a:spcPct val="130000"/>
              </a:lnSpc>
            </a:pPr>
            <a:r>
              <a:rPr lang="ko-KR" altLang="en-US" sz="1000" dirty="0">
                <a:solidFill>
                  <a:srgbClr val="475569"/>
                </a:solidFill>
                <a:latin typeface="Malgun Gothic"/>
                <a:ea typeface="Malgun Gothic"/>
                <a:cs typeface="Malgun Gothic"/>
                <a:sym typeface="Malgun Gothic"/>
              </a:rPr>
              <a:t>시스템이 정답을 단정하지 않음</a:t>
            </a:r>
          </a:p>
          <a:p>
            <a:pPr lvl="0">
              <a:lnSpc>
                <a:spcPct val="130000"/>
              </a:lnSpc>
            </a:pPr>
            <a:r>
              <a:rPr lang="ko-KR" altLang="en-US" sz="1000" dirty="0">
                <a:solidFill>
                  <a:srgbClr val="475569"/>
                </a:solidFill>
                <a:latin typeface="Malgun Gothic"/>
                <a:ea typeface="Malgun Gothic"/>
                <a:cs typeface="Malgun Gothic"/>
                <a:sym typeface="Malgun Gothic"/>
              </a:rPr>
              <a:t>→ 사용자의 최종 확인 유도</a:t>
            </a:r>
            <a:endParaRPr dirty="0"/>
          </a:p>
        </p:txBody>
      </p:sp>
      <p:sp>
        <p:nvSpPr>
          <p:cNvPr id="726" name="Google Shape;726;p32"/>
          <p:cNvSpPr txBox="1"/>
          <p:nvPr/>
        </p:nvSpPr>
        <p:spPr>
          <a:xfrm>
            <a:off x="457200" y="4526280"/>
            <a:ext cx="8321040" cy="2265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t" anchorCtr="0">
            <a:spAutoFit/>
          </a:bodyPr>
          <a:lstStyle/>
          <a:p>
            <a:pPr lvl="0" algn="ctr"/>
            <a:r>
              <a:rPr lang="en-US" altLang="ko-KR" sz="1000" i="1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"AI</a:t>
            </a:r>
            <a:r>
              <a:rPr lang="ko-KR" altLang="en-US" sz="1000" i="1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는 후보를 제시하고</a:t>
            </a:r>
            <a:r>
              <a:rPr lang="en-US" altLang="ko-KR" sz="1000" i="1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, </a:t>
            </a:r>
            <a:r>
              <a:rPr lang="ko-KR" altLang="en-US" sz="1000" i="1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최종 확인은 사용자가 수행</a:t>
            </a:r>
            <a:r>
              <a:rPr lang="en-US" altLang="ko-KR" sz="1000" i="1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" — </a:t>
            </a:r>
            <a:r>
              <a:rPr lang="ko-KR" altLang="en-US" sz="1000" i="1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의료 도메인의 안전성 우선 설계</a:t>
            </a:r>
            <a:endParaRPr dirty="0"/>
          </a:p>
        </p:txBody>
      </p:sp>
      <p:sp>
        <p:nvSpPr>
          <p:cNvPr id="727" name="Google Shape;727;p32"/>
          <p:cNvSpPr txBox="1"/>
          <p:nvPr/>
        </p:nvSpPr>
        <p:spPr>
          <a:xfrm>
            <a:off x="365760" y="4846320"/>
            <a:ext cx="36576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94A3B8"/>
                </a:solidFill>
                <a:latin typeface="Malgun Gothic"/>
                <a:ea typeface="Malgun Gothic"/>
                <a:cs typeface="Malgun Gothic"/>
                <a:sym typeface="Malgun Gothic"/>
              </a:rPr>
              <a:t>HealthEat · 3팀</a:t>
            </a:r>
            <a:endParaRPr/>
          </a:p>
        </p:txBody>
      </p:sp>
      <p:sp>
        <p:nvSpPr>
          <p:cNvPr id="728" name="Google Shape;728;p32"/>
          <p:cNvSpPr txBox="1"/>
          <p:nvPr/>
        </p:nvSpPr>
        <p:spPr>
          <a:xfrm>
            <a:off x="5486400" y="4846320"/>
            <a:ext cx="3291840" cy="2112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dirty="0">
                <a:solidFill>
                  <a:srgbClr val="94A3B8"/>
                </a:solidFill>
                <a:latin typeface="Malgun Gothic"/>
                <a:ea typeface="Malgun Gothic"/>
                <a:cs typeface="Malgun Gothic"/>
                <a:sym typeface="Malgun Gothic"/>
              </a:rPr>
              <a:t>14</a:t>
            </a:r>
            <a:r>
              <a:rPr lang="en-US" sz="900" b="0" i="0" u="none" strike="noStrike" cap="none" dirty="0">
                <a:solidFill>
                  <a:srgbClr val="94A3B8"/>
                </a:solidFill>
                <a:latin typeface="Malgun Gothic"/>
                <a:ea typeface="Malgun Gothic"/>
                <a:cs typeface="Malgun Gothic"/>
                <a:sym typeface="Malgun Gothic"/>
              </a:rPr>
              <a:t> / 17</a:t>
            </a:r>
            <a:endParaRPr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3" name="Google Shape;733;p33"/>
          <p:cNvSpPr/>
          <p:nvPr/>
        </p:nvSpPr>
        <p:spPr>
          <a:xfrm>
            <a:off x="365760" y="292608"/>
            <a:ext cx="292608" cy="292608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4" name="Google Shape;734;p33"/>
          <p:cNvSpPr txBox="1"/>
          <p:nvPr/>
        </p:nvSpPr>
        <p:spPr>
          <a:xfrm>
            <a:off x="365760" y="317922"/>
            <a:ext cx="292608" cy="241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07</a:t>
            </a:r>
            <a:endParaRPr dirty="0"/>
          </a:p>
        </p:txBody>
      </p:sp>
      <p:sp>
        <p:nvSpPr>
          <p:cNvPr id="735" name="Google Shape;735;p33"/>
          <p:cNvSpPr txBox="1"/>
          <p:nvPr/>
        </p:nvSpPr>
        <p:spPr>
          <a:xfrm>
            <a:off x="777240" y="256032"/>
            <a:ext cx="77724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시연 — 실시간 웹 데모</a:t>
            </a:r>
            <a:endParaRPr/>
          </a:p>
        </p:txBody>
      </p:sp>
      <p:sp>
        <p:nvSpPr>
          <p:cNvPr id="736" name="Google Shape;736;p33"/>
          <p:cNvSpPr/>
          <p:nvPr/>
        </p:nvSpPr>
        <p:spPr>
          <a:xfrm>
            <a:off x="365760" y="731520"/>
            <a:ext cx="8412480" cy="80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9" name="Google Shape;739;p33"/>
          <p:cNvSpPr txBox="1"/>
          <p:nvPr/>
        </p:nvSpPr>
        <p:spPr>
          <a:xfrm>
            <a:off x="365760" y="4846320"/>
            <a:ext cx="36576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94A3B8"/>
                </a:solidFill>
                <a:latin typeface="Malgun Gothic"/>
                <a:ea typeface="Malgun Gothic"/>
                <a:cs typeface="Malgun Gothic"/>
                <a:sym typeface="Malgun Gothic"/>
              </a:rPr>
              <a:t>HealthEat · 3팀</a:t>
            </a:r>
            <a:endParaRPr/>
          </a:p>
        </p:txBody>
      </p:sp>
      <p:sp>
        <p:nvSpPr>
          <p:cNvPr id="740" name="Google Shape;740;p33"/>
          <p:cNvSpPr txBox="1"/>
          <p:nvPr/>
        </p:nvSpPr>
        <p:spPr>
          <a:xfrm>
            <a:off x="5486400" y="4846320"/>
            <a:ext cx="3291840" cy="2112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dirty="0">
                <a:solidFill>
                  <a:srgbClr val="94A3B8"/>
                </a:solidFill>
                <a:latin typeface="Malgun Gothic"/>
                <a:ea typeface="Malgun Gothic"/>
                <a:cs typeface="Malgun Gothic"/>
                <a:sym typeface="Malgun Gothic"/>
              </a:rPr>
              <a:t>15</a:t>
            </a:r>
            <a:r>
              <a:rPr lang="en-US" sz="900" b="0" i="0" u="none" strike="noStrike" cap="none" dirty="0">
                <a:solidFill>
                  <a:srgbClr val="94A3B8"/>
                </a:solidFill>
                <a:latin typeface="Malgun Gothic"/>
                <a:ea typeface="Malgun Gothic"/>
                <a:cs typeface="Malgun Gothic"/>
                <a:sym typeface="Malgun Gothic"/>
              </a:rPr>
              <a:t> / 17</a:t>
            </a:r>
            <a:endParaRPr dirty="0"/>
          </a:p>
        </p:txBody>
      </p:sp>
      <p:pic>
        <p:nvPicPr>
          <p:cNvPr id="2" name="영상3">
            <a:hlinkClick r:id="" action="ppaction://media"/>
            <a:extLst>
              <a:ext uri="{FF2B5EF4-FFF2-40B4-BE49-F238E27FC236}">
                <a16:creationId xmlns:a16="http://schemas.microsoft.com/office/drawing/2014/main" id="{0D85B994-42D9-8248-A770-04CD62A51172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18689" y="731520"/>
            <a:ext cx="7107255" cy="386728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13516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5" name="Google Shape;745;p34"/>
          <p:cNvSpPr/>
          <p:nvPr/>
        </p:nvSpPr>
        <p:spPr>
          <a:xfrm>
            <a:off x="365760" y="292608"/>
            <a:ext cx="292608" cy="292608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6" name="Google Shape;746;p34"/>
          <p:cNvSpPr txBox="1"/>
          <p:nvPr/>
        </p:nvSpPr>
        <p:spPr>
          <a:xfrm>
            <a:off x="365760" y="317922"/>
            <a:ext cx="292608" cy="241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/>
                <a:ea typeface="Malgun Gothic"/>
                <a:sym typeface="Malgun Gothic"/>
              </a:rPr>
              <a:t>08</a:t>
            </a:r>
            <a:endParaRPr dirty="0"/>
          </a:p>
        </p:txBody>
      </p:sp>
      <p:sp>
        <p:nvSpPr>
          <p:cNvPr id="747" name="Google Shape;747;p34"/>
          <p:cNvSpPr txBox="1"/>
          <p:nvPr/>
        </p:nvSpPr>
        <p:spPr>
          <a:xfrm>
            <a:off x="777240" y="271532"/>
            <a:ext cx="7772400" cy="380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결</a:t>
            </a:r>
            <a:r>
              <a:rPr lang="ko-KR" altLang="en-US" sz="2000" b="1" i="0" u="none" strike="noStrike" cap="none" dirty="0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론</a:t>
            </a:r>
            <a:endParaRPr dirty="0"/>
          </a:p>
        </p:txBody>
      </p:sp>
      <p:sp>
        <p:nvSpPr>
          <p:cNvPr id="748" name="Google Shape;748;p34"/>
          <p:cNvSpPr/>
          <p:nvPr/>
        </p:nvSpPr>
        <p:spPr>
          <a:xfrm>
            <a:off x="365760" y="731520"/>
            <a:ext cx="8412480" cy="80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9" name="Google Shape;749;p34"/>
          <p:cNvSpPr txBox="1"/>
          <p:nvPr/>
        </p:nvSpPr>
        <p:spPr>
          <a:xfrm>
            <a:off x="457200" y="826960"/>
            <a:ext cx="4114800" cy="2881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 dirty="0" err="1">
                <a:solidFill>
                  <a:srgbClr val="14B8A6"/>
                </a:solidFill>
                <a:latin typeface="Malgun Gothic"/>
                <a:ea typeface="Malgun Gothic"/>
                <a:cs typeface="Malgun Gothic"/>
                <a:sym typeface="Malgun Gothic"/>
              </a:rPr>
              <a:t>핵심</a:t>
            </a:r>
            <a:r>
              <a:rPr lang="en-US" sz="1400" b="1" i="0" u="none" strike="noStrike" cap="none" dirty="0">
                <a:solidFill>
                  <a:srgbClr val="14B8A6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1400" b="1" i="0" u="none" strike="noStrike" cap="none" dirty="0" err="1">
                <a:solidFill>
                  <a:srgbClr val="14B8A6"/>
                </a:solidFill>
                <a:latin typeface="Malgun Gothic"/>
                <a:ea typeface="Malgun Gothic"/>
                <a:cs typeface="Malgun Gothic"/>
                <a:sym typeface="Malgun Gothic"/>
              </a:rPr>
              <a:t>발견</a:t>
            </a:r>
            <a:r>
              <a:rPr lang="en-US" sz="1400" b="1" i="0" u="none" strike="noStrike" cap="none" dirty="0">
                <a:solidFill>
                  <a:srgbClr val="14B8A6"/>
                </a:solidFill>
                <a:latin typeface="Malgun Gothic"/>
                <a:ea typeface="Malgun Gothic"/>
                <a:cs typeface="Malgun Gothic"/>
                <a:sym typeface="Malgun Gothic"/>
              </a:rPr>
              <a:t> + </a:t>
            </a:r>
            <a:r>
              <a:rPr lang="ko-KR" altLang="en-US" b="1" dirty="0">
                <a:solidFill>
                  <a:srgbClr val="14B8A6"/>
                </a:solidFill>
                <a:latin typeface="Malgun Gothic"/>
                <a:ea typeface="Malgun Gothic"/>
                <a:cs typeface="Malgun Gothic"/>
                <a:sym typeface="Malgun Gothic"/>
              </a:rPr>
              <a:t>한계</a:t>
            </a:r>
            <a:endParaRPr dirty="0"/>
          </a:p>
        </p:txBody>
      </p:sp>
      <p:sp>
        <p:nvSpPr>
          <p:cNvPr id="750" name="Google Shape;750;p34"/>
          <p:cNvSpPr txBox="1"/>
          <p:nvPr/>
        </p:nvSpPr>
        <p:spPr>
          <a:xfrm>
            <a:off x="457200" y="1202547"/>
            <a:ext cx="4114800" cy="3639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b="1" i="0" u="none" strike="noStrike" cap="none" dirty="0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▌ </a:t>
            </a:r>
            <a:r>
              <a:rPr lang="en-US" altLang="ko-KR" sz="1200" b="1" i="0" u="none" strike="noStrike" cap="none" dirty="0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validation/Kaggle </a:t>
            </a:r>
            <a:r>
              <a:rPr lang="ko-KR" altLang="en-US" sz="1200" b="1" i="0" u="none" strike="noStrike" cap="none" dirty="0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점수와 실제 촬영 성능의 차이</a:t>
            </a:r>
            <a:endParaRPr lang="en-US" altLang="ko-KR" sz="1200" b="1" i="0" u="none" strike="noStrike" cap="none" dirty="0">
              <a:solidFill>
                <a:srgbClr val="1E293B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lvl="0">
              <a:lnSpc>
                <a:spcPct val="120000"/>
              </a:lnSpc>
            </a:pPr>
            <a:r>
              <a:rPr lang="ko-KR" altLang="en-US" sz="1000" dirty="0">
                <a:solidFill>
                  <a:srgbClr val="475569"/>
                </a:solidFill>
                <a:latin typeface="Malgun Gothic"/>
                <a:ea typeface="Malgun Gothic"/>
                <a:cs typeface="Malgun Gothic"/>
                <a:sym typeface="Malgun Gothic"/>
              </a:rPr>
              <a:t>기존 </a:t>
            </a:r>
            <a:r>
              <a:rPr lang="en-US" altLang="ko-KR" sz="1000" dirty="0">
                <a:solidFill>
                  <a:srgbClr val="475569"/>
                </a:solidFill>
                <a:latin typeface="Malgun Gothic"/>
                <a:ea typeface="Malgun Gothic"/>
                <a:cs typeface="Malgun Gothic"/>
                <a:sym typeface="Malgun Gothic"/>
              </a:rPr>
              <a:t>validation/Kaggle</a:t>
            </a:r>
            <a:r>
              <a:rPr lang="ko-KR" altLang="en-US" sz="1000" dirty="0">
                <a:solidFill>
                  <a:srgbClr val="475569"/>
                </a:solidFill>
                <a:latin typeface="Malgun Gothic"/>
                <a:ea typeface="Malgun Gothic"/>
                <a:cs typeface="Malgun Gothic"/>
                <a:sym typeface="Malgun Gothic"/>
              </a:rPr>
              <a:t>에서는 높은 점수</a:t>
            </a:r>
          </a:p>
          <a:p>
            <a:pPr lvl="0">
              <a:lnSpc>
                <a:spcPct val="120000"/>
              </a:lnSpc>
            </a:pPr>
            <a:r>
              <a:rPr lang="ko-KR" altLang="en-US" sz="1000" dirty="0">
                <a:solidFill>
                  <a:srgbClr val="475569"/>
                </a:solidFill>
                <a:latin typeface="Malgun Gothic"/>
                <a:ea typeface="Malgun Gothic"/>
                <a:cs typeface="Malgun Gothic"/>
                <a:sym typeface="Malgun Gothic"/>
              </a:rPr>
              <a:t>→ 자체 평가셋에서는 성능 하락 확인</a:t>
            </a:r>
            <a:endParaRPr lang="en-US" altLang="ko-KR" sz="1000" dirty="0">
              <a:solidFill>
                <a:srgbClr val="475569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lvl="0">
              <a:lnSpc>
                <a:spcPct val="120000"/>
              </a:lnSpc>
            </a:pPr>
            <a:endParaRPr lang="ko-KR" altLang="en-US" sz="1000" b="0" i="0" u="none" strike="noStrike" cap="none" dirty="0">
              <a:solidFill>
                <a:srgbClr val="475569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b="1" i="0" u="none" strike="noStrike" cap="none" dirty="0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▌ 실제 촬영 평가 기준으로 모델 재선정</a:t>
            </a:r>
            <a:endParaRPr lang="en-US" altLang="ko-KR" sz="1200" b="1" i="0" u="none" strike="noStrike" cap="none" dirty="0">
              <a:solidFill>
                <a:srgbClr val="1E293B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000" b="0" i="0" u="none" strike="noStrike" cap="none" dirty="0">
                <a:solidFill>
                  <a:srgbClr val="475569"/>
                </a:solidFill>
                <a:latin typeface="Malgun Gothic"/>
                <a:ea typeface="Malgun Gothic"/>
                <a:cs typeface="Malgun Gothic"/>
                <a:sym typeface="Malgun Gothic"/>
              </a:rPr>
              <a:t>33</a:t>
            </a:r>
            <a:r>
              <a:rPr lang="ko-KR" altLang="en-US" sz="1000" b="0" i="0" u="none" strike="noStrike" cap="none" dirty="0">
                <a:solidFill>
                  <a:srgbClr val="475569"/>
                </a:solidFill>
                <a:latin typeface="Malgun Gothic"/>
                <a:ea typeface="Malgun Gothic"/>
                <a:cs typeface="Malgun Gothic"/>
                <a:sym typeface="Malgun Gothic"/>
              </a:rPr>
              <a:t>장 자체 </a:t>
            </a:r>
            <a:r>
              <a:rPr lang="ko-KR" altLang="en-US" sz="1000" b="0" i="0" u="none" strike="noStrike" cap="none" dirty="0" err="1">
                <a:solidFill>
                  <a:srgbClr val="475569"/>
                </a:solidFill>
                <a:latin typeface="Malgun Gothic"/>
                <a:ea typeface="Malgun Gothic"/>
                <a:cs typeface="Malgun Gothic"/>
                <a:sym typeface="Malgun Gothic"/>
              </a:rPr>
              <a:t>평가셋</a:t>
            </a:r>
            <a:r>
              <a:rPr lang="ko-KR" altLang="en-US" sz="1000" b="0" i="0" u="none" strike="noStrike" cap="none" dirty="0">
                <a:solidFill>
                  <a:srgbClr val="475569"/>
                </a:solidFill>
                <a:latin typeface="Malgun Gothic"/>
                <a:ea typeface="Malgun Gothic"/>
                <a:cs typeface="Malgun Gothic"/>
                <a:sym typeface="Malgun Gothic"/>
              </a:rPr>
              <a:t> 기준 </a:t>
            </a:r>
            <a:r>
              <a:rPr lang="en-US" altLang="ko-KR" sz="1000" b="0" i="0" u="none" strike="noStrike" cap="none" dirty="0" err="1">
                <a:solidFill>
                  <a:srgbClr val="475569"/>
                </a:solidFill>
                <a:latin typeface="Malgun Gothic"/>
                <a:ea typeface="Malgun Gothic"/>
                <a:cs typeface="Malgun Gothic"/>
                <a:sym typeface="Malgun Gothic"/>
              </a:rPr>
              <a:t>RTMDet</a:t>
            </a:r>
            <a:r>
              <a:rPr lang="en-US" altLang="ko-KR" sz="1000" b="0" i="0" u="none" strike="noStrike" cap="none" dirty="0">
                <a:solidFill>
                  <a:srgbClr val="475569"/>
                </a:solidFill>
                <a:latin typeface="Malgun Gothic"/>
                <a:ea typeface="Malgun Gothic"/>
                <a:cs typeface="Malgun Gothic"/>
                <a:sym typeface="Malgun Gothic"/>
              </a:rPr>
              <a:t>-tiny </a:t>
            </a:r>
            <a:r>
              <a:rPr lang="ko-KR" altLang="en-US" sz="1000" b="0" i="0" u="none" strike="noStrike" cap="none" dirty="0">
                <a:solidFill>
                  <a:srgbClr val="475569"/>
                </a:solidFill>
                <a:latin typeface="Malgun Gothic"/>
                <a:ea typeface="Malgun Gothic"/>
                <a:cs typeface="Malgun Gothic"/>
                <a:sym typeface="Malgun Gothic"/>
              </a:rPr>
              <a:t>선정</a:t>
            </a:r>
            <a:endParaRPr lang="en-US" altLang="ko-KR" sz="1000" b="0" i="0" u="none" strike="noStrike" cap="none" dirty="0">
              <a:solidFill>
                <a:srgbClr val="475569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000" b="0" i="0" u="none" strike="noStrike" cap="none" dirty="0">
                <a:solidFill>
                  <a:srgbClr val="475569"/>
                </a:solidFill>
                <a:latin typeface="Malgun Gothic"/>
                <a:ea typeface="Malgun Gothic"/>
                <a:cs typeface="Malgun Gothic"/>
                <a:sym typeface="Malgun Gothic"/>
              </a:rPr>
              <a:t>Top-1 </a:t>
            </a:r>
            <a:r>
              <a:rPr lang="ko-KR" altLang="en-US" sz="1000" b="0" i="0" u="none" strike="noStrike" cap="none" dirty="0">
                <a:solidFill>
                  <a:srgbClr val="475569"/>
                </a:solidFill>
                <a:latin typeface="Malgun Gothic"/>
                <a:ea typeface="Malgun Gothic"/>
                <a:cs typeface="Malgun Gothic"/>
                <a:sym typeface="Malgun Gothic"/>
              </a:rPr>
              <a:t>공동 최고 </a:t>
            </a:r>
            <a:r>
              <a:rPr lang="en-US" altLang="ko-KR" sz="1000" b="0" i="0" u="none" strike="noStrike" cap="none" dirty="0">
                <a:solidFill>
                  <a:srgbClr val="475569"/>
                </a:solidFill>
                <a:latin typeface="Malgun Gothic"/>
                <a:ea typeface="Malgun Gothic"/>
                <a:cs typeface="Malgun Gothic"/>
                <a:sym typeface="Malgun Gothic"/>
              </a:rPr>
              <a:t>+ Top-3 </a:t>
            </a:r>
            <a:r>
              <a:rPr lang="ko-KR" altLang="en-US" sz="1000" b="0" i="0" u="none" strike="noStrike" cap="none" dirty="0">
                <a:solidFill>
                  <a:srgbClr val="475569"/>
                </a:solidFill>
                <a:latin typeface="Malgun Gothic"/>
                <a:ea typeface="Malgun Gothic"/>
                <a:cs typeface="Malgun Gothic"/>
                <a:sym typeface="Malgun Gothic"/>
              </a:rPr>
              <a:t>최고 </a:t>
            </a:r>
            <a:r>
              <a:rPr lang="en-US" altLang="ko-KR" sz="1000" b="0" i="0" u="none" strike="noStrike" cap="none" dirty="0">
                <a:solidFill>
                  <a:srgbClr val="475569"/>
                </a:solidFill>
                <a:latin typeface="Malgun Gothic"/>
                <a:ea typeface="Malgun Gothic"/>
                <a:cs typeface="Malgun Gothic"/>
                <a:sym typeface="Malgun Gothic"/>
              </a:rPr>
              <a:t>+ Detection 95.7% + </a:t>
            </a:r>
            <a:r>
              <a:rPr lang="ko-KR" altLang="en-US" sz="1000" b="0" i="0" u="none" strike="noStrike" cap="none" dirty="0">
                <a:solidFill>
                  <a:srgbClr val="475569"/>
                </a:solidFill>
                <a:latin typeface="Malgun Gothic"/>
                <a:ea typeface="Malgun Gothic"/>
                <a:cs typeface="Malgun Gothic"/>
                <a:sym typeface="Malgun Gothic"/>
              </a:rPr>
              <a:t>경량</a:t>
            </a:r>
            <a:r>
              <a:rPr lang="en-US" altLang="ko-KR" sz="1000" b="0" i="0" u="none" strike="noStrike" cap="none" dirty="0">
                <a:solidFill>
                  <a:srgbClr val="475569"/>
                </a:solidFill>
                <a:latin typeface="Malgun Gothic"/>
                <a:ea typeface="Malgun Gothic"/>
                <a:cs typeface="Malgun Gothic"/>
                <a:sym typeface="Malgun Gothic"/>
              </a:rPr>
              <a:t>(4.9M)</a:t>
            </a: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0" b="0" i="0" u="none" strike="noStrike" cap="none" dirty="0">
              <a:solidFill>
                <a:srgbClr val="475569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b="1" i="0" u="none" strike="noStrike" cap="none" dirty="0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▌ 다중 검증 구조로 확장</a:t>
            </a:r>
            <a:endParaRPr lang="en-US" altLang="ko-KR" sz="1200" b="1" i="0" u="none" strike="noStrike" cap="none" dirty="0">
              <a:solidFill>
                <a:srgbClr val="1E293B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000" b="0" i="0" u="none" strike="noStrike" cap="none" dirty="0" err="1">
                <a:solidFill>
                  <a:srgbClr val="475569"/>
                </a:solidFill>
                <a:latin typeface="Malgun Gothic"/>
                <a:ea typeface="Malgun Gothic"/>
                <a:cs typeface="Malgun Gothic"/>
                <a:sym typeface="Malgun Gothic"/>
              </a:rPr>
              <a:t>RTMDet</a:t>
            </a:r>
            <a:r>
              <a:rPr lang="en-US" altLang="ko-KR" sz="1000" b="0" i="0" u="none" strike="noStrike" cap="none" dirty="0">
                <a:solidFill>
                  <a:srgbClr val="475569"/>
                </a:solidFill>
                <a:latin typeface="Malgun Gothic"/>
                <a:ea typeface="Malgun Gothic"/>
                <a:cs typeface="Malgun Gothic"/>
                <a:sym typeface="Malgun Gothic"/>
              </a:rPr>
              <a:t> + CNN + API/</a:t>
            </a:r>
            <a:r>
              <a:rPr lang="ko-KR" altLang="en-US" sz="1000" b="0" i="0" u="none" strike="noStrike" cap="none" dirty="0">
                <a:solidFill>
                  <a:srgbClr val="475569"/>
                </a:solidFill>
                <a:latin typeface="Malgun Gothic"/>
                <a:ea typeface="Malgun Gothic"/>
                <a:cs typeface="Malgun Gothic"/>
                <a:sym typeface="Malgun Gothic"/>
              </a:rPr>
              <a:t>캐시 </a:t>
            </a:r>
            <a:r>
              <a:rPr lang="en-US" altLang="ko-KR" sz="1000" b="0" i="0" u="none" strike="noStrike" cap="none" dirty="0">
                <a:solidFill>
                  <a:srgbClr val="475569"/>
                </a:solidFill>
                <a:latin typeface="Malgun Gothic"/>
                <a:ea typeface="Malgun Gothic"/>
                <a:cs typeface="Malgun Gothic"/>
                <a:sym typeface="Malgun Gothic"/>
              </a:rPr>
              <a:t>+ Qwen VLM + </a:t>
            </a:r>
            <a:r>
              <a:rPr lang="ko-KR" altLang="en-US" sz="1000" b="0" i="0" u="none" strike="noStrike" cap="none" dirty="0">
                <a:solidFill>
                  <a:srgbClr val="475569"/>
                </a:solidFill>
                <a:latin typeface="Malgun Gothic"/>
                <a:ea typeface="Malgun Gothic"/>
                <a:cs typeface="Malgun Gothic"/>
                <a:sym typeface="Malgun Gothic"/>
              </a:rPr>
              <a:t>사용자 입력</a:t>
            </a:r>
            <a:endParaRPr lang="en-US" altLang="ko-KR" sz="1000" b="0" i="0" u="none" strike="noStrike" cap="none" dirty="0">
              <a:solidFill>
                <a:srgbClr val="475569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00" b="0" i="0" u="none" strike="noStrike" cap="none" dirty="0">
                <a:solidFill>
                  <a:srgbClr val="475569"/>
                </a:solidFill>
                <a:latin typeface="Malgun Gothic"/>
                <a:ea typeface="Malgun Gothic"/>
                <a:cs typeface="Malgun Gothic"/>
                <a:sym typeface="Malgun Gothic"/>
              </a:rPr>
              <a:t>→ 후보 제시</a:t>
            </a:r>
            <a:r>
              <a:rPr lang="en-US" altLang="ko-KR" sz="1000" b="0" i="0" u="none" strike="noStrike" cap="none" dirty="0">
                <a:solidFill>
                  <a:srgbClr val="475569"/>
                </a:solidFill>
                <a:latin typeface="Malgun Gothic"/>
                <a:ea typeface="Malgun Gothic"/>
                <a:cs typeface="Malgun Gothic"/>
                <a:sym typeface="Malgun Gothic"/>
              </a:rPr>
              <a:t>·</a:t>
            </a:r>
            <a:r>
              <a:rPr lang="ko-KR" altLang="en-US" sz="1000" b="0" i="0" u="none" strike="noStrike" cap="none" dirty="0">
                <a:solidFill>
                  <a:srgbClr val="475569"/>
                </a:solidFill>
                <a:latin typeface="Malgun Gothic"/>
                <a:ea typeface="Malgun Gothic"/>
                <a:cs typeface="Malgun Gothic"/>
                <a:sym typeface="Malgun Gothic"/>
              </a:rPr>
              <a:t>사용자 검증 흐름 구축</a:t>
            </a:r>
            <a:endParaRPr lang="en-US" altLang="ko-KR" sz="1000" b="0" i="0" u="none" strike="noStrike" cap="none" dirty="0">
              <a:solidFill>
                <a:srgbClr val="475569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000" dirty="0">
              <a:solidFill>
                <a:srgbClr val="475569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lvl="0">
              <a:lnSpc>
                <a:spcPct val="130000"/>
              </a:lnSpc>
            </a:pPr>
            <a:r>
              <a:rPr lang="ko-KR" altLang="en-US" sz="1200" b="1" dirty="0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▍ 한계</a:t>
            </a:r>
            <a:endParaRPr lang="ko-KR" altLang="en-US" sz="1000" dirty="0"/>
          </a:p>
          <a:p>
            <a:pPr lvl="0">
              <a:lnSpc>
                <a:spcPct val="130000"/>
              </a:lnSpc>
            </a:pPr>
            <a:r>
              <a:rPr lang="en-US" altLang="ko-KR" sz="1000" dirty="0">
                <a:solidFill>
                  <a:srgbClr val="475569"/>
                </a:solidFill>
                <a:latin typeface="Malgun Gothic"/>
                <a:ea typeface="Malgun Gothic"/>
                <a:cs typeface="Malgun Gothic"/>
                <a:sym typeface="Malgun Gothic"/>
              </a:rPr>
              <a:t>• </a:t>
            </a:r>
            <a:r>
              <a:rPr lang="ko-KR" altLang="en-US" sz="1000" dirty="0">
                <a:solidFill>
                  <a:srgbClr val="475569"/>
                </a:solidFill>
                <a:latin typeface="Malgun Gothic"/>
                <a:ea typeface="Malgun Gothic"/>
                <a:cs typeface="Malgun Gothic"/>
                <a:sym typeface="Malgun Gothic"/>
              </a:rPr>
              <a:t>자체 평가셋은 </a:t>
            </a:r>
            <a:r>
              <a:rPr lang="en-US" altLang="ko-KR" sz="1000" dirty="0">
                <a:solidFill>
                  <a:srgbClr val="475569"/>
                </a:solidFill>
                <a:latin typeface="Malgun Gothic"/>
                <a:ea typeface="Malgun Gothic"/>
                <a:cs typeface="Malgun Gothic"/>
                <a:sym typeface="Malgun Gothic"/>
              </a:rPr>
              <a:t>33</a:t>
            </a:r>
            <a:r>
              <a:rPr lang="ko-KR" altLang="en-US" sz="1000" dirty="0">
                <a:solidFill>
                  <a:srgbClr val="475569"/>
                </a:solidFill>
                <a:latin typeface="Malgun Gothic"/>
                <a:ea typeface="Malgun Gothic"/>
                <a:cs typeface="Malgun Gothic"/>
                <a:sym typeface="Malgun Gothic"/>
              </a:rPr>
              <a:t>장 </a:t>
            </a:r>
            <a:r>
              <a:rPr lang="en-US" altLang="ko-KR" sz="1000" dirty="0">
                <a:solidFill>
                  <a:srgbClr val="475569"/>
                </a:solidFill>
                <a:latin typeface="Malgun Gothic"/>
                <a:ea typeface="Malgun Gothic"/>
                <a:cs typeface="Malgun Gothic"/>
                <a:sym typeface="Malgun Gothic"/>
              </a:rPr>
              <a:t>/ 47 GT</a:t>
            </a:r>
            <a:r>
              <a:rPr lang="ko-KR" altLang="en-US" sz="1000" dirty="0">
                <a:solidFill>
                  <a:srgbClr val="475569"/>
                </a:solidFill>
                <a:latin typeface="Malgun Gothic"/>
                <a:ea typeface="Malgun Gothic"/>
                <a:cs typeface="Malgun Gothic"/>
                <a:sym typeface="Malgun Gothic"/>
              </a:rPr>
              <a:t>로 규모가 작아 추가 검증 필요</a:t>
            </a:r>
            <a:endParaRPr lang="en-US" altLang="ko-KR" sz="1000" dirty="0">
              <a:solidFill>
                <a:srgbClr val="475569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lvl="0">
              <a:lnSpc>
                <a:spcPct val="130000"/>
              </a:lnSpc>
            </a:pPr>
            <a:r>
              <a:rPr lang="en-US" altLang="ko-KR" sz="1000" dirty="0">
                <a:solidFill>
                  <a:srgbClr val="475569"/>
                </a:solidFill>
                <a:latin typeface="Malgun Gothic"/>
                <a:ea typeface="Malgun Gothic"/>
                <a:cs typeface="Malgun Gothic"/>
                <a:sym typeface="Malgun Gothic"/>
              </a:rPr>
              <a:t>• </a:t>
            </a:r>
            <a:r>
              <a:rPr lang="ko-KR" altLang="en-US" sz="1000" dirty="0">
                <a:solidFill>
                  <a:srgbClr val="475569"/>
                </a:solidFill>
                <a:latin typeface="Malgun Gothic"/>
                <a:ea typeface="Malgun Gothic"/>
                <a:cs typeface="Malgun Gothic"/>
                <a:sym typeface="Malgun Gothic"/>
              </a:rPr>
              <a:t>조명</a:t>
            </a:r>
            <a:r>
              <a:rPr lang="en-US" altLang="ko-KR" sz="1000" dirty="0">
                <a:solidFill>
                  <a:srgbClr val="475569"/>
                </a:solidFill>
                <a:latin typeface="Malgun Gothic"/>
                <a:ea typeface="Malgun Gothic"/>
                <a:cs typeface="Malgun Gothic"/>
                <a:sym typeface="Malgun Gothic"/>
              </a:rPr>
              <a:t>·</a:t>
            </a:r>
            <a:r>
              <a:rPr lang="ko-KR" altLang="en-US" sz="1000" dirty="0">
                <a:solidFill>
                  <a:srgbClr val="475569"/>
                </a:solidFill>
                <a:latin typeface="Malgun Gothic"/>
                <a:ea typeface="Malgun Gothic"/>
                <a:cs typeface="Malgun Gothic"/>
                <a:sym typeface="Malgun Gothic"/>
              </a:rPr>
              <a:t>배경</a:t>
            </a:r>
            <a:r>
              <a:rPr lang="en-US" altLang="ko-KR" sz="1000" dirty="0">
                <a:solidFill>
                  <a:srgbClr val="475569"/>
                </a:solidFill>
                <a:latin typeface="Malgun Gothic"/>
                <a:ea typeface="Malgun Gothic"/>
                <a:cs typeface="Malgun Gothic"/>
                <a:sym typeface="Malgun Gothic"/>
              </a:rPr>
              <a:t>·</a:t>
            </a:r>
            <a:r>
              <a:rPr lang="ko-KR" altLang="en-US" sz="1000" dirty="0">
                <a:solidFill>
                  <a:srgbClr val="475569"/>
                </a:solidFill>
                <a:latin typeface="Malgun Gothic"/>
                <a:ea typeface="Malgun Gothic"/>
                <a:cs typeface="Malgun Gothic"/>
                <a:sym typeface="Malgun Gothic"/>
              </a:rPr>
              <a:t>손 간섭 등 실제 촬영 변수에 취약</a:t>
            </a:r>
            <a:endParaRPr lang="en-US" altLang="ko-KR" sz="1000" dirty="0">
              <a:solidFill>
                <a:srgbClr val="475569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lvl="0">
              <a:lnSpc>
                <a:spcPct val="130000"/>
              </a:lnSpc>
            </a:pPr>
            <a:r>
              <a:rPr lang="en-US" altLang="ko-KR" sz="1000" dirty="0">
                <a:solidFill>
                  <a:srgbClr val="475569"/>
                </a:solidFill>
                <a:latin typeface="Malgun Gothic"/>
                <a:ea typeface="Malgun Gothic"/>
                <a:cs typeface="Malgun Gothic"/>
                <a:sym typeface="Malgun Gothic"/>
              </a:rPr>
              <a:t>• </a:t>
            </a:r>
            <a:r>
              <a:rPr lang="ko-KR" altLang="en-US" sz="1000" dirty="0">
                <a:solidFill>
                  <a:srgbClr val="475569"/>
                </a:solidFill>
                <a:latin typeface="Malgun Gothic"/>
                <a:ea typeface="Malgun Gothic"/>
                <a:cs typeface="Malgun Gothic"/>
                <a:sym typeface="Malgun Gothic"/>
              </a:rPr>
              <a:t>시각적으로 유사한 알약은 구분이 어려움</a:t>
            </a:r>
            <a:endParaRPr lang="en-US" altLang="ko-KR" sz="1000" dirty="0">
              <a:solidFill>
                <a:srgbClr val="475569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lvl="0">
              <a:lnSpc>
                <a:spcPct val="130000"/>
              </a:lnSpc>
            </a:pPr>
            <a:r>
              <a:rPr lang="en-US" altLang="ko-KR" sz="1000" dirty="0">
                <a:solidFill>
                  <a:srgbClr val="475569"/>
                </a:solidFill>
                <a:latin typeface="Malgun Gothic"/>
                <a:ea typeface="Malgun Gothic"/>
                <a:cs typeface="Malgun Gothic"/>
                <a:sym typeface="Malgun Gothic"/>
              </a:rPr>
              <a:t>• CNN </a:t>
            </a:r>
            <a:r>
              <a:rPr lang="ko-KR" altLang="en-US" sz="1000" dirty="0">
                <a:solidFill>
                  <a:srgbClr val="475569"/>
                </a:solidFill>
                <a:latin typeface="Malgun Gothic"/>
                <a:ea typeface="Malgun Gothic"/>
                <a:cs typeface="Malgun Gothic"/>
                <a:sym typeface="Malgun Gothic"/>
              </a:rPr>
              <a:t>학습 </a:t>
            </a:r>
            <a:r>
              <a:rPr lang="en-US" altLang="ko-KR" sz="1000" dirty="0">
                <a:solidFill>
                  <a:srgbClr val="475569"/>
                </a:solidFill>
                <a:latin typeface="Malgun Gothic"/>
                <a:ea typeface="Malgun Gothic"/>
                <a:cs typeface="Malgun Gothic"/>
                <a:sym typeface="Malgun Gothic"/>
              </a:rPr>
              <a:t>crop</a:t>
            </a:r>
            <a:r>
              <a:rPr lang="ko-KR" altLang="en-US" sz="1000" dirty="0">
                <a:solidFill>
                  <a:srgbClr val="475569"/>
                </a:solidFill>
                <a:latin typeface="Malgun Gothic"/>
                <a:ea typeface="Malgun Gothic"/>
                <a:cs typeface="Malgun Gothic"/>
                <a:sym typeface="Malgun Gothic"/>
              </a:rPr>
              <a:t>과 실제 추론 </a:t>
            </a:r>
            <a:r>
              <a:rPr lang="en-US" altLang="ko-KR" sz="1000" dirty="0">
                <a:solidFill>
                  <a:srgbClr val="475569"/>
                </a:solidFill>
                <a:latin typeface="Malgun Gothic"/>
                <a:ea typeface="Malgun Gothic"/>
                <a:cs typeface="Malgun Gothic"/>
                <a:sym typeface="Malgun Gothic"/>
              </a:rPr>
              <a:t>crop </a:t>
            </a:r>
            <a:r>
              <a:rPr lang="ko-KR" altLang="en-US" sz="1000" dirty="0">
                <a:solidFill>
                  <a:srgbClr val="475569"/>
                </a:solidFill>
                <a:latin typeface="Malgun Gothic"/>
                <a:ea typeface="Malgun Gothic"/>
                <a:cs typeface="Malgun Gothic"/>
                <a:sym typeface="Malgun Gothic"/>
              </a:rPr>
              <a:t>사이의 분포 차이 존재</a:t>
            </a:r>
            <a:endParaRPr lang="en-US" altLang="ko-KR" sz="1000" dirty="0">
              <a:solidFill>
                <a:srgbClr val="475569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lvl="0">
              <a:lnSpc>
                <a:spcPct val="130000"/>
              </a:lnSpc>
            </a:pPr>
            <a:r>
              <a:rPr lang="en-US" altLang="ko-KR" sz="1000" dirty="0">
                <a:solidFill>
                  <a:srgbClr val="475569"/>
                </a:solidFill>
                <a:latin typeface="Malgun Gothic"/>
                <a:ea typeface="Malgun Gothic"/>
                <a:cs typeface="Malgun Gothic"/>
                <a:sym typeface="Malgun Gothic"/>
              </a:rPr>
              <a:t>• Qwen VLM </a:t>
            </a:r>
            <a:r>
              <a:rPr lang="ko-KR" altLang="en-US" sz="1000" dirty="0">
                <a:solidFill>
                  <a:srgbClr val="475569"/>
                </a:solidFill>
                <a:latin typeface="Malgun Gothic"/>
                <a:ea typeface="Malgun Gothic"/>
                <a:cs typeface="Malgun Gothic"/>
                <a:sym typeface="Malgun Gothic"/>
              </a:rPr>
              <a:t>각인 판단은 </a:t>
            </a:r>
            <a:r>
              <a:rPr lang="en-US" altLang="ko-KR" sz="1000" dirty="0">
                <a:solidFill>
                  <a:srgbClr val="475569"/>
                </a:solidFill>
                <a:latin typeface="Malgun Gothic"/>
                <a:ea typeface="Malgun Gothic"/>
                <a:cs typeface="Malgun Gothic"/>
                <a:sym typeface="Malgun Gothic"/>
              </a:rPr>
              <a:t>crop </a:t>
            </a:r>
            <a:r>
              <a:rPr lang="ko-KR" altLang="en-US" sz="1000" dirty="0">
                <a:solidFill>
                  <a:srgbClr val="475569"/>
                </a:solidFill>
                <a:latin typeface="Malgun Gothic"/>
                <a:ea typeface="Malgun Gothic"/>
                <a:cs typeface="Malgun Gothic"/>
                <a:sym typeface="Malgun Gothic"/>
              </a:rPr>
              <a:t>품질과 후보 목록에 영향을 받음</a:t>
            </a:r>
            <a:endParaRPr sz="1000" b="0" i="0" u="none" strike="noStrike" cap="none" dirty="0">
              <a:solidFill>
                <a:srgbClr val="475569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51" name="Google Shape;751;p34"/>
          <p:cNvSpPr txBox="1"/>
          <p:nvPr/>
        </p:nvSpPr>
        <p:spPr>
          <a:xfrm>
            <a:off x="4846320" y="826960"/>
            <a:ext cx="3931920" cy="2881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 dirty="0" err="1">
                <a:solidFill>
                  <a:srgbClr val="D97706"/>
                </a:solidFill>
                <a:latin typeface="Malgun Gothic"/>
                <a:ea typeface="Malgun Gothic"/>
                <a:cs typeface="Malgun Gothic"/>
                <a:sym typeface="Malgun Gothic"/>
              </a:rPr>
              <a:t>향후</a:t>
            </a:r>
            <a:r>
              <a:rPr lang="en-US" sz="1400" b="1" i="0" u="none" strike="noStrike" cap="none" dirty="0">
                <a:solidFill>
                  <a:srgbClr val="D97706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1400" b="1" i="0" u="none" strike="noStrike" cap="none" dirty="0" err="1">
                <a:solidFill>
                  <a:srgbClr val="D97706"/>
                </a:solidFill>
                <a:latin typeface="Malgun Gothic"/>
                <a:ea typeface="Malgun Gothic"/>
                <a:cs typeface="Malgun Gothic"/>
                <a:sym typeface="Malgun Gothic"/>
              </a:rPr>
              <a:t>방향</a:t>
            </a:r>
            <a:r>
              <a:rPr lang="en-US" sz="1400" b="1" i="0" u="none" strike="noStrike" cap="none" dirty="0">
                <a:solidFill>
                  <a:srgbClr val="D97706"/>
                </a:solidFill>
                <a:latin typeface="Malgun Gothic"/>
                <a:ea typeface="Malgun Gothic"/>
                <a:cs typeface="Malgun Gothic"/>
                <a:sym typeface="Malgun Gothic"/>
              </a:rPr>
              <a:t> + </a:t>
            </a:r>
            <a:r>
              <a:rPr lang="ko-KR" altLang="en-US" sz="1400" b="1" i="0" u="none" strike="noStrike" cap="none" dirty="0">
                <a:solidFill>
                  <a:srgbClr val="D97706"/>
                </a:solidFill>
                <a:latin typeface="Malgun Gothic"/>
                <a:ea typeface="Malgun Gothic"/>
                <a:cs typeface="Malgun Gothic"/>
                <a:sym typeface="Malgun Gothic"/>
              </a:rPr>
              <a:t>프로젝트 의의</a:t>
            </a:r>
            <a:endParaRPr dirty="0"/>
          </a:p>
        </p:txBody>
      </p:sp>
      <p:sp>
        <p:nvSpPr>
          <p:cNvPr id="752" name="Google Shape;752;p34"/>
          <p:cNvSpPr txBox="1"/>
          <p:nvPr/>
        </p:nvSpPr>
        <p:spPr>
          <a:xfrm>
            <a:off x="4846320" y="1115107"/>
            <a:ext cx="4114800" cy="19987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 dirty="0">
                <a:solidFill>
                  <a:srgbClr val="14B8A6"/>
                </a:solidFill>
                <a:latin typeface="Malgun Gothic"/>
                <a:ea typeface="Malgun Gothic"/>
                <a:cs typeface="Malgun Gothic"/>
                <a:sym typeface="Malgun Gothic"/>
              </a:rPr>
              <a:t>▍ </a:t>
            </a:r>
            <a:r>
              <a:rPr lang="en-US" sz="1200" b="1" i="0" u="none" strike="noStrike" cap="none" dirty="0" err="1">
                <a:solidFill>
                  <a:srgbClr val="14B8A6"/>
                </a:solidFill>
                <a:latin typeface="Malgun Gothic"/>
                <a:ea typeface="Malgun Gothic"/>
                <a:cs typeface="Malgun Gothic"/>
                <a:sym typeface="Malgun Gothic"/>
              </a:rPr>
              <a:t>향후</a:t>
            </a:r>
            <a:r>
              <a:rPr lang="en-US" sz="1200" b="1" i="0" u="none" strike="noStrike" cap="none" dirty="0">
                <a:solidFill>
                  <a:srgbClr val="14B8A6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1200" b="1" i="0" u="none" strike="noStrike" cap="none" dirty="0" err="1">
                <a:solidFill>
                  <a:srgbClr val="14B8A6"/>
                </a:solidFill>
                <a:latin typeface="Malgun Gothic"/>
                <a:ea typeface="Malgun Gothic"/>
                <a:cs typeface="Malgun Gothic"/>
                <a:sym typeface="Malgun Gothic"/>
              </a:rPr>
              <a:t>방향</a:t>
            </a:r>
            <a:endParaRPr dirty="0"/>
          </a:p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000" b="0" i="0" u="none" strike="noStrike" cap="none" dirty="0">
                <a:solidFill>
                  <a:srgbClr val="475569"/>
                </a:solidFill>
                <a:latin typeface="Malgun Gothic"/>
                <a:ea typeface="Malgun Gothic"/>
                <a:cs typeface="Malgun Gothic"/>
                <a:sym typeface="Malgun Gothic"/>
              </a:rPr>
              <a:t>• </a:t>
            </a:r>
            <a:r>
              <a:rPr lang="ko-KR" altLang="en-US" sz="1000" b="0" i="0" u="none" strike="noStrike" cap="none" dirty="0">
                <a:solidFill>
                  <a:srgbClr val="475569"/>
                </a:solidFill>
                <a:latin typeface="Malgun Gothic"/>
                <a:ea typeface="Malgun Gothic"/>
                <a:cs typeface="Malgun Gothic"/>
                <a:sym typeface="Malgun Gothic"/>
              </a:rPr>
              <a:t>실제 촬영 이미지 및 </a:t>
            </a:r>
            <a:r>
              <a:rPr lang="ko-KR" altLang="en-US" sz="1000" b="0" i="0" u="none" strike="noStrike" cap="none" dirty="0" err="1">
                <a:solidFill>
                  <a:srgbClr val="475569"/>
                </a:solidFill>
                <a:latin typeface="Malgun Gothic"/>
                <a:ea typeface="Malgun Gothic"/>
                <a:cs typeface="Malgun Gothic"/>
                <a:sym typeface="Malgun Gothic"/>
              </a:rPr>
              <a:t>오탐</a:t>
            </a:r>
            <a:r>
              <a:rPr lang="ko-KR" altLang="en-US" sz="1000" b="0" i="0" u="none" strike="noStrike" cap="none" dirty="0">
                <a:solidFill>
                  <a:srgbClr val="475569"/>
                </a:solidFill>
                <a:latin typeface="Malgun Gothic"/>
                <a:ea typeface="Malgun Gothic"/>
                <a:cs typeface="Malgun Gothic"/>
                <a:sym typeface="Malgun Gothic"/>
              </a:rPr>
              <a:t> 사례 추가 수집</a:t>
            </a:r>
            <a:endParaRPr lang="en-US" altLang="ko-KR" sz="1000" b="0" i="0" u="none" strike="noStrike" cap="none" dirty="0">
              <a:solidFill>
                <a:srgbClr val="475569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000" b="0" i="0" u="none" strike="noStrike" cap="none" dirty="0">
                <a:solidFill>
                  <a:srgbClr val="475569"/>
                </a:solidFill>
                <a:latin typeface="Malgun Gothic"/>
                <a:ea typeface="Malgun Gothic"/>
                <a:cs typeface="Malgun Gothic"/>
                <a:sym typeface="Malgun Gothic"/>
              </a:rPr>
              <a:t>• </a:t>
            </a:r>
            <a:r>
              <a:rPr lang="ko-KR" altLang="en-US" sz="1000" b="0" i="0" u="none" strike="noStrike" cap="none" dirty="0">
                <a:solidFill>
                  <a:srgbClr val="475569"/>
                </a:solidFill>
                <a:latin typeface="Malgun Gothic"/>
                <a:ea typeface="Malgun Gothic"/>
                <a:cs typeface="Malgun Gothic"/>
                <a:sym typeface="Malgun Gothic"/>
              </a:rPr>
              <a:t>각인 문자열 라벨 데이터 구축 및 각인 판단 </a:t>
            </a:r>
            <a:r>
              <a:rPr lang="ko-KR" altLang="en-US" sz="1000" b="0" i="0" u="none" strike="noStrike" cap="none" dirty="0" err="1">
                <a:solidFill>
                  <a:srgbClr val="475569"/>
                </a:solidFill>
                <a:latin typeface="Malgun Gothic"/>
                <a:ea typeface="Malgun Gothic"/>
                <a:cs typeface="Malgun Gothic"/>
                <a:sym typeface="Malgun Gothic"/>
              </a:rPr>
              <a:t>보조축</a:t>
            </a:r>
            <a:r>
              <a:rPr lang="ko-KR" altLang="en-US" sz="1000" b="0" i="0" u="none" strike="noStrike" cap="none" dirty="0">
                <a:solidFill>
                  <a:srgbClr val="475569"/>
                </a:solidFill>
                <a:latin typeface="Malgun Gothic"/>
                <a:ea typeface="Malgun Gothic"/>
                <a:cs typeface="Malgun Gothic"/>
                <a:sym typeface="Malgun Gothic"/>
              </a:rPr>
              <a:t> 강화</a:t>
            </a:r>
            <a:endParaRPr lang="en-US" altLang="ko-KR" sz="1000" b="0" i="0" u="none" strike="noStrike" cap="none" dirty="0">
              <a:solidFill>
                <a:srgbClr val="475569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000" b="0" i="0" u="none" strike="noStrike" cap="none" dirty="0">
                <a:solidFill>
                  <a:srgbClr val="475569"/>
                </a:solidFill>
                <a:latin typeface="Malgun Gothic"/>
                <a:ea typeface="Malgun Gothic"/>
                <a:cs typeface="Malgun Gothic"/>
                <a:sym typeface="Malgun Gothic"/>
              </a:rPr>
              <a:t>• </a:t>
            </a:r>
            <a:r>
              <a:rPr lang="en-US" altLang="ko-KR" sz="1000" b="0" i="0" u="none" strike="noStrike" cap="none" dirty="0" err="1">
                <a:solidFill>
                  <a:srgbClr val="475569"/>
                </a:solidFill>
                <a:latin typeface="Malgun Gothic"/>
                <a:ea typeface="Malgun Gothic"/>
                <a:cs typeface="Malgun Gothic"/>
                <a:sym typeface="Malgun Gothic"/>
              </a:rPr>
              <a:t>RTMDet</a:t>
            </a:r>
            <a:r>
              <a:rPr lang="en-US" altLang="ko-KR" sz="1000" b="0" i="0" u="none" strike="noStrike" cap="none" dirty="0">
                <a:solidFill>
                  <a:srgbClr val="475569"/>
                </a:solidFill>
                <a:latin typeface="Malgun Gothic"/>
                <a:ea typeface="Malgun Gothic"/>
                <a:cs typeface="Malgun Gothic"/>
                <a:sym typeface="Malgun Gothic"/>
              </a:rPr>
              <a:t> v4 </a:t>
            </a:r>
            <a:r>
              <a:rPr lang="ko-KR" altLang="en-US" sz="1000" b="0" i="0" u="none" strike="noStrike" cap="none" dirty="0">
                <a:solidFill>
                  <a:srgbClr val="475569"/>
                </a:solidFill>
                <a:latin typeface="Malgun Gothic"/>
                <a:ea typeface="Malgun Gothic"/>
                <a:cs typeface="Malgun Gothic"/>
                <a:sym typeface="Malgun Gothic"/>
              </a:rPr>
              <a:t>웹 후처리 호환 및 적용</a:t>
            </a:r>
            <a:endParaRPr lang="en-US" altLang="ko-KR" sz="1000" b="0" i="0" u="none" strike="noStrike" cap="none" dirty="0">
              <a:solidFill>
                <a:srgbClr val="475569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000" b="0" i="0" u="none" strike="noStrike" cap="none" dirty="0">
                <a:solidFill>
                  <a:srgbClr val="475569"/>
                </a:solidFill>
                <a:latin typeface="Malgun Gothic"/>
                <a:ea typeface="Malgun Gothic"/>
                <a:cs typeface="Malgun Gothic"/>
                <a:sym typeface="Malgun Gothic"/>
              </a:rPr>
              <a:t>• </a:t>
            </a:r>
            <a:r>
              <a:rPr lang="ko-KR" altLang="en-US" sz="1000" b="0" i="0" u="none" strike="noStrike" cap="none" dirty="0">
                <a:solidFill>
                  <a:srgbClr val="475569"/>
                </a:solidFill>
                <a:latin typeface="Malgun Gothic"/>
                <a:ea typeface="Malgun Gothic"/>
                <a:cs typeface="Malgun Gothic"/>
                <a:sym typeface="Malgun Gothic"/>
              </a:rPr>
              <a:t>사용자 검증 </a:t>
            </a:r>
            <a:r>
              <a:rPr lang="en-US" altLang="ko-KR" sz="1000" b="0" i="0" u="none" strike="noStrike" cap="none" dirty="0">
                <a:solidFill>
                  <a:srgbClr val="475569"/>
                </a:solidFill>
                <a:latin typeface="Malgun Gothic"/>
                <a:ea typeface="Malgun Gothic"/>
                <a:cs typeface="Malgun Gothic"/>
                <a:sym typeface="Malgun Gothic"/>
              </a:rPr>
              <a:t>UX </a:t>
            </a:r>
            <a:r>
              <a:rPr lang="ko-KR" altLang="en-US" sz="1000" b="0" i="0" u="none" strike="noStrike" cap="none" dirty="0">
                <a:solidFill>
                  <a:srgbClr val="475569"/>
                </a:solidFill>
                <a:latin typeface="Malgun Gothic"/>
                <a:ea typeface="Malgun Gothic"/>
                <a:cs typeface="Malgun Gothic"/>
                <a:sym typeface="Malgun Gothic"/>
              </a:rPr>
              <a:t>고도화</a:t>
            </a:r>
            <a:endParaRPr lang="en-US" altLang="ko-KR" sz="1000" b="0" i="0" u="none" strike="noStrike" cap="none" dirty="0">
              <a:solidFill>
                <a:srgbClr val="475569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b="1" dirty="0">
              <a:solidFill>
                <a:srgbClr val="14B8A6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 dirty="0">
                <a:solidFill>
                  <a:srgbClr val="14B8A6"/>
                </a:solidFill>
                <a:latin typeface="Malgun Gothic"/>
                <a:ea typeface="Malgun Gothic"/>
                <a:cs typeface="Malgun Gothic"/>
                <a:sym typeface="Malgun Gothic"/>
              </a:rPr>
              <a:t>▍ </a:t>
            </a:r>
            <a:r>
              <a:rPr lang="en-US" sz="1200" b="1" i="0" u="none" strike="noStrike" cap="none" dirty="0" err="1">
                <a:solidFill>
                  <a:srgbClr val="14B8A6"/>
                </a:solidFill>
                <a:latin typeface="Malgun Gothic"/>
                <a:ea typeface="Malgun Gothic"/>
                <a:cs typeface="Malgun Gothic"/>
                <a:sym typeface="Malgun Gothic"/>
              </a:rPr>
              <a:t>프로젝트의</a:t>
            </a:r>
            <a:r>
              <a:rPr lang="en-US" sz="1200" b="1" i="0" u="none" strike="noStrike" cap="none" dirty="0">
                <a:solidFill>
                  <a:srgbClr val="14B8A6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1200" b="1" i="0" u="none" strike="noStrike" cap="none" dirty="0" err="1">
                <a:solidFill>
                  <a:srgbClr val="14B8A6"/>
                </a:solidFill>
                <a:latin typeface="Malgun Gothic"/>
                <a:ea typeface="Malgun Gothic"/>
                <a:cs typeface="Malgun Gothic"/>
                <a:sym typeface="Malgun Gothic"/>
              </a:rPr>
              <a:t>의의</a:t>
            </a:r>
            <a:endParaRPr lang="ko-KR" altLang="en-US" sz="1000" dirty="0">
              <a:solidFill>
                <a:srgbClr val="475569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lvl="0">
              <a:lnSpc>
                <a:spcPct val="130000"/>
              </a:lnSpc>
            </a:pPr>
            <a:r>
              <a:rPr lang="ko-KR" altLang="en-US" sz="1000" dirty="0">
                <a:solidFill>
                  <a:srgbClr val="475569"/>
                </a:solidFill>
                <a:latin typeface="Malgun Gothic"/>
                <a:ea typeface="Malgun Gothic"/>
                <a:cs typeface="Malgun Gothic"/>
                <a:sym typeface="Malgun Gothic"/>
              </a:rPr>
              <a:t>정량 점수 향상에 그치지 않고</a:t>
            </a:r>
            <a:r>
              <a:rPr lang="en-US" altLang="ko-KR" sz="1000" dirty="0">
                <a:solidFill>
                  <a:srgbClr val="475569"/>
                </a:solidFill>
                <a:latin typeface="Malgun Gothic"/>
                <a:ea typeface="Malgun Gothic"/>
                <a:cs typeface="Malgun Gothic"/>
                <a:sym typeface="Malgun Gothic"/>
              </a:rPr>
              <a:t>, </a:t>
            </a:r>
            <a:r>
              <a:rPr lang="ko-KR" altLang="en-US" sz="1000" dirty="0">
                <a:solidFill>
                  <a:srgbClr val="475569"/>
                </a:solidFill>
                <a:latin typeface="Malgun Gothic"/>
                <a:ea typeface="Malgun Gothic"/>
                <a:cs typeface="Malgun Gothic"/>
                <a:sym typeface="Malgun Gothic"/>
              </a:rPr>
              <a:t>실제 촬영 환경에서의 문제를 확인한 뒤 사용자가 최종 검증할 수 있는 알약 식별 웹 시스템으로 확장</a:t>
            </a:r>
            <a:endParaRPr lang="en-US" altLang="ko-KR" sz="1000" dirty="0">
              <a:solidFill>
                <a:srgbClr val="475569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53" name="Google Shape;753;p34"/>
          <p:cNvSpPr txBox="1"/>
          <p:nvPr/>
        </p:nvSpPr>
        <p:spPr>
          <a:xfrm>
            <a:off x="365760" y="4846320"/>
            <a:ext cx="36576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94A3B8"/>
                </a:solidFill>
                <a:latin typeface="Malgun Gothic"/>
                <a:ea typeface="Malgun Gothic"/>
                <a:cs typeface="Malgun Gothic"/>
                <a:sym typeface="Malgun Gothic"/>
              </a:rPr>
              <a:t>HealthEat · 3팀</a:t>
            </a:r>
            <a:endParaRPr/>
          </a:p>
        </p:txBody>
      </p:sp>
      <p:sp>
        <p:nvSpPr>
          <p:cNvPr id="754" name="Google Shape;754;p34"/>
          <p:cNvSpPr txBox="1"/>
          <p:nvPr/>
        </p:nvSpPr>
        <p:spPr>
          <a:xfrm>
            <a:off x="5486400" y="4846320"/>
            <a:ext cx="3291840" cy="2112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dirty="0">
                <a:solidFill>
                  <a:srgbClr val="94A3B8"/>
                </a:solidFill>
                <a:latin typeface="Malgun Gothic"/>
                <a:ea typeface="Malgun Gothic"/>
                <a:cs typeface="Malgun Gothic"/>
                <a:sym typeface="Malgun Gothic"/>
              </a:rPr>
              <a:t>16</a:t>
            </a:r>
            <a:r>
              <a:rPr lang="en-US" sz="900" b="0" i="0" u="none" strike="noStrike" cap="none" dirty="0">
                <a:solidFill>
                  <a:srgbClr val="94A3B8"/>
                </a:solidFill>
                <a:latin typeface="Malgun Gothic"/>
                <a:ea typeface="Malgun Gothic"/>
                <a:cs typeface="Malgun Gothic"/>
                <a:sym typeface="Malgun Gothic"/>
              </a:rPr>
              <a:t> / 17</a:t>
            </a:r>
            <a:endParaRPr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9" name="Google Shape;759;p3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15E5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0" name="Google Shape;760;p35"/>
          <p:cNvSpPr/>
          <p:nvPr/>
        </p:nvSpPr>
        <p:spPr>
          <a:xfrm>
            <a:off x="457200" y="1828800"/>
            <a:ext cx="36000" cy="13716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1" name="Google Shape;761;p35"/>
          <p:cNvSpPr txBox="1"/>
          <p:nvPr/>
        </p:nvSpPr>
        <p:spPr>
          <a:xfrm>
            <a:off x="640080" y="1828800"/>
            <a:ext cx="7772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14B8A6"/>
                </a:solidFill>
                <a:latin typeface="Malgun Gothic"/>
                <a:ea typeface="Malgun Gothic"/>
                <a:cs typeface="Malgun Gothic"/>
                <a:sym typeface="Malgun Gothic"/>
              </a:rPr>
              <a:t>Thank you</a:t>
            </a:r>
            <a:endParaRPr/>
          </a:p>
        </p:txBody>
      </p:sp>
      <p:sp>
        <p:nvSpPr>
          <p:cNvPr id="762" name="Google Shape;762;p35"/>
          <p:cNvSpPr txBox="1"/>
          <p:nvPr/>
        </p:nvSpPr>
        <p:spPr>
          <a:xfrm>
            <a:off x="640080" y="2340598"/>
            <a:ext cx="77724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00" b="1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감사합니다</a:t>
            </a:r>
            <a:endParaRPr/>
          </a:p>
        </p:txBody>
      </p:sp>
      <p:sp>
        <p:nvSpPr>
          <p:cNvPr id="763" name="Google Shape;763;p35"/>
          <p:cNvSpPr txBox="1"/>
          <p:nvPr/>
        </p:nvSpPr>
        <p:spPr>
          <a:xfrm>
            <a:off x="640080" y="3383280"/>
            <a:ext cx="77724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CBD5E1"/>
                </a:solidFill>
                <a:latin typeface="Malgun Gothic"/>
                <a:ea typeface="Malgun Gothic"/>
                <a:cs typeface="Malgun Gothic"/>
                <a:sym typeface="Malgun Gothic"/>
              </a:rPr>
              <a:t>Questions &amp; Answers</a:t>
            </a:r>
            <a:endParaRPr dirty="0"/>
          </a:p>
        </p:txBody>
      </p:sp>
      <p:sp>
        <p:nvSpPr>
          <p:cNvPr id="764" name="Google Shape;764;p35"/>
          <p:cNvSpPr txBox="1"/>
          <p:nvPr/>
        </p:nvSpPr>
        <p:spPr>
          <a:xfrm>
            <a:off x="640080" y="4114800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CBD5E1"/>
                </a:solidFill>
                <a:latin typeface="Malgun Gothic"/>
                <a:ea typeface="Malgun Gothic"/>
                <a:cs typeface="Malgun Gothic"/>
                <a:sym typeface="Malgun Gothic"/>
              </a:rPr>
              <a:t>3팀 HealthEat · Pill Detection</a:t>
            </a:r>
            <a:endParaRPr/>
          </a:p>
        </p:txBody>
      </p:sp>
      <p:sp>
        <p:nvSpPr>
          <p:cNvPr id="765" name="Google Shape;765;p35"/>
          <p:cNvSpPr txBox="1"/>
          <p:nvPr/>
        </p:nvSpPr>
        <p:spPr>
          <a:xfrm>
            <a:off x="640080" y="4480560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94A3B8"/>
                </a:solidFill>
                <a:latin typeface="Malgun Gothic"/>
                <a:ea typeface="Malgun Gothic"/>
                <a:cs typeface="Malgun Gothic"/>
                <a:sym typeface="Malgun Gothic"/>
              </a:rPr>
              <a:t>GitHub: github.com/ZerofZero/codeit10_pj1   ·   HF: huggingface.co/wony98</a:t>
            </a:r>
            <a:endParaRPr/>
          </a:p>
        </p:txBody>
      </p:sp>
      <p:sp>
        <p:nvSpPr>
          <p:cNvPr id="2" name="Google Shape;754;p34">
            <a:extLst>
              <a:ext uri="{FF2B5EF4-FFF2-40B4-BE49-F238E27FC236}">
                <a16:creationId xmlns:a16="http://schemas.microsoft.com/office/drawing/2014/main" id="{200E63A5-E9A5-5646-6B2E-FE6B372E659A}"/>
              </a:ext>
            </a:extLst>
          </p:cNvPr>
          <p:cNvSpPr txBox="1"/>
          <p:nvPr/>
        </p:nvSpPr>
        <p:spPr>
          <a:xfrm>
            <a:off x="5486400" y="4846320"/>
            <a:ext cx="3291840" cy="2112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dirty="0">
                <a:solidFill>
                  <a:srgbClr val="94A3B8"/>
                </a:solidFill>
                <a:latin typeface="Malgun Gothic"/>
                <a:ea typeface="Malgun Gothic"/>
                <a:cs typeface="Malgun Gothic"/>
                <a:sym typeface="Malgun Gothic"/>
              </a:rPr>
              <a:t>17</a:t>
            </a:r>
            <a:r>
              <a:rPr lang="en-US" sz="900" b="0" i="0" u="none" strike="noStrike" cap="none" dirty="0">
                <a:solidFill>
                  <a:srgbClr val="94A3B8"/>
                </a:solidFill>
                <a:latin typeface="Malgun Gothic"/>
                <a:ea typeface="Malgun Gothic"/>
                <a:cs typeface="Malgun Gothic"/>
                <a:sym typeface="Malgun Gothic"/>
              </a:rPr>
              <a:t> / 17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295</TotalTime>
  <Words>1675</Words>
  <Application>Microsoft Office PowerPoint</Application>
  <PresentationFormat>화면 슬라이드 쇼(16:9)</PresentationFormat>
  <Paragraphs>389</Paragraphs>
  <Slides>17</Slides>
  <Notes>17</Notes>
  <HiddenSlides>0</HiddenSlides>
  <MMClips>1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17</vt:i4>
      </vt:variant>
    </vt:vector>
  </HeadingPairs>
  <TitlesOfParts>
    <vt:vector size="21" baseType="lpstr">
      <vt:lpstr>Malgun Gothic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ZEROF _0</cp:lastModifiedBy>
  <cp:revision>19</cp:revision>
  <dcterms:modified xsi:type="dcterms:W3CDTF">2026-05-10T17:27:21Z</dcterms:modified>
</cp:coreProperties>
</file>